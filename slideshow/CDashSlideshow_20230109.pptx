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Lst>
  <p:sldIdLst>
    <p:sldId id="256" r:id="rId4"/>
    <p:sldId id="277" r:id="rId5"/>
    <p:sldId id="260" r:id="rId6"/>
    <p:sldId id="261" r:id="rId7"/>
    <p:sldId id="262" r:id="rId8"/>
    <p:sldId id="283" r:id="rId9"/>
    <p:sldId id="258" r:id="rId10"/>
    <p:sldId id="266" r:id="rId11"/>
    <p:sldId id="276" r:id="rId12"/>
    <p:sldId id="274" r:id="rId13"/>
    <p:sldId id="278" r:id="rId14"/>
    <p:sldId id="280" r:id="rId15"/>
    <p:sldId id="281" r:id="rId16"/>
    <p:sldId id="286" r:id="rId17"/>
    <p:sldId id="282" r:id="rId18"/>
    <p:sldId id="285" r:id="rId19"/>
    <p:sldId id="265" r:id="rId20"/>
    <p:sldId id="279" r:id="rId21"/>
    <p:sldId id="284" r:id="rId22"/>
    <p:sldId id="263" r:id="rId23"/>
    <p:sldId id="264" r:id="rId24"/>
    <p:sldId id="267" r:id="rId25"/>
    <p:sldId id="268" r:id="rId26"/>
    <p:sldId id="269" r:id="rId27"/>
    <p:sldId id="270" r:id="rId28"/>
    <p:sldId id="271" r:id="rId29"/>
    <p:sldId id="272" r:id="rId30"/>
    <p:sldId id="273" r:id="rId31"/>
    <p:sldId id="257" r:id="rId32"/>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0" d="100"/>
          <a:sy n="80" d="100"/>
        </p:scale>
        <p:origin x="73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0"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4"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8"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1"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2"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3"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4"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6"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7"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8"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9"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0"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1"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49"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1"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3"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4"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6"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9"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0"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2"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3"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4"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8"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0"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1"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3"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4"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5"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6"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8"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9"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0"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1"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2"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3"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9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1"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9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3"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5"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6"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8"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1"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2"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4"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6"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0"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2"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3"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1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7"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8"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20"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1"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2"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3"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4"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5"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914400" y="1122480"/>
            <a:ext cx="10362960" cy="2387160"/>
          </a:xfrm>
          <a:prstGeom prst="rect">
            <a:avLst/>
          </a:prstGeom>
        </p:spPr>
        <p:txBody>
          <a:bodyPr anchor="b">
            <a:noAutofit/>
          </a:bodyPr>
          <a:lstStyle/>
          <a:p>
            <a:pPr algn="ctr">
              <a:lnSpc>
                <a:spcPct val="90000"/>
              </a:lnSpc>
            </a:pPr>
            <a:r>
              <a:rPr lang="en-US" sz="6000" b="0" strike="noStrike" spc="-1">
                <a:solidFill>
                  <a:srgbClr val="000000"/>
                </a:solidFill>
                <a:latin typeface="Calibri Light"/>
              </a:rPr>
              <a:t>Click to edit Master title style</a:t>
            </a:r>
            <a:endParaRPr lang="en-US" sz="6000" b="0" strike="noStrike" spc="-1">
              <a:solidFill>
                <a:srgbClr val="000000"/>
              </a:solidFill>
              <a:latin typeface="Calibri"/>
            </a:endParaRPr>
          </a:p>
        </p:txBody>
      </p:sp>
      <p:sp>
        <p:nvSpPr>
          <p:cNvPr id="7" name="PlaceHolder 2"/>
          <p:cNvSpPr>
            <a:spLocks noGrp="1"/>
          </p:cNvSpPr>
          <p:nvPr>
            <p:ph type="dt"/>
          </p:nvPr>
        </p:nvSpPr>
        <p:spPr>
          <a:xfrm>
            <a:off x="5376240" y="6396480"/>
            <a:ext cx="1118520" cy="364680"/>
          </a:xfrm>
          <a:prstGeom prst="rect">
            <a:avLst/>
          </a:prstGeom>
        </p:spPr>
        <p:txBody>
          <a:bodyPr anchor="ctr">
            <a:noAutofit/>
          </a:bodyPr>
          <a:lstStyle/>
          <a:p>
            <a:pPr>
              <a:lnSpc>
                <a:spcPct val="100000"/>
              </a:lnSpc>
            </a:pPr>
            <a:fld id="{74D40288-90E0-4793-B86A-2270B0D6471D}" type="datetime1">
              <a:rPr lang="en-US" sz="1200" b="0" strike="noStrike" spc="-1">
                <a:solidFill>
                  <a:srgbClr val="8B8B8B"/>
                </a:solidFill>
                <a:latin typeface="Calibri"/>
              </a:rPr>
              <a:t>9/1/2023</a:t>
            </a:fld>
            <a:endParaRPr lang="en-US" sz="1200" b="0" strike="noStrike" spc="-1">
              <a:latin typeface="Times New Roman"/>
            </a:endParaRPr>
          </a:p>
        </p:txBody>
      </p:sp>
      <p:sp>
        <p:nvSpPr>
          <p:cNvPr id="2" name="PlaceHolder 3"/>
          <p:cNvSpPr>
            <a:spLocks noGrp="1"/>
          </p:cNvSpPr>
          <p:nvPr>
            <p:ph type="sldNum"/>
          </p:nvPr>
        </p:nvSpPr>
        <p:spPr>
          <a:xfrm>
            <a:off x="152280" y="6314760"/>
            <a:ext cx="491040" cy="364680"/>
          </a:xfrm>
          <a:prstGeom prst="rect">
            <a:avLst/>
          </a:prstGeom>
        </p:spPr>
        <p:txBody>
          <a:bodyPr anchor="ctr">
            <a:noAutofit/>
          </a:bodyPr>
          <a:lstStyle/>
          <a:p>
            <a:pPr>
              <a:lnSpc>
                <a:spcPct val="100000"/>
              </a:lnSpc>
            </a:pPr>
            <a:fld id="{59685972-0B20-423E-8C36-84DB698C4058}" type="slidenum">
              <a:rPr lang="en-US" sz="1200" b="0" strike="noStrike" spc="-1">
                <a:solidFill>
                  <a:srgbClr val="8B8B8B"/>
                </a:solidFill>
                <a:latin typeface="Calibri"/>
              </a:rPr>
              <a:t>‹#›</a:t>
            </a:fld>
            <a:endParaRPr lang="en-US" sz="1200" b="0" strike="noStrike" spc="-1">
              <a:latin typeface="Times New Roman"/>
            </a:endParaRPr>
          </a:p>
        </p:txBody>
      </p:sp>
      <p:pic>
        <p:nvPicPr>
          <p:cNvPr id="3" name="Picture 7"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5"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5240" cy="1325160"/>
          </a:xfrm>
          <a:prstGeom prst="rect">
            <a:avLst/>
          </a:prstGeom>
        </p:spPr>
        <p:txBody>
          <a:bodyPr anchor="ctr">
            <a:noAutofit/>
          </a:bodyPr>
          <a:lstStyle/>
          <a:p>
            <a:pPr>
              <a:lnSpc>
                <a:spcPct val="90000"/>
              </a:lnSpc>
            </a:pPr>
            <a:r>
              <a:rPr lang="en-US" sz="4400" b="0" strike="noStrike" spc="-1">
                <a:solidFill>
                  <a:srgbClr val="000000"/>
                </a:solidFill>
                <a:latin typeface="Calibri Light"/>
              </a:rPr>
              <a:t>Click to edit Master title style</a:t>
            </a:r>
            <a:endParaRPr lang="en-US" sz="4400" b="0" strike="noStrike" spc="-1">
              <a:solidFill>
                <a:srgbClr val="000000"/>
              </a:solidFill>
              <a:latin typeface="Calibri"/>
            </a:endParaRPr>
          </a:p>
        </p:txBody>
      </p:sp>
      <p:sp>
        <p:nvSpPr>
          <p:cNvPr id="43" name="PlaceHolder 2"/>
          <p:cNvSpPr>
            <a:spLocks noGrp="1"/>
          </p:cNvSpPr>
          <p:nvPr>
            <p:ph type="body"/>
          </p:nvPr>
        </p:nvSpPr>
        <p:spPr>
          <a:xfrm>
            <a:off x="838080" y="1825560"/>
            <a:ext cx="10515240" cy="4350960"/>
          </a:xfrm>
          <a:prstGeom prst="rect">
            <a:avLst/>
          </a:prstGeom>
        </p:spPr>
        <p:txBody>
          <a:bodyPr>
            <a:noAutofit/>
          </a:bodyPr>
          <a:lstStyle/>
          <a:p>
            <a:pPr marL="228600" indent="-228240">
              <a:lnSpc>
                <a:spcPct val="90000"/>
              </a:lnSpc>
              <a:spcBef>
                <a:spcPts val="1001"/>
              </a:spcBef>
              <a:buClr>
                <a:srgbClr val="000000"/>
              </a:buClr>
              <a:buFont typeface="Arial"/>
              <a:buChar char="•"/>
            </a:pPr>
            <a:r>
              <a:rPr lang="en-US" sz="2800" b="0" strike="noStrike" spc="-1">
                <a:solidFill>
                  <a:srgbClr val="000000"/>
                </a:solidFill>
                <a:latin typeface="Calibri"/>
              </a:rPr>
              <a:t>Edit Master text styles</a:t>
            </a:r>
          </a:p>
          <a:p>
            <a:pPr marL="685800" lvl="1" indent="-228240">
              <a:lnSpc>
                <a:spcPct val="90000"/>
              </a:lnSpc>
              <a:spcBef>
                <a:spcPts val="499"/>
              </a:spcBef>
              <a:buClr>
                <a:srgbClr val="000000"/>
              </a:buClr>
              <a:buFont typeface="Arial"/>
              <a:buChar char="•"/>
            </a:pPr>
            <a:r>
              <a:rPr lang="en-US" sz="2400" b="0" strike="noStrike" spc="-1">
                <a:solidFill>
                  <a:srgbClr val="000000"/>
                </a:solidFill>
                <a:latin typeface="Calibri"/>
              </a:rPr>
              <a:t>Second level</a:t>
            </a:r>
          </a:p>
          <a:p>
            <a:pPr marL="1143000" lvl="2" indent="-228240">
              <a:lnSpc>
                <a:spcPct val="90000"/>
              </a:lnSpc>
              <a:spcBef>
                <a:spcPts val="499"/>
              </a:spcBef>
              <a:buClr>
                <a:srgbClr val="000000"/>
              </a:buClr>
              <a:buFont typeface="Arial"/>
              <a:buChar char="•"/>
            </a:pPr>
            <a:r>
              <a:rPr lang="en-US" sz="2000" b="0" strike="noStrike" spc="-1">
                <a:solidFill>
                  <a:srgbClr val="000000"/>
                </a:solidFill>
                <a:latin typeface="Calibri"/>
              </a:rPr>
              <a:t>Third level</a:t>
            </a:r>
          </a:p>
          <a:p>
            <a:pPr marL="1600200" lvl="3" indent="-228240">
              <a:lnSpc>
                <a:spcPct val="90000"/>
              </a:lnSpc>
              <a:spcBef>
                <a:spcPts val="499"/>
              </a:spcBef>
              <a:buClr>
                <a:srgbClr val="000000"/>
              </a:buClr>
              <a:buFont typeface="Arial"/>
              <a:buChar char="•"/>
            </a:pPr>
            <a:r>
              <a:rPr lang="en-US" sz="1800" b="0" strike="noStrike" spc="-1">
                <a:solidFill>
                  <a:srgbClr val="000000"/>
                </a:solidFill>
                <a:latin typeface="Calibri"/>
              </a:rPr>
              <a:t>Fourth level</a:t>
            </a:r>
          </a:p>
          <a:p>
            <a:pPr marL="2057400" lvl="4" indent="-228240">
              <a:lnSpc>
                <a:spcPct val="90000"/>
              </a:lnSpc>
              <a:spcBef>
                <a:spcPts val="499"/>
              </a:spcBef>
              <a:buClr>
                <a:srgbClr val="000000"/>
              </a:buClr>
              <a:buFont typeface="Arial"/>
              <a:buChar char="•"/>
            </a:pPr>
            <a:r>
              <a:rPr lang="en-US" sz="1800" b="0" strike="noStrike" spc="-1">
                <a:solidFill>
                  <a:srgbClr val="000000"/>
                </a:solidFill>
                <a:latin typeface="Calibri"/>
              </a:rPr>
              <a:t>Fifth level</a:t>
            </a:r>
          </a:p>
        </p:txBody>
      </p:sp>
      <p:sp>
        <p:nvSpPr>
          <p:cNvPr id="44" name="PlaceHolder 3"/>
          <p:cNvSpPr>
            <a:spLocks noGrp="1"/>
          </p:cNvSpPr>
          <p:nvPr>
            <p:ph type="dt"/>
          </p:nvPr>
        </p:nvSpPr>
        <p:spPr>
          <a:xfrm>
            <a:off x="5678640" y="6409800"/>
            <a:ext cx="1375200" cy="364680"/>
          </a:xfrm>
          <a:prstGeom prst="rect">
            <a:avLst/>
          </a:prstGeom>
        </p:spPr>
        <p:txBody>
          <a:bodyPr anchor="ctr">
            <a:noAutofit/>
          </a:bodyPr>
          <a:lstStyle/>
          <a:p>
            <a:pPr>
              <a:lnSpc>
                <a:spcPct val="100000"/>
              </a:lnSpc>
            </a:pPr>
            <a:fld id="{E4B021CA-D2B1-4095-A202-B38141CAE8DC}" type="datetime1">
              <a:rPr lang="en-US" sz="1200" b="0" strike="noStrike" spc="-1">
                <a:solidFill>
                  <a:srgbClr val="8B8B8B"/>
                </a:solidFill>
                <a:latin typeface="Calibri"/>
              </a:rPr>
              <a:t>9/1/2023</a:t>
            </a:fld>
            <a:endParaRPr lang="en-US" sz="1200" b="0" strike="noStrike" spc="-1">
              <a:latin typeface="Times New Roman"/>
            </a:endParaRPr>
          </a:p>
        </p:txBody>
      </p:sp>
      <p:sp>
        <p:nvSpPr>
          <p:cNvPr id="45" name="PlaceHolder 4"/>
          <p:cNvSpPr>
            <a:spLocks noGrp="1"/>
          </p:cNvSpPr>
          <p:nvPr>
            <p:ph type="sldNum"/>
          </p:nvPr>
        </p:nvSpPr>
        <p:spPr>
          <a:xfrm>
            <a:off x="838080" y="6396480"/>
            <a:ext cx="964440" cy="364680"/>
          </a:xfrm>
          <a:prstGeom prst="rect">
            <a:avLst/>
          </a:prstGeom>
        </p:spPr>
        <p:txBody>
          <a:bodyPr anchor="ctr">
            <a:noAutofit/>
          </a:bodyPr>
          <a:lstStyle/>
          <a:p>
            <a:pPr>
              <a:lnSpc>
                <a:spcPct val="100000"/>
              </a:lnSpc>
            </a:pPr>
            <a:fld id="{0007CA2D-F7BF-4350-9478-ADAB763D3A98}" type="slidenum">
              <a:rPr lang="en-US" sz="1200" b="0" strike="noStrike" spc="-1">
                <a:solidFill>
                  <a:srgbClr val="8B8B8B"/>
                </a:solidFill>
                <a:latin typeface="Calibri"/>
              </a:rPr>
              <a:t>‹#›</a:t>
            </a:fld>
            <a:endParaRPr lang="en-US" sz="1200" b="0" strike="noStrike" spc="-1">
              <a:latin typeface="Times New Roman"/>
            </a:endParaRPr>
          </a:p>
        </p:txBody>
      </p:sp>
      <p:pic>
        <p:nvPicPr>
          <p:cNvPr id="46" name="Picture 6"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7" name="CustomShape 5"/>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4" name="PlaceHolder 1"/>
          <p:cNvSpPr>
            <a:spLocks noGrp="1"/>
          </p:cNvSpPr>
          <p:nvPr>
            <p:ph type="dt"/>
          </p:nvPr>
        </p:nvSpPr>
        <p:spPr>
          <a:xfrm>
            <a:off x="5441760" y="6390360"/>
            <a:ext cx="1247040" cy="364680"/>
          </a:xfrm>
          <a:prstGeom prst="rect">
            <a:avLst/>
          </a:prstGeom>
        </p:spPr>
        <p:txBody>
          <a:bodyPr anchor="ctr">
            <a:noAutofit/>
          </a:bodyPr>
          <a:lstStyle/>
          <a:p>
            <a:pPr>
              <a:lnSpc>
                <a:spcPct val="100000"/>
              </a:lnSpc>
            </a:pPr>
            <a:fld id="{B2353F4B-05CF-4A75-A990-8217EAF83BC4}" type="datetime1">
              <a:rPr lang="en-US" sz="1200" b="0" strike="noStrike" spc="-1">
                <a:solidFill>
                  <a:srgbClr val="8B8B8B"/>
                </a:solidFill>
                <a:latin typeface="Calibri"/>
              </a:rPr>
              <a:t>9/1/2023</a:t>
            </a:fld>
            <a:endParaRPr lang="en-US" sz="1200" b="0" strike="noStrike" spc="-1">
              <a:latin typeface="Times New Roman"/>
            </a:endParaRPr>
          </a:p>
        </p:txBody>
      </p:sp>
      <p:sp>
        <p:nvSpPr>
          <p:cNvPr id="85" name="PlaceHolder 2"/>
          <p:cNvSpPr>
            <a:spLocks noGrp="1"/>
          </p:cNvSpPr>
          <p:nvPr>
            <p:ph type="sldNum"/>
          </p:nvPr>
        </p:nvSpPr>
        <p:spPr>
          <a:xfrm>
            <a:off x="255600" y="6390360"/>
            <a:ext cx="2742840" cy="364680"/>
          </a:xfrm>
          <a:prstGeom prst="rect">
            <a:avLst/>
          </a:prstGeom>
        </p:spPr>
        <p:txBody>
          <a:bodyPr anchor="ctr">
            <a:noAutofit/>
          </a:bodyPr>
          <a:lstStyle/>
          <a:p>
            <a:pPr>
              <a:lnSpc>
                <a:spcPct val="100000"/>
              </a:lnSpc>
            </a:pPr>
            <a:fld id="{F8C79006-0A55-4901-BDE2-B1DA0ECE75CF}" type="slidenum">
              <a:rPr lang="en-US" sz="1200" b="0" strike="noStrike" spc="-1">
                <a:solidFill>
                  <a:srgbClr val="8B8B8B"/>
                </a:solidFill>
                <a:latin typeface="Calibri"/>
              </a:rPr>
              <a:t>‹#›</a:t>
            </a:fld>
            <a:endParaRPr lang="en-US" sz="1200" b="0" strike="noStrike" spc="-1">
              <a:latin typeface="Times New Roman"/>
            </a:endParaRPr>
          </a:p>
        </p:txBody>
      </p:sp>
      <p:pic>
        <p:nvPicPr>
          <p:cNvPr id="86" name="Picture 4"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87" name="CustomShape 3"/>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88" name="PlaceHolder 4"/>
          <p:cNvSpPr>
            <a:spLocks noGrp="1"/>
          </p:cNvSpPr>
          <p:nvPr>
            <p:ph type="title"/>
          </p:nvPr>
        </p:nvSpPr>
        <p:spPr>
          <a:xfrm>
            <a:off x="609480" y="273600"/>
            <a:ext cx="10972440" cy="1144800"/>
          </a:xfrm>
          <a:prstGeom prst="rect">
            <a:avLst/>
          </a:prstGeom>
        </p:spPr>
        <p:txBody>
          <a:bodyPr lIns="0" tIns="0" rIns="0" bIns="0" anchor="ctr">
            <a:noAutofit/>
          </a:bodyPr>
          <a:lstStyle/>
          <a:p>
            <a:r>
              <a:rPr lang="en-US" sz="1800" b="0" strike="noStrike" spc="-1">
                <a:solidFill>
                  <a:srgbClr val="000000"/>
                </a:solidFill>
                <a:latin typeface="Calibri"/>
              </a:rPr>
              <a:t>Click to edit the title text format</a:t>
            </a:r>
          </a:p>
        </p:txBody>
      </p:sp>
      <p:sp>
        <p:nvSpPr>
          <p:cNvPr id="89"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25.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5.png"/><Relationship Id="rId2" Type="http://schemas.openxmlformats.org/officeDocument/2006/relationships/image" Target="../media/image12.jpeg"/><Relationship Id="rId1" Type="http://schemas.openxmlformats.org/officeDocument/2006/relationships/slideLayout" Target="../slideLayouts/slideLayout25.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chcomeka.azurewebsites.net/omeka-s" TargetMode="External"/><Relationship Id="rId1" Type="http://schemas.openxmlformats.org/officeDocument/2006/relationships/slideLayout" Target="../slideLayouts/slideLayout25.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5.xml"/><Relationship Id="rId5" Type="http://schemas.openxmlformats.org/officeDocument/2006/relationships/image" Target="../media/image18.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8" Type="http://schemas.openxmlformats.org/officeDocument/2006/relationships/hyperlink" Target="http://omeka.org/codex/Managing_Item_Types_2.0" TargetMode="External"/><Relationship Id="rId3" Type="http://schemas.openxmlformats.org/officeDocument/2006/relationships/image" Target="../media/image30.png"/><Relationship Id="rId7" Type="http://schemas.openxmlformats.org/officeDocument/2006/relationships/hyperlink" Target="http://omeka.org/codex/Plugins/Geolocation_2.0" TargetMode="External"/><Relationship Id="rId12" Type="http://schemas.openxmlformats.org/officeDocument/2006/relationships/hyperlink" Target="http://omeka.org/codex/Documentation" TargetMode="External"/><Relationship Id="rId2" Type="http://schemas.openxmlformats.org/officeDocument/2006/relationships/hyperlink" Target="http://omeka.org/codex/Managing_Themes_2.0" TargetMode="External"/><Relationship Id="rId1" Type="http://schemas.openxmlformats.org/officeDocument/2006/relationships/slideLayout" Target="../slideLayouts/slideLayout25.xml"/><Relationship Id="rId6" Type="http://schemas.openxmlformats.org/officeDocument/2006/relationships/hyperlink" Target="http://omeka.org/codex/Working_with_Dublin_Core" TargetMode="External"/><Relationship Id="rId11" Type="http://schemas.openxmlformats.org/officeDocument/2006/relationships/hyperlink" Target="http://omeka.org/codex/Managing_Files_2.0" TargetMode="External"/><Relationship Id="rId5" Type="http://schemas.openxmlformats.org/officeDocument/2006/relationships/hyperlink" Target="http://omeka.org/codex/Managing_Items_2.0" TargetMode="External"/><Relationship Id="rId10" Type="http://schemas.openxmlformats.org/officeDocument/2006/relationships/hyperlink" Target="http://omeka.org/codex/Managing_Tags_2.0" TargetMode="External"/><Relationship Id="rId4" Type="http://schemas.openxmlformats.org/officeDocument/2006/relationships/image" Target="../media/image31.png"/><Relationship Id="rId9" Type="http://schemas.openxmlformats.org/officeDocument/2006/relationships/hyperlink" Target="http://omeka.org/codex/Managing_Item_Type_Elements"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www.pbcgis.com/cdash/crosswalk" TargetMode="External"/><Relationship Id="rId7" Type="http://schemas.openxmlformats.org/officeDocument/2006/relationships/image" Target="../media/image23.png"/><Relationship Id="rId2" Type="http://schemas.openxmlformats.org/officeDocument/2006/relationships/hyperlink" Target="https://openarchives.org/" TargetMode="External"/><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png"/><Relationship Id="rId1" Type="http://schemas.openxmlformats.org/officeDocument/2006/relationships/slideLayout" Target="../slideLayouts/slideLayout25.xml"/><Relationship Id="rId5" Type="http://schemas.openxmlformats.org/officeDocument/2006/relationships/image" Target="../media/image38.png"/><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3" Type="http://schemas.openxmlformats.org/officeDocument/2006/relationships/hyperlink" Target="https://www.archives.gov/files/preservation/technical/guidelines.pdf" TargetMode="External"/><Relationship Id="rId2" Type="http://schemas.openxmlformats.org/officeDocument/2006/relationships/hyperlink" Target="http://dp.la/info/about/projects/public-library-partnerships/digital-reformatting-and-file-management/" TargetMode="External"/><Relationship Id="rId1" Type="http://schemas.openxmlformats.org/officeDocument/2006/relationships/slideLayout" Target="../slideLayouts/slideLayout13.xml"/><Relationship Id="rId5" Type="http://schemas.openxmlformats.org/officeDocument/2006/relationships/hyperlink" Target="https://openarchives.org/" TargetMode="External"/><Relationship Id="rId4" Type="http://schemas.openxmlformats.org/officeDocument/2006/relationships/hyperlink" Target="https://siarchives.si.edu/what-we-do/digital-curation/digitizing-collectio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TextShape 1"/>
          <p:cNvSpPr txBox="1"/>
          <p:nvPr/>
        </p:nvSpPr>
        <p:spPr>
          <a:xfrm>
            <a:off x="912240" y="1200600"/>
            <a:ext cx="10362960" cy="2387160"/>
          </a:xfrm>
          <a:prstGeom prst="rect">
            <a:avLst/>
          </a:prstGeom>
          <a:noFill/>
          <a:ln>
            <a:noFill/>
          </a:ln>
        </p:spPr>
        <p:txBody>
          <a:bodyPr anchor="b">
            <a:normAutofit fontScale="87500" lnSpcReduction="10000"/>
          </a:bodyPr>
          <a:lstStyle/>
          <a:p>
            <a:pPr algn="ctr">
              <a:lnSpc>
                <a:spcPct val="90000"/>
              </a:lnSpc>
            </a:pPr>
            <a:r>
              <a:rPr lang="en-US" sz="4000" b="1" strike="noStrike" spc="-1">
                <a:solidFill>
                  <a:srgbClr val="203864"/>
                </a:solidFill>
                <a:latin typeface="Calibri Light"/>
              </a:rPr>
              <a:t>Pilot:</a:t>
            </a:r>
            <a:br/>
            <a:r>
              <a:rPr lang="en-US" sz="6000" b="1" strike="noStrike" spc="-1">
                <a:solidFill>
                  <a:srgbClr val="203864"/>
                </a:solidFill>
                <a:latin typeface="Calibri Light"/>
              </a:rPr>
              <a:t>Cambridge Historical Commission</a:t>
            </a:r>
            <a:br/>
            <a:r>
              <a:rPr lang="en-US" sz="6000" b="1" strike="noStrike" spc="-1">
                <a:solidFill>
                  <a:srgbClr val="203864"/>
                </a:solidFill>
                <a:latin typeface="Calibri Light"/>
              </a:rPr>
              <a:t>Building Files</a:t>
            </a:r>
            <a:br/>
            <a:r>
              <a:rPr lang="en-US" sz="4400" b="1" strike="noStrike" spc="-1">
                <a:solidFill>
                  <a:srgbClr val="203864"/>
                </a:solidFill>
                <a:latin typeface="Calibri Light"/>
              </a:rPr>
              <a:t>Digitize &gt; Catalog &gt; Expose &gt; Explore </a:t>
            </a:r>
            <a:endParaRPr lang="en-US" sz="4400" b="0" strike="noStrike" spc="-1">
              <a:solidFill>
                <a:srgbClr val="000000"/>
              </a:solidFill>
              <a:latin typeface="Calibri"/>
            </a:endParaRPr>
          </a:p>
        </p:txBody>
      </p:sp>
      <p:sp>
        <p:nvSpPr>
          <p:cNvPr id="127" name="TextShape 2"/>
          <p:cNvSpPr txBox="1"/>
          <p:nvPr/>
        </p:nvSpPr>
        <p:spPr>
          <a:xfrm>
            <a:off x="1404720" y="5961240"/>
            <a:ext cx="9143640" cy="647640"/>
          </a:xfrm>
          <a:prstGeom prst="rect">
            <a:avLst/>
          </a:prstGeom>
          <a:noFill/>
          <a:ln>
            <a:noFill/>
          </a:ln>
        </p:spPr>
        <p:txBody>
          <a:bodyPr>
            <a:noAutofit/>
          </a:bodyPr>
          <a:lstStyle/>
          <a:p>
            <a:pPr algn="ctr">
              <a:lnSpc>
                <a:spcPct val="90000"/>
              </a:lnSpc>
              <a:spcBef>
                <a:spcPts val="1001"/>
              </a:spcBef>
            </a:pPr>
            <a:r>
              <a:rPr lang="en-US" sz="2400" b="0" strike="noStrike" spc="-1">
                <a:solidFill>
                  <a:srgbClr val="000000"/>
                </a:solidFill>
                <a:latin typeface="Calibri"/>
              </a:rPr>
              <a:t>February 21, 2020 Paul Cote  </a:t>
            </a:r>
            <a:endParaRPr lang="en-US" sz="2400" b="0" strike="noStrike" spc="-1">
              <a:latin typeface="Arial"/>
            </a:endParaRPr>
          </a:p>
        </p:txBody>
      </p:sp>
      <p:grpSp>
        <p:nvGrpSpPr>
          <p:cNvPr id="128" name="Group 3"/>
          <p:cNvGrpSpPr/>
          <p:nvPr/>
        </p:nvGrpSpPr>
        <p:grpSpPr>
          <a:xfrm>
            <a:off x="678240" y="3936600"/>
            <a:ext cx="10596600" cy="1676160"/>
            <a:chOff x="678240" y="3936600"/>
            <a:chExt cx="10596600" cy="1676160"/>
          </a:xfrm>
        </p:grpSpPr>
        <p:pic>
          <p:nvPicPr>
            <p:cNvPr id="129" name="Picture 2" descr="Image result for file cabinets"/>
            <p:cNvPicPr/>
            <p:nvPr/>
          </p:nvPicPr>
          <p:blipFill>
            <a:blip r:embed="rId2"/>
            <a:stretch/>
          </p:blipFill>
          <p:spPr>
            <a:xfrm>
              <a:off x="678240" y="3936600"/>
              <a:ext cx="2723760" cy="1676160"/>
            </a:xfrm>
            <a:prstGeom prst="rect">
              <a:avLst/>
            </a:prstGeom>
            <a:ln>
              <a:noFill/>
            </a:ln>
          </p:spPr>
        </p:pic>
        <p:pic>
          <p:nvPicPr>
            <p:cNvPr id="130" name="Picture 2" descr="Image result for file cabinets"/>
            <p:cNvPicPr/>
            <p:nvPr/>
          </p:nvPicPr>
          <p:blipFill>
            <a:blip r:embed="rId2"/>
            <a:stretch/>
          </p:blipFill>
          <p:spPr>
            <a:xfrm flipH="1">
              <a:off x="2950920" y="3936600"/>
              <a:ext cx="3194280" cy="1676160"/>
            </a:xfrm>
            <a:prstGeom prst="rect">
              <a:avLst/>
            </a:prstGeom>
            <a:ln>
              <a:noFill/>
            </a:ln>
          </p:spPr>
        </p:pic>
        <p:pic>
          <p:nvPicPr>
            <p:cNvPr id="131" name="Picture 2" descr="Image result for file cabinets"/>
            <p:cNvPicPr/>
            <p:nvPr/>
          </p:nvPicPr>
          <p:blipFill>
            <a:blip r:embed="rId2"/>
            <a:stretch/>
          </p:blipFill>
          <p:spPr>
            <a:xfrm flipH="1">
              <a:off x="5607000" y="3936600"/>
              <a:ext cx="3126960" cy="1676160"/>
            </a:xfrm>
            <a:prstGeom prst="rect">
              <a:avLst/>
            </a:prstGeom>
            <a:ln>
              <a:noFill/>
            </a:ln>
          </p:spPr>
        </p:pic>
        <p:pic>
          <p:nvPicPr>
            <p:cNvPr id="132" name="Picture 2" descr="Image result for file cabinets"/>
            <p:cNvPicPr/>
            <p:nvPr/>
          </p:nvPicPr>
          <p:blipFill>
            <a:blip r:embed="rId2"/>
            <a:stretch/>
          </p:blipFill>
          <p:spPr>
            <a:xfrm>
              <a:off x="8417520" y="3936600"/>
              <a:ext cx="2857320" cy="1676160"/>
            </a:xfrm>
            <a:prstGeom prst="rect">
              <a:avLst/>
            </a:prstGeom>
            <a:ln>
              <a:noFill/>
            </a:ln>
          </p:spPr>
        </p:pic>
      </p:grpSp>
      <p:pic>
        <p:nvPicPr>
          <p:cNvPr id="133" name="Picture 8" descr="D:\current_projects\letters\yourgisguy\logo_art\cultivating_spatial_intelligence-01.jpg"/>
          <p:cNvPicPr/>
          <p:nvPr/>
        </p:nvPicPr>
        <p:blipFill>
          <a:blip r:embed="rId3"/>
          <a:stretch/>
        </p:blipFill>
        <p:spPr>
          <a:xfrm>
            <a:off x="11694960" y="6396480"/>
            <a:ext cx="371160" cy="371160"/>
          </a:xfrm>
          <a:prstGeom prst="rect">
            <a:avLst/>
          </a:prstGeom>
          <a:ln>
            <a:noFill/>
          </a:ln>
        </p:spPr>
      </p:pic>
      <p:sp>
        <p:nvSpPr>
          <p:cNvPr id="13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135" name="TextShape 5"/>
          <p:cNvSpPr txBox="1"/>
          <p:nvPr/>
        </p:nvSpPr>
        <p:spPr>
          <a:xfrm>
            <a:off x="5376240" y="6396480"/>
            <a:ext cx="1118520" cy="364680"/>
          </a:xfrm>
          <a:prstGeom prst="rect">
            <a:avLst/>
          </a:prstGeom>
          <a:noFill/>
          <a:ln>
            <a:noFill/>
          </a:ln>
        </p:spPr>
        <p:txBody>
          <a:bodyPr anchor="ctr">
            <a:noAutofit/>
          </a:bodyPr>
          <a:lstStyle/>
          <a:p>
            <a:pPr>
              <a:lnSpc>
                <a:spcPct val="100000"/>
              </a:lnSpc>
            </a:pPr>
            <a:fld id="{599522FA-A713-452C-A4AF-FDD43C106221}" type="datetime1">
              <a:rPr lang="en-US" sz="1200" b="0" strike="noStrike" spc="-1">
                <a:solidFill>
                  <a:srgbClr val="8B8B8B"/>
                </a:solidFill>
                <a:latin typeface="Calibri"/>
              </a:rPr>
              <a:t>9/1/2023</a:t>
            </a:fld>
            <a:endParaRPr lang="en-US" sz="1200" b="0" strike="noStrike" spc="-1">
              <a:latin typeface="Times New Roman"/>
            </a:endParaRPr>
          </a:p>
        </p:txBody>
      </p:sp>
      <p:sp>
        <p:nvSpPr>
          <p:cNvPr id="136" name="TextShape 6"/>
          <p:cNvSpPr txBox="1"/>
          <p:nvPr/>
        </p:nvSpPr>
        <p:spPr>
          <a:xfrm>
            <a:off x="152280" y="6314760"/>
            <a:ext cx="491040" cy="364680"/>
          </a:xfrm>
          <a:prstGeom prst="rect">
            <a:avLst/>
          </a:prstGeom>
          <a:noFill/>
          <a:ln>
            <a:noFill/>
          </a:ln>
        </p:spPr>
        <p:txBody>
          <a:bodyPr anchor="ctr">
            <a:noAutofit/>
          </a:bodyPr>
          <a:lstStyle/>
          <a:p>
            <a:pPr>
              <a:lnSpc>
                <a:spcPct val="100000"/>
              </a:lnSpc>
            </a:pPr>
            <a:fld id="{8050CF2B-4C44-44D2-AC99-C0813596ED51}" type="slidenum">
              <a:rPr lang="en-US" sz="1200" b="0" strike="noStrike" spc="-1">
                <a:solidFill>
                  <a:srgbClr val="8B8B8B"/>
                </a:solidFill>
                <a:latin typeface="Calibri"/>
              </a:rPr>
              <a:t>1</a:t>
            </a:fld>
            <a:endParaRPr lang="en-US" sz="1200" b="0" strike="noStrike" spc="-1">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7" name="Group 36">
            <a:extLst>
              <a:ext uri="{FF2B5EF4-FFF2-40B4-BE49-F238E27FC236}">
                <a16:creationId xmlns:a16="http://schemas.microsoft.com/office/drawing/2014/main" id="{E8198DBD-9A8F-1D16-3DDA-12083F4EBC7A}"/>
              </a:ext>
            </a:extLst>
          </p:cNvPr>
          <p:cNvGrpSpPr/>
          <p:nvPr/>
        </p:nvGrpSpPr>
        <p:grpSpPr>
          <a:xfrm>
            <a:off x="10275578" y="5037539"/>
            <a:ext cx="1240551" cy="1086272"/>
            <a:chOff x="10450287" y="4963799"/>
            <a:chExt cx="1240551" cy="1086272"/>
          </a:xfrm>
        </p:grpSpPr>
        <p:sp>
          <p:nvSpPr>
            <p:cNvPr id="38" name="Rectangle 37">
              <a:extLst>
                <a:ext uri="{FF2B5EF4-FFF2-40B4-BE49-F238E27FC236}">
                  <a16:creationId xmlns:a16="http://schemas.microsoft.com/office/drawing/2014/main" id="{0A0134D3-9F11-D387-89CE-22E0EF8A1A33}"/>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50">
              <a:extLst>
                <a:ext uri="{FF2B5EF4-FFF2-40B4-BE49-F238E27FC236}">
                  <a16:creationId xmlns:a16="http://schemas.microsoft.com/office/drawing/2014/main" id="{77253A1E-2118-CC5A-3F52-2C717386D4A5}"/>
                </a:ext>
              </a:extLst>
            </p:cNvPr>
            <p:cNvPicPr/>
            <p:nvPr/>
          </p:nvPicPr>
          <p:blipFill>
            <a:blip r:embed="rId2"/>
            <a:stretch/>
          </p:blipFill>
          <p:spPr>
            <a:xfrm>
              <a:off x="10521609" y="5325651"/>
              <a:ext cx="538725" cy="647740"/>
            </a:xfrm>
            <a:prstGeom prst="rect">
              <a:avLst/>
            </a:prstGeom>
            <a:ln>
              <a:noFill/>
            </a:ln>
          </p:spPr>
        </p:pic>
        <p:pic>
          <p:nvPicPr>
            <p:cNvPr id="40" name="Picture 51">
              <a:extLst>
                <a:ext uri="{FF2B5EF4-FFF2-40B4-BE49-F238E27FC236}">
                  <a16:creationId xmlns:a16="http://schemas.microsoft.com/office/drawing/2014/main" id="{C9ED9CFE-717D-06CF-ECA5-A2DE83301F36}"/>
                </a:ext>
              </a:extLst>
            </p:cNvPr>
            <p:cNvPicPr/>
            <p:nvPr/>
          </p:nvPicPr>
          <p:blipFill>
            <a:blip r:embed="rId3"/>
            <a:stretch/>
          </p:blipFill>
          <p:spPr>
            <a:xfrm>
              <a:off x="11102454" y="5325651"/>
              <a:ext cx="536006" cy="647740"/>
            </a:xfrm>
            <a:prstGeom prst="rect">
              <a:avLst/>
            </a:prstGeom>
            <a:ln>
              <a:noFill/>
            </a:ln>
          </p:spPr>
        </p:pic>
        <p:sp>
          <p:nvSpPr>
            <p:cNvPr id="41" name="TextBox 40">
              <a:extLst>
                <a:ext uri="{FF2B5EF4-FFF2-40B4-BE49-F238E27FC236}">
                  <a16:creationId xmlns:a16="http://schemas.microsoft.com/office/drawing/2014/main" id="{3B7149AC-7806-7AC7-15C4-96CA8D4234E1}"/>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grpSp>
        <p:nvGrpSpPr>
          <p:cNvPr id="32" name="Group 31">
            <a:extLst>
              <a:ext uri="{FF2B5EF4-FFF2-40B4-BE49-F238E27FC236}">
                <a16:creationId xmlns:a16="http://schemas.microsoft.com/office/drawing/2014/main" id="{4D337607-60CE-B913-F33C-D4141809B3E4}"/>
              </a:ext>
            </a:extLst>
          </p:cNvPr>
          <p:cNvGrpSpPr/>
          <p:nvPr/>
        </p:nvGrpSpPr>
        <p:grpSpPr>
          <a:xfrm>
            <a:off x="10197820" y="4946435"/>
            <a:ext cx="1240551" cy="1086272"/>
            <a:chOff x="10450287" y="4963799"/>
            <a:chExt cx="1240551" cy="1086272"/>
          </a:xfrm>
        </p:grpSpPr>
        <p:sp>
          <p:nvSpPr>
            <p:cNvPr id="33" name="Rectangle 32">
              <a:extLst>
                <a:ext uri="{FF2B5EF4-FFF2-40B4-BE49-F238E27FC236}">
                  <a16:creationId xmlns:a16="http://schemas.microsoft.com/office/drawing/2014/main" id="{9FE1CA7C-9B68-936A-7BD2-A0117A27511D}"/>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4" name="Picture 50">
              <a:extLst>
                <a:ext uri="{FF2B5EF4-FFF2-40B4-BE49-F238E27FC236}">
                  <a16:creationId xmlns:a16="http://schemas.microsoft.com/office/drawing/2014/main" id="{E3634A55-5C87-E738-D7F4-15812C562DA2}"/>
                </a:ext>
              </a:extLst>
            </p:cNvPr>
            <p:cNvPicPr/>
            <p:nvPr/>
          </p:nvPicPr>
          <p:blipFill>
            <a:blip r:embed="rId2"/>
            <a:stretch/>
          </p:blipFill>
          <p:spPr>
            <a:xfrm>
              <a:off x="10521609" y="5325651"/>
              <a:ext cx="538725" cy="647740"/>
            </a:xfrm>
            <a:prstGeom prst="rect">
              <a:avLst/>
            </a:prstGeom>
            <a:ln>
              <a:noFill/>
            </a:ln>
          </p:spPr>
        </p:pic>
        <p:pic>
          <p:nvPicPr>
            <p:cNvPr id="35" name="Picture 51">
              <a:extLst>
                <a:ext uri="{FF2B5EF4-FFF2-40B4-BE49-F238E27FC236}">
                  <a16:creationId xmlns:a16="http://schemas.microsoft.com/office/drawing/2014/main" id="{554B0A38-F8C7-4C23-D2ED-04495825D73D}"/>
                </a:ext>
              </a:extLst>
            </p:cNvPr>
            <p:cNvPicPr/>
            <p:nvPr/>
          </p:nvPicPr>
          <p:blipFill>
            <a:blip r:embed="rId3"/>
            <a:stretch/>
          </p:blipFill>
          <p:spPr>
            <a:xfrm>
              <a:off x="11102454" y="5325651"/>
              <a:ext cx="536006" cy="647740"/>
            </a:xfrm>
            <a:prstGeom prst="rect">
              <a:avLst/>
            </a:prstGeom>
            <a:ln>
              <a:noFill/>
            </a:ln>
          </p:spPr>
        </p:pic>
        <p:sp>
          <p:nvSpPr>
            <p:cNvPr id="36" name="TextBox 35">
              <a:extLst>
                <a:ext uri="{FF2B5EF4-FFF2-40B4-BE49-F238E27FC236}">
                  <a16:creationId xmlns:a16="http://schemas.microsoft.com/office/drawing/2014/main" id="{23E31734-5146-4909-C04F-A128D372DD1B}"/>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
        <p:nvSpPr>
          <p:cNvPr id="4" name="CustomShape 3">
            <a:extLst>
              <a:ext uri="{FF2B5EF4-FFF2-40B4-BE49-F238E27FC236}">
                <a16:creationId xmlns:a16="http://schemas.microsoft.com/office/drawing/2014/main" id="{60313330-8865-BD4F-E44E-250D4EF96282}"/>
              </a:ext>
            </a:extLst>
          </p:cNvPr>
          <p:cNvSpPr/>
          <p:nvPr/>
        </p:nvSpPr>
        <p:spPr>
          <a:xfrm>
            <a:off x="422640" y="62640"/>
            <a:ext cx="10285200" cy="46021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pc="-1" dirty="0">
                <a:solidFill>
                  <a:srgbClr val="2E75B6"/>
                </a:solidFill>
                <a:latin typeface="Calibri"/>
              </a:rPr>
              <a:t>Digitizing and Publishing the Building Files</a:t>
            </a:r>
            <a:endParaRPr lang="en-US" sz="2400" b="0" strike="noStrike" spc="-1" dirty="0">
              <a:solidFill>
                <a:srgbClr val="000000"/>
              </a:solidFill>
              <a:latin typeface="Arial"/>
            </a:endParaRPr>
          </a:p>
        </p:txBody>
      </p:sp>
      <p:sp>
        <p:nvSpPr>
          <p:cNvPr id="5" name="CustomShape 4">
            <a:extLst>
              <a:ext uri="{FF2B5EF4-FFF2-40B4-BE49-F238E27FC236}">
                <a16:creationId xmlns:a16="http://schemas.microsoft.com/office/drawing/2014/main" id="{BAB0FA62-5E3F-2DF0-082D-F9A203D2B101}"/>
              </a:ext>
            </a:extLst>
          </p:cNvPr>
          <p:cNvSpPr/>
          <p:nvPr/>
        </p:nvSpPr>
        <p:spPr>
          <a:xfrm>
            <a:off x="407039" y="533167"/>
            <a:ext cx="3287160" cy="31891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The Cambridge Historical Commission creates and develops, preserves and maintains many collections of information regarding people, places, things and events.</a:t>
            </a:r>
          </a:p>
          <a:p>
            <a:pPr>
              <a:lnSpc>
                <a:spcPct val="100000"/>
              </a:lnSpc>
              <a:spcAft>
                <a:spcPts val="400"/>
              </a:spcAft>
            </a:pPr>
            <a:r>
              <a:rPr lang="en-US" sz="1800" b="0" strike="noStrike" spc="-1" dirty="0">
                <a:solidFill>
                  <a:srgbClr val="595959"/>
                </a:solidFill>
                <a:latin typeface="Agency FB"/>
              </a:rPr>
              <a:t>This document provides an overview of the digitization of one document collection known as </a:t>
            </a:r>
            <a:r>
              <a:rPr lang="en-US" b="1" spc="-1" dirty="0">
                <a:solidFill>
                  <a:srgbClr val="595959"/>
                </a:solidFill>
                <a:latin typeface="Agency FB"/>
              </a:rPr>
              <a:t>The Building Files</a:t>
            </a:r>
            <a:r>
              <a:rPr lang="en-US" spc="-1" dirty="0">
                <a:solidFill>
                  <a:srgbClr val="595959"/>
                </a:solidFill>
                <a:latin typeface="Agency FB"/>
              </a:rPr>
              <a:t>. Ten file cabinets with 16,000 folders of clippings documentation related buildings, and other places in the city. </a:t>
            </a:r>
          </a:p>
        </p:txBody>
      </p:sp>
      <p:grpSp>
        <p:nvGrpSpPr>
          <p:cNvPr id="11" name="Group 10">
            <a:extLst>
              <a:ext uri="{FF2B5EF4-FFF2-40B4-BE49-F238E27FC236}">
                <a16:creationId xmlns:a16="http://schemas.microsoft.com/office/drawing/2014/main" id="{225975C2-D3F8-A67C-4D9F-E4A0F392FC20}"/>
              </a:ext>
            </a:extLst>
          </p:cNvPr>
          <p:cNvGrpSpPr/>
          <p:nvPr/>
        </p:nvGrpSpPr>
        <p:grpSpPr>
          <a:xfrm>
            <a:off x="4647294" y="2813213"/>
            <a:ext cx="5881325" cy="1711440"/>
            <a:chOff x="4601155" y="1030320"/>
            <a:chExt cx="5881325" cy="1711440"/>
          </a:xfrm>
        </p:grpSpPr>
        <p:grpSp>
          <p:nvGrpSpPr>
            <p:cNvPr id="6" name="Group 5">
              <a:extLst>
                <a:ext uri="{FF2B5EF4-FFF2-40B4-BE49-F238E27FC236}">
                  <a16:creationId xmlns:a16="http://schemas.microsoft.com/office/drawing/2014/main" id="{E1798CA2-FA7C-B18D-1A1B-FBEE885102EB}"/>
                </a:ext>
              </a:extLst>
            </p:cNvPr>
            <p:cNvGrpSpPr/>
            <p:nvPr/>
          </p:nvGrpSpPr>
          <p:grpSpPr>
            <a:xfrm>
              <a:off x="7452720" y="1030320"/>
              <a:ext cx="3029760" cy="1711440"/>
              <a:chOff x="7452720" y="1030320"/>
              <a:chExt cx="3029760" cy="1711440"/>
            </a:xfrm>
          </p:grpSpPr>
          <p:pic>
            <p:nvPicPr>
              <p:cNvPr id="7" name="Picture 4" descr="Image result for pages">
                <a:extLst>
                  <a:ext uri="{FF2B5EF4-FFF2-40B4-BE49-F238E27FC236}">
                    <a16:creationId xmlns:a16="http://schemas.microsoft.com/office/drawing/2014/main" id="{A1621964-37E1-9241-F617-52E4223BE4CC}"/>
                  </a:ext>
                </a:extLst>
              </p:cNvPr>
              <p:cNvPicPr/>
              <p:nvPr/>
            </p:nvPicPr>
            <p:blipFill>
              <a:blip r:embed="rId4"/>
              <a:stretch/>
            </p:blipFill>
            <p:spPr>
              <a:xfrm rot="16200000">
                <a:off x="9212040" y="1471320"/>
                <a:ext cx="1270440" cy="1270440"/>
              </a:xfrm>
              <a:prstGeom prst="rect">
                <a:avLst/>
              </a:prstGeom>
              <a:ln>
                <a:noFill/>
              </a:ln>
            </p:spPr>
          </p:pic>
          <p:pic>
            <p:nvPicPr>
              <p:cNvPr id="8" name="Picture 2" descr="Image result for folder">
                <a:extLst>
                  <a:ext uri="{FF2B5EF4-FFF2-40B4-BE49-F238E27FC236}">
                    <a16:creationId xmlns:a16="http://schemas.microsoft.com/office/drawing/2014/main" id="{39814235-EC48-F664-B599-358CB3D8BEF2}"/>
                  </a:ext>
                </a:extLst>
              </p:cNvPr>
              <p:cNvPicPr/>
              <p:nvPr/>
            </p:nvPicPr>
            <p:blipFill>
              <a:blip r:embed="rId5"/>
              <a:stretch/>
            </p:blipFill>
            <p:spPr>
              <a:xfrm>
                <a:off x="7452720" y="1030320"/>
                <a:ext cx="2588760" cy="1613160"/>
              </a:xfrm>
              <a:prstGeom prst="rect">
                <a:avLst/>
              </a:prstGeom>
              <a:ln>
                <a:noFill/>
              </a:ln>
            </p:spPr>
          </p:pic>
          <p:sp>
            <p:nvSpPr>
              <p:cNvPr id="9" name="CustomShape 6">
                <a:extLst>
                  <a:ext uri="{FF2B5EF4-FFF2-40B4-BE49-F238E27FC236}">
                    <a16:creationId xmlns:a16="http://schemas.microsoft.com/office/drawing/2014/main" id="{FA8ACDBD-A7C2-1593-AFA4-96C71C6B7245}"/>
                  </a:ext>
                </a:extLst>
              </p:cNvPr>
              <p:cNvSpPr/>
              <p:nvPr/>
            </p:nvSpPr>
            <p:spPr>
              <a:xfrm>
                <a:off x="7687440" y="1667160"/>
                <a:ext cx="2259720" cy="3646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Calibri"/>
                  </a:rPr>
                  <a:t>262-266 Cambridge St</a:t>
                </a:r>
                <a:endParaRPr lang="en-US" sz="1800" b="0" strike="noStrike" spc="-1" dirty="0">
                  <a:solidFill>
                    <a:srgbClr val="000000"/>
                  </a:solidFill>
                  <a:latin typeface="Arial"/>
                </a:endParaRPr>
              </a:p>
            </p:txBody>
          </p:sp>
        </p:grpSp>
        <p:sp>
          <p:nvSpPr>
            <p:cNvPr id="10" name="CustomShape 11">
              <a:extLst>
                <a:ext uri="{FF2B5EF4-FFF2-40B4-BE49-F238E27FC236}">
                  <a16:creationId xmlns:a16="http://schemas.microsoft.com/office/drawing/2014/main" id="{4A0FDABE-5913-931C-3522-8AA481572F63}"/>
                </a:ext>
              </a:extLst>
            </p:cNvPr>
            <p:cNvSpPr/>
            <p:nvPr/>
          </p:nvSpPr>
          <p:spPr>
            <a:xfrm>
              <a:off x="4601155" y="1208457"/>
              <a:ext cx="2757245" cy="1475873"/>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16,000 Folders, each more or less related to a building, block of buildings, streetscape, monument or park.</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grpSp>
      <p:grpSp>
        <p:nvGrpSpPr>
          <p:cNvPr id="12" name="Group 11">
            <a:extLst>
              <a:ext uri="{FF2B5EF4-FFF2-40B4-BE49-F238E27FC236}">
                <a16:creationId xmlns:a16="http://schemas.microsoft.com/office/drawing/2014/main" id="{0A070F22-A0F2-DA4A-C9E3-C252891699AC}"/>
              </a:ext>
            </a:extLst>
          </p:cNvPr>
          <p:cNvGrpSpPr/>
          <p:nvPr/>
        </p:nvGrpSpPr>
        <p:grpSpPr>
          <a:xfrm>
            <a:off x="4647294" y="919304"/>
            <a:ext cx="5711225" cy="2036520"/>
            <a:chOff x="-249305" y="984749"/>
            <a:chExt cx="5711225" cy="2036520"/>
          </a:xfrm>
        </p:grpSpPr>
        <p:grpSp>
          <p:nvGrpSpPr>
            <p:cNvPr id="13" name="Group 12">
              <a:extLst>
                <a:ext uri="{FF2B5EF4-FFF2-40B4-BE49-F238E27FC236}">
                  <a16:creationId xmlns:a16="http://schemas.microsoft.com/office/drawing/2014/main" id="{D2891EAB-3877-3AEE-0847-22A9E6638D90}"/>
                </a:ext>
              </a:extLst>
            </p:cNvPr>
            <p:cNvGrpSpPr/>
            <p:nvPr/>
          </p:nvGrpSpPr>
          <p:grpSpPr>
            <a:xfrm>
              <a:off x="2799052" y="984749"/>
              <a:ext cx="2662868" cy="2036520"/>
              <a:chOff x="2799052" y="984749"/>
              <a:chExt cx="2662868" cy="2036520"/>
            </a:xfrm>
          </p:grpSpPr>
          <p:pic>
            <p:nvPicPr>
              <p:cNvPr id="15" name="Picture 6" descr="Image result for file cabinet">
                <a:extLst>
                  <a:ext uri="{FF2B5EF4-FFF2-40B4-BE49-F238E27FC236}">
                    <a16:creationId xmlns:a16="http://schemas.microsoft.com/office/drawing/2014/main" id="{E398CE6E-390B-B7CE-A6C3-652A5D20C0EC}"/>
                  </a:ext>
                </a:extLst>
              </p:cNvPr>
              <p:cNvPicPr/>
              <p:nvPr/>
            </p:nvPicPr>
            <p:blipFill>
              <a:blip r:embed="rId6"/>
              <a:stretch/>
            </p:blipFill>
            <p:spPr>
              <a:xfrm>
                <a:off x="2799052" y="984749"/>
                <a:ext cx="2425320" cy="2036520"/>
              </a:xfrm>
              <a:prstGeom prst="rect">
                <a:avLst/>
              </a:prstGeom>
              <a:ln>
                <a:noFill/>
              </a:ln>
            </p:spPr>
          </p:pic>
          <p:sp>
            <p:nvSpPr>
              <p:cNvPr id="16" name="CustomShape 1">
                <a:extLst>
                  <a:ext uri="{FF2B5EF4-FFF2-40B4-BE49-F238E27FC236}">
                    <a16:creationId xmlns:a16="http://schemas.microsoft.com/office/drawing/2014/main" id="{BEDB33D1-6DD2-3935-1F83-9846A520864E}"/>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txBody>
              <a:bodyPr/>
              <a:lstStyle/>
              <a:p>
                <a:endParaRPr lang="en-US"/>
              </a:p>
            </p:txBody>
          </p:sp>
          <p:sp>
            <p:nvSpPr>
              <p:cNvPr id="17" name="CustomShape 2">
                <a:extLst>
                  <a:ext uri="{FF2B5EF4-FFF2-40B4-BE49-F238E27FC236}">
                    <a16:creationId xmlns:a16="http://schemas.microsoft.com/office/drawing/2014/main" id="{DB58AF02-CB1C-5330-513C-183F3191DC7D}"/>
                  </a:ext>
                </a:extLst>
              </p:cNvPr>
              <p:cNvSpPr/>
              <p:nvPr/>
            </p:nvSpPr>
            <p:spPr>
              <a:xfrm>
                <a:off x="4168800" y="12265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0300</a:t>
                </a:r>
                <a:endParaRPr lang="en-US" sz="2000" b="0" strike="noStrike" spc="-1">
                  <a:solidFill>
                    <a:srgbClr val="000000"/>
                  </a:solidFill>
                  <a:latin typeface="Arial"/>
                </a:endParaRPr>
              </a:p>
            </p:txBody>
          </p:sp>
          <p:sp>
            <p:nvSpPr>
              <p:cNvPr id="18" name="CustomShape 3">
                <a:extLst>
                  <a:ext uri="{FF2B5EF4-FFF2-40B4-BE49-F238E27FC236}">
                    <a16:creationId xmlns:a16="http://schemas.microsoft.com/office/drawing/2014/main" id="{786A750A-F222-01CC-7B8B-813E549CA862}"/>
                  </a:ext>
                </a:extLst>
              </p:cNvPr>
              <p:cNvSpPr/>
              <p:nvPr/>
            </p:nvSpPr>
            <p:spPr>
              <a:xfrm>
                <a:off x="4762800" y="12859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0015</a:t>
                </a:r>
                <a:endParaRPr lang="en-US" sz="2000" b="0" strike="noStrike" spc="-1">
                  <a:solidFill>
                    <a:srgbClr val="000000"/>
                  </a:solidFill>
                  <a:latin typeface="Arial"/>
                </a:endParaRPr>
              </a:p>
            </p:txBody>
          </p:sp>
          <p:sp>
            <p:nvSpPr>
              <p:cNvPr id="19" name="CustomShape 4">
                <a:extLst>
                  <a:ext uri="{FF2B5EF4-FFF2-40B4-BE49-F238E27FC236}">
                    <a16:creationId xmlns:a16="http://schemas.microsoft.com/office/drawing/2014/main" id="{324038AF-99F8-A8C2-C8C6-5EA2CA0EB40C}"/>
                  </a:ext>
                </a:extLst>
              </p:cNvPr>
              <p:cNvSpPr/>
              <p:nvPr/>
            </p:nvSpPr>
            <p:spPr>
              <a:xfrm rot="233400">
                <a:off x="4309560" y="998640"/>
                <a:ext cx="109080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dirty="0" err="1">
                    <a:solidFill>
                      <a:srgbClr val="C00000"/>
                    </a:solidFill>
                    <a:latin typeface="Calibri"/>
                  </a:rPr>
                  <a:t>Flynn_St</a:t>
                </a:r>
                <a:endParaRPr lang="en-US" sz="2000" b="0" strike="noStrike" spc="-1" dirty="0">
                  <a:solidFill>
                    <a:srgbClr val="000000"/>
                  </a:solidFill>
                  <a:latin typeface="Arial"/>
                </a:endParaRPr>
              </a:p>
            </p:txBody>
          </p:sp>
        </p:grpSp>
        <p:sp>
          <p:nvSpPr>
            <p:cNvPr id="14" name="CustomShape 10">
              <a:extLst>
                <a:ext uri="{FF2B5EF4-FFF2-40B4-BE49-F238E27FC236}">
                  <a16:creationId xmlns:a16="http://schemas.microsoft.com/office/drawing/2014/main" id="{5156AEB8-5D82-3C6F-DF8B-919BD8D8C3D6}"/>
                </a:ext>
              </a:extLst>
            </p:cNvPr>
            <p:cNvSpPr/>
            <p:nvPr/>
          </p:nvSpPr>
          <p:spPr>
            <a:xfrm>
              <a:off x="-249305" y="1484326"/>
              <a:ext cx="3086285" cy="644877"/>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38 File drawers of documentation about Cambridge Buildings</a:t>
              </a:r>
              <a:endParaRPr lang="en-US" sz="1800" b="0" strike="noStrike" spc="-1" dirty="0">
                <a:solidFill>
                  <a:srgbClr val="000000"/>
                </a:solidFill>
                <a:latin typeface="Arial"/>
              </a:endParaRPr>
            </a:p>
          </p:txBody>
        </p:sp>
      </p:grpSp>
      <p:sp>
        <p:nvSpPr>
          <p:cNvPr id="24" name="CustomShape 9">
            <a:extLst>
              <a:ext uri="{FF2B5EF4-FFF2-40B4-BE49-F238E27FC236}">
                <a16:creationId xmlns:a16="http://schemas.microsoft.com/office/drawing/2014/main" id="{8FC8804B-9E7B-E963-1806-ED63490C3E54}"/>
              </a:ext>
            </a:extLst>
          </p:cNvPr>
          <p:cNvSpPr/>
          <p:nvPr/>
        </p:nvSpPr>
        <p:spPr>
          <a:xfrm>
            <a:off x="7419371" y="5333131"/>
            <a:ext cx="2693520" cy="700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Multi-Page Documents, </a:t>
            </a:r>
            <a:br>
              <a:rPr dirty="0"/>
            </a:br>
            <a:r>
              <a:rPr lang="en-US" sz="2000" b="1" strike="noStrike" spc="-1" dirty="0">
                <a:solidFill>
                  <a:srgbClr val="C00000"/>
                </a:solidFill>
                <a:latin typeface="Agency FB"/>
              </a:rPr>
              <a:t>Photo Front and Reverse</a:t>
            </a:r>
            <a:endParaRPr lang="en-US" sz="2000" b="0" strike="noStrike" spc="-1" dirty="0">
              <a:solidFill>
                <a:srgbClr val="000000"/>
              </a:solidFill>
              <a:latin typeface="Arial"/>
            </a:endParaRPr>
          </a:p>
        </p:txBody>
      </p:sp>
      <p:sp>
        <p:nvSpPr>
          <p:cNvPr id="25" name="CustomShape 12">
            <a:extLst>
              <a:ext uri="{FF2B5EF4-FFF2-40B4-BE49-F238E27FC236}">
                <a16:creationId xmlns:a16="http://schemas.microsoft.com/office/drawing/2014/main" id="{088D99C0-F4A5-1DD8-330A-E3ED030DCA5B}"/>
              </a:ext>
            </a:extLst>
          </p:cNvPr>
          <p:cNvSpPr/>
          <p:nvPr/>
        </p:nvSpPr>
        <p:spPr>
          <a:xfrm>
            <a:off x="7394099" y="4894953"/>
            <a:ext cx="2693520" cy="395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Cover Sheet for Each folder</a:t>
            </a:r>
            <a:endParaRPr lang="en-US" sz="2000" b="0" strike="noStrike" spc="-1" dirty="0">
              <a:solidFill>
                <a:srgbClr val="000000"/>
              </a:solidFill>
              <a:latin typeface="Arial"/>
            </a:endParaRPr>
          </a:p>
        </p:txBody>
      </p:sp>
      <p:sp>
        <p:nvSpPr>
          <p:cNvPr id="26" name="CustomShape 13">
            <a:extLst>
              <a:ext uri="{FF2B5EF4-FFF2-40B4-BE49-F238E27FC236}">
                <a16:creationId xmlns:a16="http://schemas.microsoft.com/office/drawing/2014/main" id="{D69F67D2-251C-476C-00E5-5F8F3B773BDF}"/>
              </a:ext>
            </a:extLst>
          </p:cNvPr>
          <p:cNvSpPr/>
          <p:nvPr/>
        </p:nvSpPr>
        <p:spPr>
          <a:xfrm>
            <a:off x="4647294" y="5110831"/>
            <a:ext cx="2693520" cy="92187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Digitization Step 1:</a:t>
            </a:r>
          </a:p>
          <a:p>
            <a:pPr>
              <a:lnSpc>
                <a:spcPct val="100000"/>
              </a:lnSpc>
            </a:pPr>
            <a:r>
              <a:rPr lang="en-US" sz="1800" b="1" strike="noStrike" spc="-1" dirty="0">
                <a:solidFill>
                  <a:srgbClr val="595959"/>
                </a:solidFill>
                <a:latin typeface="Agency FB"/>
              </a:rPr>
              <a:t>Prepare batches of folders for scanning.</a:t>
            </a:r>
            <a:endParaRPr lang="en-US" sz="1800" b="0" strike="noStrike" spc="-1" dirty="0">
              <a:solidFill>
                <a:srgbClr val="000000"/>
              </a:solidFill>
              <a:latin typeface="Arial"/>
            </a:endParaRPr>
          </a:p>
        </p:txBody>
      </p:sp>
      <p:grpSp>
        <p:nvGrpSpPr>
          <p:cNvPr id="31" name="Group 30">
            <a:extLst>
              <a:ext uri="{FF2B5EF4-FFF2-40B4-BE49-F238E27FC236}">
                <a16:creationId xmlns:a16="http://schemas.microsoft.com/office/drawing/2014/main" id="{D45C87B7-91D4-DDBE-1FE7-EB3CA2E4DD6E}"/>
              </a:ext>
            </a:extLst>
          </p:cNvPr>
          <p:cNvGrpSpPr/>
          <p:nvPr/>
        </p:nvGrpSpPr>
        <p:grpSpPr>
          <a:xfrm>
            <a:off x="10112891" y="4894953"/>
            <a:ext cx="1240551" cy="1086272"/>
            <a:chOff x="10450287" y="4963799"/>
            <a:chExt cx="1240551" cy="1086272"/>
          </a:xfrm>
        </p:grpSpPr>
        <p:sp>
          <p:nvSpPr>
            <p:cNvPr id="29" name="Rectangle 28">
              <a:extLst>
                <a:ext uri="{FF2B5EF4-FFF2-40B4-BE49-F238E27FC236}">
                  <a16:creationId xmlns:a16="http://schemas.microsoft.com/office/drawing/2014/main" id="{98E17443-B9D6-8CA0-53D1-6D434844AB38}"/>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50">
              <a:extLst>
                <a:ext uri="{FF2B5EF4-FFF2-40B4-BE49-F238E27FC236}">
                  <a16:creationId xmlns:a16="http://schemas.microsoft.com/office/drawing/2014/main" id="{2EB93CC5-4A10-2F23-60C8-6BFF9C2841BA}"/>
                </a:ext>
              </a:extLst>
            </p:cNvPr>
            <p:cNvPicPr/>
            <p:nvPr/>
          </p:nvPicPr>
          <p:blipFill>
            <a:blip r:embed="rId2"/>
            <a:stretch/>
          </p:blipFill>
          <p:spPr>
            <a:xfrm>
              <a:off x="10521609" y="5325651"/>
              <a:ext cx="538725" cy="647740"/>
            </a:xfrm>
            <a:prstGeom prst="rect">
              <a:avLst/>
            </a:prstGeom>
            <a:ln>
              <a:noFill/>
            </a:ln>
          </p:spPr>
        </p:pic>
        <p:pic>
          <p:nvPicPr>
            <p:cNvPr id="23" name="Picture 51">
              <a:extLst>
                <a:ext uri="{FF2B5EF4-FFF2-40B4-BE49-F238E27FC236}">
                  <a16:creationId xmlns:a16="http://schemas.microsoft.com/office/drawing/2014/main" id="{4ED5E8CE-C8D5-E07E-AC3B-02B5A107C7EA}"/>
                </a:ext>
              </a:extLst>
            </p:cNvPr>
            <p:cNvPicPr/>
            <p:nvPr/>
          </p:nvPicPr>
          <p:blipFill>
            <a:blip r:embed="rId3"/>
            <a:stretch/>
          </p:blipFill>
          <p:spPr>
            <a:xfrm>
              <a:off x="11102454" y="5325651"/>
              <a:ext cx="536006" cy="647740"/>
            </a:xfrm>
            <a:prstGeom prst="rect">
              <a:avLst/>
            </a:prstGeom>
            <a:ln>
              <a:noFill/>
            </a:ln>
          </p:spPr>
        </p:pic>
        <p:sp>
          <p:nvSpPr>
            <p:cNvPr id="28" name="TextBox 27">
              <a:extLst>
                <a:ext uri="{FF2B5EF4-FFF2-40B4-BE49-F238E27FC236}">
                  <a16:creationId xmlns:a16="http://schemas.microsoft.com/office/drawing/2014/main" id="{1D3108F1-EDE0-8FE9-C2C1-0F8618B6D3DD}"/>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Tree>
    <p:extLst>
      <p:ext uri="{BB962C8B-B14F-4D97-AF65-F5344CB8AC3E}">
        <p14:creationId xmlns:p14="http://schemas.microsoft.com/office/powerpoint/2010/main" val="3686627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CustomShape 1"/>
          <p:cNvSpPr/>
          <p:nvPr/>
        </p:nvSpPr>
        <p:spPr>
          <a:xfrm>
            <a:off x="398520" y="106200"/>
            <a:ext cx="10285200" cy="6998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000" b="1" strike="noStrike" spc="-1">
                <a:solidFill>
                  <a:srgbClr val="2E75B6"/>
                </a:solidFill>
                <a:latin typeface="Calibri"/>
              </a:rPr>
              <a:t>Scanning Workflow &amp; Naming Scheme</a:t>
            </a:r>
            <a:endParaRPr lang="en-US" sz="4000" b="0" strike="noStrike" spc="-1">
              <a:solidFill>
                <a:srgbClr val="000000"/>
              </a:solidFill>
              <a:latin typeface="Arial"/>
            </a:endParaRPr>
          </a:p>
        </p:txBody>
      </p:sp>
      <p:pic>
        <p:nvPicPr>
          <p:cNvPr id="193" name="Picture 8" descr="Image result for scanner icon"/>
          <p:cNvPicPr/>
          <p:nvPr/>
        </p:nvPicPr>
        <p:blipFill>
          <a:blip r:embed="rId2"/>
          <a:stretch/>
        </p:blipFill>
        <p:spPr>
          <a:xfrm>
            <a:off x="5214492" y="1233482"/>
            <a:ext cx="2419787" cy="1388875"/>
          </a:xfrm>
          <a:prstGeom prst="rect">
            <a:avLst/>
          </a:prstGeom>
          <a:ln>
            <a:noFill/>
          </a:ln>
        </p:spPr>
      </p:pic>
      <p:sp>
        <p:nvSpPr>
          <p:cNvPr id="194" name="CustomShape 2"/>
          <p:cNvSpPr/>
          <p:nvPr/>
        </p:nvSpPr>
        <p:spPr>
          <a:xfrm>
            <a:off x="7995892" y="1054970"/>
            <a:ext cx="3267131" cy="1752872"/>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000" b="1" strike="noStrike" spc="-1" dirty="0">
                <a:solidFill>
                  <a:srgbClr val="C00000"/>
                </a:solidFill>
                <a:latin typeface="Agency FB"/>
              </a:rPr>
              <a:t>Ordered File Names:</a:t>
            </a:r>
            <a:endParaRPr lang="en-US" sz="2000" b="0" strike="noStrike" spc="-1" dirty="0">
              <a:solidFill>
                <a:srgbClr val="000000"/>
              </a:solidFill>
              <a:latin typeface="Arial"/>
            </a:endParaRPr>
          </a:p>
          <a:p>
            <a:pPr>
              <a:lnSpc>
                <a:spcPct val="100000"/>
              </a:lnSpc>
            </a:pPr>
            <a:r>
              <a:rPr lang="en-US" sz="2000" b="1" strike="noStrike" spc="-1" dirty="0">
                <a:solidFill>
                  <a:srgbClr val="C00000"/>
                </a:solidFill>
                <a:latin typeface="Agency FB"/>
              </a:rPr>
              <a:t>4-8_Cambridge_St_0001.tif</a:t>
            </a:r>
            <a:endParaRPr lang="en-US" sz="2000" b="0" strike="noStrike" spc="-1" dirty="0">
              <a:solidFill>
                <a:srgbClr val="000000"/>
              </a:solidFill>
              <a:latin typeface="Arial"/>
            </a:endParaRPr>
          </a:p>
          <a:p>
            <a:pPr>
              <a:lnSpc>
                <a:spcPct val="100000"/>
              </a:lnSpc>
            </a:pPr>
            <a:r>
              <a:rPr lang="en-US" sz="2000" b="1" spc="-1" dirty="0">
                <a:solidFill>
                  <a:srgbClr val="C00000"/>
                </a:solidFill>
                <a:latin typeface="Agency FB"/>
              </a:rPr>
              <a:t>4-8</a:t>
            </a:r>
            <a:r>
              <a:rPr lang="en-US" sz="2000" b="1" strike="noStrike" spc="-1" dirty="0">
                <a:solidFill>
                  <a:srgbClr val="C00000"/>
                </a:solidFill>
                <a:latin typeface="Agency FB"/>
              </a:rPr>
              <a:t>_Cambridge_St_0002.tif</a:t>
            </a:r>
          </a:p>
          <a:p>
            <a:pPr>
              <a:lnSpc>
                <a:spcPct val="100000"/>
              </a:lnSpc>
            </a:pPr>
            <a:r>
              <a:rPr lang="en-US" sz="2800" b="1" spc="-1" dirty="0">
                <a:solidFill>
                  <a:srgbClr val="C00000"/>
                </a:solidFill>
                <a:latin typeface="Agency FB"/>
              </a:rPr>
              <a:t>…</a:t>
            </a:r>
            <a:endParaRPr lang="en-US" sz="2800" b="0" strike="noStrike" spc="-1" dirty="0">
              <a:solidFill>
                <a:srgbClr val="000000"/>
              </a:solidFill>
              <a:latin typeface="Arial"/>
            </a:endParaRPr>
          </a:p>
          <a:p>
            <a:pPr>
              <a:lnSpc>
                <a:spcPct val="100000"/>
              </a:lnSpc>
            </a:pPr>
            <a:r>
              <a:rPr lang="en-US" sz="2000" b="1" spc="-1" dirty="0">
                <a:solidFill>
                  <a:srgbClr val="C00000"/>
                </a:solidFill>
                <a:latin typeface="Agency FB"/>
              </a:rPr>
              <a:t>14-20</a:t>
            </a:r>
            <a:r>
              <a:rPr lang="en-US" sz="2000" b="1" strike="noStrike" spc="-1" dirty="0">
                <a:solidFill>
                  <a:srgbClr val="C00000"/>
                </a:solidFill>
                <a:latin typeface="Agency FB"/>
              </a:rPr>
              <a:t>_Cambridge_St_0003.tif</a:t>
            </a:r>
            <a:endParaRPr lang="en-US" sz="2800" b="0" strike="noStrike" spc="-1" dirty="0">
              <a:solidFill>
                <a:srgbClr val="000000"/>
              </a:solidFill>
              <a:latin typeface="Arial"/>
            </a:endParaRPr>
          </a:p>
        </p:txBody>
      </p:sp>
      <p:sp>
        <p:nvSpPr>
          <p:cNvPr id="198" name="TextShape 3"/>
          <p:cNvSpPr txBox="1"/>
          <p:nvPr/>
        </p:nvSpPr>
        <p:spPr>
          <a:xfrm>
            <a:off x="5441760" y="6390360"/>
            <a:ext cx="1247040" cy="364680"/>
          </a:xfrm>
          <a:prstGeom prst="rect">
            <a:avLst/>
          </a:prstGeom>
          <a:noFill/>
          <a:ln>
            <a:noFill/>
          </a:ln>
        </p:spPr>
        <p:txBody>
          <a:bodyPr anchor="ctr">
            <a:noAutofit/>
          </a:bodyPr>
          <a:lstStyle/>
          <a:p>
            <a:pPr>
              <a:lnSpc>
                <a:spcPct val="100000"/>
              </a:lnSpc>
            </a:pPr>
            <a:fld id="{8A86E92F-48DC-4394-92AD-77C42A573F3E}" type="datetime1">
              <a:rPr lang="en-US" sz="1200" b="0" strike="noStrike" spc="-1">
                <a:solidFill>
                  <a:srgbClr val="8B8B8B"/>
                </a:solidFill>
                <a:latin typeface="Calibri"/>
              </a:rPr>
              <a:t>9/1/2023</a:t>
            </a:fld>
            <a:endParaRPr lang="en-US" sz="1200" b="0" strike="noStrike" spc="-1">
              <a:latin typeface="Times New Roman"/>
            </a:endParaRPr>
          </a:p>
        </p:txBody>
      </p:sp>
      <p:sp>
        <p:nvSpPr>
          <p:cNvPr id="199" name="TextShape 4"/>
          <p:cNvSpPr txBox="1"/>
          <p:nvPr/>
        </p:nvSpPr>
        <p:spPr>
          <a:xfrm>
            <a:off x="255600" y="6390360"/>
            <a:ext cx="2742840" cy="364680"/>
          </a:xfrm>
          <a:prstGeom prst="rect">
            <a:avLst/>
          </a:prstGeom>
          <a:noFill/>
          <a:ln>
            <a:noFill/>
          </a:ln>
        </p:spPr>
        <p:txBody>
          <a:bodyPr anchor="ctr">
            <a:noAutofit/>
          </a:bodyPr>
          <a:lstStyle/>
          <a:p>
            <a:pPr>
              <a:lnSpc>
                <a:spcPct val="100000"/>
              </a:lnSpc>
            </a:pPr>
            <a:fld id="{3AC6D0A2-9A06-46DD-BD2B-6EC4D49A85BD}" type="slidenum">
              <a:rPr lang="en-US" sz="1200" b="0" strike="noStrike" spc="-1">
                <a:solidFill>
                  <a:srgbClr val="8B8B8B"/>
                </a:solidFill>
                <a:latin typeface="Calibri"/>
              </a:rPr>
              <a:t>3</a:t>
            </a:fld>
            <a:endParaRPr lang="en-US" sz="1200" b="0" strike="noStrike" spc="-1">
              <a:latin typeface="Times New Roman"/>
            </a:endParaRPr>
          </a:p>
        </p:txBody>
      </p:sp>
      <p:grpSp>
        <p:nvGrpSpPr>
          <p:cNvPr id="2" name="Group 1">
            <a:extLst>
              <a:ext uri="{FF2B5EF4-FFF2-40B4-BE49-F238E27FC236}">
                <a16:creationId xmlns:a16="http://schemas.microsoft.com/office/drawing/2014/main" id="{94C6C376-6A5F-E391-2B4B-F6334C17FADC}"/>
              </a:ext>
            </a:extLst>
          </p:cNvPr>
          <p:cNvGrpSpPr/>
          <p:nvPr/>
        </p:nvGrpSpPr>
        <p:grpSpPr>
          <a:xfrm>
            <a:off x="1007743" y="2951738"/>
            <a:ext cx="2068281" cy="1294816"/>
            <a:chOff x="1007743" y="3285587"/>
            <a:chExt cx="2068281" cy="1294816"/>
          </a:xfrm>
        </p:grpSpPr>
        <p:pic>
          <p:nvPicPr>
            <p:cNvPr id="5" name="Picture 4" descr="Image result for pages">
              <a:extLst>
                <a:ext uri="{FF2B5EF4-FFF2-40B4-BE49-F238E27FC236}">
                  <a16:creationId xmlns:a16="http://schemas.microsoft.com/office/drawing/2014/main" id="{D1DC0DC1-5096-939D-A86A-7073E77C690D}"/>
                </a:ext>
              </a:extLst>
            </p:cNvPr>
            <p:cNvPicPr/>
            <p:nvPr/>
          </p:nvPicPr>
          <p:blipFill>
            <a:blip r:embed="rId3"/>
            <a:stretch/>
          </p:blipFill>
          <p:spPr>
            <a:xfrm rot="16200000">
              <a:off x="2064325" y="3568704"/>
              <a:ext cx="1011699" cy="1011699"/>
            </a:xfrm>
            <a:prstGeom prst="rect">
              <a:avLst/>
            </a:prstGeom>
            <a:ln>
              <a:noFill/>
            </a:ln>
          </p:spPr>
        </p:pic>
        <p:pic>
          <p:nvPicPr>
            <p:cNvPr id="6" name="Picture 2" descr="Image result for folder">
              <a:extLst>
                <a:ext uri="{FF2B5EF4-FFF2-40B4-BE49-F238E27FC236}">
                  <a16:creationId xmlns:a16="http://schemas.microsoft.com/office/drawing/2014/main" id="{963BD588-F053-9A5F-FA07-C78B885DFDA1}"/>
                </a:ext>
              </a:extLst>
            </p:cNvPr>
            <p:cNvPicPr/>
            <p:nvPr/>
          </p:nvPicPr>
          <p:blipFill>
            <a:blip r:embed="rId4"/>
            <a:stretch/>
          </p:blipFill>
          <p:spPr>
            <a:xfrm>
              <a:off x="1007743" y="3285587"/>
              <a:ext cx="1790981" cy="1219286"/>
            </a:xfrm>
            <a:prstGeom prst="rect">
              <a:avLst/>
            </a:prstGeom>
            <a:ln>
              <a:noFill/>
            </a:ln>
          </p:spPr>
        </p:pic>
        <p:sp>
          <p:nvSpPr>
            <p:cNvPr id="7" name="CustomShape 6">
              <a:extLst>
                <a:ext uri="{FF2B5EF4-FFF2-40B4-BE49-F238E27FC236}">
                  <a16:creationId xmlns:a16="http://schemas.microsoft.com/office/drawing/2014/main" id="{74F6E7AE-B6E2-1257-7D38-3ED50E93A29E}"/>
                </a:ext>
              </a:extLst>
            </p:cNvPr>
            <p:cNvSpPr/>
            <p:nvPr/>
          </p:nvSpPr>
          <p:spPr>
            <a:xfrm>
              <a:off x="1181798" y="3793967"/>
              <a:ext cx="1426522" cy="275545"/>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trike="noStrike" spc="-1" dirty="0">
                  <a:solidFill>
                    <a:srgbClr val="C00000"/>
                  </a:solidFill>
                  <a:latin typeface="Calibri"/>
                </a:rPr>
                <a:t>4-324 Cambridge St</a:t>
              </a:r>
              <a:endParaRPr lang="en-US" sz="1200" b="0" strike="noStrike" spc="-1" dirty="0">
                <a:solidFill>
                  <a:srgbClr val="000000"/>
                </a:solidFill>
                <a:latin typeface="Arial"/>
              </a:endParaRPr>
            </a:p>
          </p:txBody>
        </p:sp>
      </p:grpSp>
      <p:grpSp>
        <p:nvGrpSpPr>
          <p:cNvPr id="9" name="Group 8">
            <a:extLst>
              <a:ext uri="{FF2B5EF4-FFF2-40B4-BE49-F238E27FC236}">
                <a16:creationId xmlns:a16="http://schemas.microsoft.com/office/drawing/2014/main" id="{267463FE-E466-87EC-94AA-BA148356C645}"/>
              </a:ext>
            </a:extLst>
          </p:cNvPr>
          <p:cNvGrpSpPr/>
          <p:nvPr/>
        </p:nvGrpSpPr>
        <p:grpSpPr>
          <a:xfrm>
            <a:off x="589037" y="1035482"/>
            <a:ext cx="2204486" cy="1727875"/>
            <a:chOff x="3086799" y="1106929"/>
            <a:chExt cx="2204486" cy="1727875"/>
          </a:xfrm>
        </p:grpSpPr>
        <p:pic>
          <p:nvPicPr>
            <p:cNvPr id="11" name="Picture 6" descr="Image result for file cabinet">
              <a:extLst>
                <a:ext uri="{FF2B5EF4-FFF2-40B4-BE49-F238E27FC236}">
                  <a16:creationId xmlns:a16="http://schemas.microsoft.com/office/drawing/2014/main" id="{6875DCB3-4440-3BDE-B9F8-0389DD67313A}"/>
                </a:ext>
              </a:extLst>
            </p:cNvPr>
            <p:cNvPicPr/>
            <p:nvPr/>
          </p:nvPicPr>
          <p:blipFill>
            <a:blip r:embed="rId5"/>
            <a:stretch/>
          </p:blipFill>
          <p:spPr>
            <a:xfrm>
              <a:off x="3086799" y="1126417"/>
              <a:ext cx="2034542" cy="1708387"/>
            </a:xfrm>
            <a:prstGeom prst="rect">
              <a:avLst/>
            </a:prstGeom>
            <a:ln>
              <a:noFill/>
            </a:ln>
          </p:spPr>
        </p:pic>
        <p:sp>
          <p:nvSpPr>
            <p:cNvPr id="12" name="CustomShape 1">
              <a:extLst>
                <a:ext uri="{FF2B5EF4-FFF2-40B4-BE49-F238E27FC236}">
                  <a16:creationId xmlns:a16="http://schemas.microsoft.com/office/drawing/2014/main" id="{7533D9CC-563A-00F0-F2E9-6A2E2429BCFD}"/>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txBody>
            <a:bodyPr/>
            <a:lstStyle/>
            <a:p>
              <a:endParaRPr lang="en-US"/>
            </a:p>
          </p:txBody>
        </p:sp>
        <p:sp>
          <p:nvSpPr>
            <p:cNvPr id="13" name="CustomShape 2">
              <a:extLst>
                <a:ext uri="{FF2B5EF4-FFF2-40B4-BE49-F238E27FC236}">
                  <a16:creationId xmlns:a16="http://schemas.microsoft.com/office/drawing/2014/main" id="{E459BEAA-AA22-E454-B15D-D7B29E1B9EB3}"/>
                </a:ext>
              </a:extLst>
            </p:cNvPr>
            <p:cNvSpPr/>
            <p:nvPr/>
          </p:nvSpPr>
          <p:spPr>
            <a:xfrm>
              <a:off x="4215095" y="126918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0300</a:t>
              </a:r>
              <a:endParaRPr lang="en-US" sz="1400" b="0" strike="noStrike" spc="-1" dirty="0">
                <a:solidFill>
                  <a:srgbClr val="000000"/>
                </a:solidFill>
                <a:latin typeface="Arial"/>
              </a:endParaRPr>
            </a:p>
          </p:txBody>
        </p:sp>
        <p:sp>
          <p:nvSpPr>
            <p:cNvPr id="14" name="CustomShape 3">
              <a:extLst>
                <a:ext uri="{FF2B5EF4-FFF2-40B4-BE49-F238E27FC236}">
                  <a16:creationId xmlns:a16="http://schemas.microsoft.com/office/drawing/2014/main" id="{480D63B4-0802-43D6-6FFA-4416C60DC60D}"/>
                </a:ext>
              </a:extLst>
            </p:cNvPr>
            <p:cNvSpPr/>
            <p:nvPr/>
          </p:nvSpPr>
          <p:spPr>
            <a:xfrm>
              <a:off x="4744555" y="137592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0015</a:t>
              </a:r>
              <a:endParaRPr lang="en-US" sz="1400" b="0" strike="noStrike" spc="-1" dirty="0">
                <a:solidFill>
                  <a:srgbClr val="000000"/>
                </a:solidFill>
                <a:latin typeface="Arial"/>
              </a:endParaRPr>
            </a:p>
          </p:txBody>
        </p:sp>
        <p:sp>
          <p:nvSpPr>
            <p:cNvPr id="15" name="CustomShape 4">
              <a:extLst>
                <a:ext uri="{FF2B5EF4-FFF2-40B4-BE49-F238E27FC236}">
                  <a16:creationId xmlns:a16="http://schemas.microsoft.com/office/drawing/2014/main" id="{01F41711-20DB-3E43-ED1A-587739E15AC8}"/>
                </a:ext>
              </a:extLst>
            </p:cNvPr>
            <p:cNvSpPr/>
            <p:nvPr/>
          </p:nvSpPr>
          <p:spPr>
            <a:xfrm rot="233400">
              <a:off x="4392996" y="1106929"/>
              <a:ext cx="821933"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err="1">
                  <a:solidFill>
                    <a:srgbClr val="C00000"/>
                  </a:solidFill>
                  <a:latin typeface="Calibri"/>
                </a:rPr>
                <a:t>Flynn_St</a:t>
              </a:r>
              <a:endParaRPr lang="en-US" sz="1400" b="0" strike="noStrike" spc="-1" dirty="0">
                <a:solidFill>
                  <a:srgbClr val="000000"/>
                </a:solidFill>
                <a:latin typeface="Arial"/>
              </a:endParaRPr>
            </a:p>
          </p:txBody>
        </p:sp>
      </p:grpSp>
      <p:pic>
        <p:nvPicPr>
          <p:cNvPr id="19" name="Picture 18">
            <a:extLst>
              <a:ext uri="{FF2B5EF4-FFF2-40B4-BE49-F238E27FC236}">
                <a16:creationId xmlns:a16="http://schemas.microsoft.com/office/drawing/2014/main" id="{67678C92-4A9B-099E-9A1A-C6A664282ACE}"/>
              </a:ext>
            </a:extLst>
          </p:cNvPr>
          <p:cNvPicPr>
            <a:picLocks noChangeAspect="1"/>
          </p:cNvPicPr>
          <p:nvPr/>
        </p:nvPicPr>
        <p:blipFill>
          <a:blip r:embed="rId6"/>
          <a:stretch>
            <a:fillRect/>
          </a:stretch>
        </p:blipFill>
        <p:spPr>
          <a:xfrm>
            <a:off x="4644806" y="3496883"/>
            <a:ext cx="2824341" cy="2334571"/>
          </a:xfrm>
          <a:prstGeom prst="rect">
            <a:avLst/>
          </a:prstGeom>
        </p:spPr>
      </p:pic>
      <p:pic>
        <p:nvPicPr>
          <p:cNvPr id="21" name="Picture 20">
            <a:extLst>
              <a:ext uri="{FF2B5EF4-FFF2-40B4-BE49-F238E27FC236}">
                <a16:creationId xmlns:a16="http://schemas.microsoft.com/office/drawing/2014/main" id="{1F4DEEA0-DE45-89AF-E2E7-62F232BD4B4D}"/>
              </a:ext>
            </a:extLst>
          </p:cNvPr>
          <p:cNvPicPr>
            <a:picLocks noChangeAspect="1"/>
          </p:cNvPicPr>
          <p:nvPr/>
        </p:nvPicPr>
        <p:blipFill>
          <a:blip r:embed="rId7"/>
          <a:stretch>
            <a:fillRect/>
          </a:stretch>
        </p:blipFill>
        <p:spPr>
          <a:xfrm>
            <a:off x="7758084" y="3285587"/>
            <a:ext cx="3742749" cy="3123988"/>
          </a:xfrm>
          <a:prstGeom prst="rect">
            <a:avLst/>
          </a:prstGeom>
        </p:spPr>
      </p:pic>
      <p:grpSp>
        <p:nvGrpSpPr>
          <p:cNvPr id="4" name="Group 3">
            <a:extLst>
              <a:ext uri="{FF2B5EF4-FFF2-40B4-BE49-F238E27FC236}">
                <a16:creationId xmlns:a16="http://schemas.microsoft.com/office/drawing/2014/main" id="{47A2ACAF-200B-DF9E-B0B5-8C6926E43367}"/>
              </a:ext>
            </a:extLst>
          </p:cNvPr>
          <p:cNvGrpSpPr/>
          <p:nvPr/>
        </p:nvGrpSpPr>
        <p:grpSpPr>
          <a:xfrm>
            <a:off x="1007743" y="4529670"/>
            <a:ext cx="2068281" cy="1294816"/>
            <a:chOff x="1007743" y="3285587"/>
            <a:chExt cx="2068281" cy="1294816"/>
          </a:xfrm>
        </p:grpSpPr>
        <p:pic>
          <p:nvPicPr>
            <p:cNvPr id="8" name="Picture 7" descr="Image result for pages">
              <a:extLst>
                <a:ext uri="{FF2B5EF4-FFF2-40B4-BE49-F238E27FC236}">
                  <a16:creationId xmlns:a16="http://schemas.microsoft.com/office/drawing/2014/main" id="{D7C139CC-D2BD-89C1-9B28-819D437FD78F}"/>
                </a:ext>
              </a:extLst>
            </p:cNvPr>
            <p:cNvPicPr/>
            <p:nvPr/>
          </p:nvPicPr>
          <p:blipFill>
            <a:blip r:embed="rId3"/>
            <a:stretch/>
          </p:blipFill>
          <p:spPr>
            <a:xfrm rot="16200000">
              <a:off x="2064325" y="3568704"/>
              <a:ext cx="1011699" cy="1011699"/>
            </a:xfrm>
            <a:prstGeom prst="rect">
              <a:avLst/>
            </a:prstGeom>
            <a:ln>
              <a:noFill/>
            </a:ln>
          </p:spPr>
        </p:pic>
        <p:pic>
          <p:nvPicPr>
            <p:cNvPr id="10" name="Picture 2" descr="Image result for folder">
              <a:extLst>
                <a:ext uri="{FF2B5EF4-FFF2-40B4-BE49-F238E27FC236}">
                  <a16:creationId xmlns:a16="http://schemas.microsoft.com/office/drawing/2014/main" id="{40948D3A-2DFC-7684-2645-FD6ABF5EEDA4}"/>
                </a:ext>
              </a:extLst>
            </p:cNvPr>
            <p:cNvPicPr/>
            <p:nvPr/>
          </p:nvPicPr>
          <p:blipFill>
            <a:blip r:embed="rId4"/>
            <a:stretch/>
          </p:blipFill>
          <p:spPr>
            <a:xfrm>
              <a:off x="1007743" y="3285587"/>
              <a:ext cx="1790981" cy="1219286"/>
            </a:xfrm>
            <a:prstGeom prst="rect">
              <a:avLst/>
            </a:prstGeom>
            <a:ln>
              <a:noFill/>
            </a:ln>
          </p:spPr>
        </p:pic>
        <p:sp>
          <p:nvSpPr>
            <p:cNvPr id="16" name="CustomShape 6">
              <a:extLst>
                <a:ext uri="{FF2B5EF4-FFF2-40B4-BE49-F238E27FC236}">
                  <a16:creationId xmlns:a16="http://schemas.microsoft.com/office/drawing/2014/main" id="{ABA55FB8-BCE7-F005-1BA9-8B34B0DF63FE}"/>
                </a:ext>
              </a:extLst>
            </p:cNvPr>
            <p:cNvSpPr/>
            <p:nvPr/>
          </p:nvSpPr>
          <p:spPr>
            <a:xfrm>
              <a:off x="1063936" y="3806504"/>
              <a:ext cx="1701661" cy="46021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pc="-1" dirty="0">
                  <a:solidFill>
                    <a:srgbClr val="C00000"/>
                  </a:solidFill>
                  <a:latin typeface="Calibri"/>
                </a:rPr>
                <a:t>725 Mass Ave</a:t>
              </a:r>
              <a:br>
                <a:rPr lang="en-US" sz="1200" b="1" spc="-1" dirty="0">
                  <a:solidFill>
                    <a:srgbClr val="C00000"/>
                  </a:solidFill>
                  <a:latin typeface="Calibri"/>
                </a:rPr>
              </a:br>
              <a:r>
                <a:rPr lang="en-US" sz="1200" b="1" spc="-1" dirty="0">
                  <a:solidFill>
                    <a:srgbClr val="C00000"/>
                  </a:solidFill>
                  <a:latin typeface="Calibri"/>
                </a:rPr>
                <a:t>City Hall Mortar Studies</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CDASH Document Types</a:t>
            </a:r>
            <a:endParaRPr lang="en-US" sz="2400" b="0" strike="noStrike" spc="-1" dirty="0">
              <a:solidFill>
                <a:srgbClr val="000000"/>
              </a:solidFill>
              <a:latin typeface="Arial"/>
            </a:endParaRPr>
          </a:p>
        </p:txBody>
      </p:sp>
      <p:sp>
        <p:nvSpPr>
          <p:cNvPr id="201" name="CustomShape 2"/>
          <p:cNvSpPr/>
          <p:nvPr/>
        </p:nvSpPr>
        <p:spPr>
          <a:xfrm>
            <a:off x="381960" y="927720"/>
            <a:ext cx="2693520" cy="69483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dirty="0">
                <a:solidFill>
                  <a:srgbClr val="595959"/>
                </a:solidFill>
                <a:latin typeface="Agency FB"/>
              </a:rPr>
              <a:t>The digital collection system relies on titles, and tags to help users find information of interest.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Before uploading bulk-scanned images we can sort them according to rough types that can be evaluated quickly by just looking at the previews for files.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95 percent of all documents in the Building Files collection fit into one of these categories.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These categories allow us to set many useful keywords and generate meaningful default titles for each document upon our initial upload into the system.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202" name="CustomShape 3"/>
          <p:cNvSpPr/>
          <p:nvPr/>
        </p:nvSpPr>
        <p:spPr>
          <a:xfrm>
            <a:off x="3873240" y="1504080"/>
            <a:ext cx="3644052" cy="286086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Agency FB"/>
              </a:rPr>
              <a:t>Text Document Types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AI</a:t>
            </a:r>
            <a:r>
              <a:rPr lang="en-US" sz="1800" b="1" strike="noStrike" spc="-1" dirty="0">
                <a:solidFill>
                  <a:srgbClr val="C00000"/>
                </a:solidFill>
                <a:latin typeface="Agency FB"/>
              </a:rPr>
              <a:t> - Architectural Inventory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HS</a:t>
            </a:r>
            <a:r>
              <a:rPr lang="en-US" sz="1800" b="1" strike="noStrike" spc="-1" dirty="0">
                <a:solidFill>
                  <a:srgbClr val="C00000"/>
                </a:solidFill>
                <a:latin typeface="Agency FB"/>
              </a:rPr>
              <a:t> - Historic Building Survey</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RF</a:t>
            </a:r>
            <a:r>
              <a:rPr lang="en-US" sz="1800" b="1" strike="noStrike" spc="-1" dirty="0">
                <a:solidFill>
                  <a:srgbClr val="C00000"/>
                </a:solidFill>
                <a:latin typeface="Agency FB"/>
              </a:rPr>
              <a:t> - Research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RN</a:t>
            </a:r>
            <a:r>
              <a:rPr lang="en-US" sz="1800" b="1" strike="noStrike" spc="-1" dirty="0">
                <a:solidFill>
                  <a:srgbClr val="C00000"/>
                </a:solidFill>
                <a:latin typeface="Agency FB"/>
              </a:rPr>
              <a:t>- Research Notes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CD</a:t>
            </a:r>
            <a:r>
              <a:rPr lang="en-US" sz="1800" b="1" strike="noStrike" spc="-1" dirty="0">
                <a:solidFill>
                  <a:srgbClr val="C00000"/>
                </a:solidFill>
                <a:latin typeface="Agency FB"/>
              </a:rPr>
              <a:t> - Correspondence</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OB</a:t>
            </a:r>
            <a:r>
              <a:rPr lang="en-US" sz="1800" b="1" strike="noStrike" spc="-1" dirty="0">
                <a:solidFill>
                  <a:srgbClr val="C00000"/>
                </a:solidFill>
                <a:latin typeface="Agency FB"/>
              </a:rPr>
              <a:t> - Official Business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AM</a:t>
            </a:r>
            <a:r>
              <a:rPr lang="en-US" sz="1800" b="1" strike="noStrike" spc="-1" dirty="0">
                <a:solidFill>
                  <a:srgbClr val="C00000"/>
                </a:solidFill>
                <a:latin typeface="Agency FB"/>
              </a:rPr>
              <a:t> – Article or Monograph </a:t>
            </a:r>
          </a:p>
          <a:p>
            <a:pPr marL="174600">
              <a:lnSpc>
                <a:spcPct val="100000"/>
              </a:lnSpc>
            </a:pPr>
            <a:r>
              <a:rPr lang="en-US" sz="1800" b="1" strike="noStrike" spc="-1" dirty="0">
                <a:latin typeface="Agency FB"/>
              </a:rPr>
              <a:t>EP</a:t>
            </a:r>
            <a:r>
              <a:rPr lang="en-US" sz="1800" b="1" strike="noStrike" spc="-1" dirty="0">
                <a:solidFill>
                  <a:srgbClr val="C00000"/>
                </a:solidFill>
                <a:latin typeface="Agency FB"/>
              </a:rPr>
              <a:t> - Ephemera (Pamphlet, Program, Ads) </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UC</a:t>
            </a:r>
            <a:r>
              <a:rPr lang="en-US" sz="1800" b="1" strike="noStrike" spc="-1" dirty="0">
                <a:solidFill>
                  <a:srgbClr val="C00000"/>
                </a:solidFill>
                <a:latin typeface="Agency FB"/>
              </a:rPr>
              <a:t> - Unclassified</a:t>
            </a:r>
            <a:endParaRPr lang="en-US" sz="1800" b="0" strike="noStrike" spc="-1" dirty="0">
              <a:solidFill>
                <a:srgbClr val="000000"/>
              </a:solidFill>
              <a:latin typeface="Arial"/>
            </a:endParaRPr>
          </a:p>
        </p:txBody>
      </p:sp>
      <p:sp>
        <p:nvSpPr>
          <p:cNvPr id="203" name="CustomShape 4"/>
          <p:cNvSpPr/>
          <p:nvPr/>
        </p:nvSpPr>
        <p:spPr>
          <a:xfrm>
            <a:off x="7745940" y="1503784"/>
            <a:ext cx="3301920" cy="258386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Photograph</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PC</a:t>
            </a:r>
            <a:r>
              <a:rPr lang="en-US" sz="1800" b="1" strike="noStrike" spc="-1" dirty="0">
                <a:solidFill>
                  <a:srgbClr val="C00000"/>
                </a:solidFill>
                <a:latin typeface="Agency FB"/>
              </a:rPr>
              <a:t> - Contact Sheet</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1" strike="noStrike" spc="-1" dirty="0">
                <a:latin typeface="Agency FB"/>
              </a:rPr>
              <a:t>PP</a:t>
            </a:r>
            <a:r>
              <a:rPr lang="en-US" sz="1800" b="1" strike="noStrike" spc="-1" dirty="0">
                <a:solidFill>
                  <a:srgbClr val="C00000"/>
                </a:solidFill>
                <a:latin typeface="Agency FB"/>
              </a:rPr>
              <a:t> - People Pics (Photo or Drawing)* *</a:t>
            </a:r>
            <a:r>
              <a:rPr lang="en-US" sz="1400" b="1" strike="noStrike" spc="-1" dirty="0">
                <a:solidFill>
                  <a:srgbClr val="C00000"/>
                </a:solidFill>
                <a:latin typeface="Agency FB"/>
              </a:rPr>
              <a:t>Not implemented in CDASH </a:t>
            </a:r>
            <a:endParaRPr lang="en-US" sz="1800" b="0" strike="noStrike" spc="-1" dirty="0">
              <a:solidFill>
                <a:srgbClr val="000000"/>
              </a:solidFill>
              <a:latin typeface="Arial"/>
            </a:endParaRPr>
          </a:p>
        </p:txBody>
      </p:sp>
      <p:sp>
        <p:nvSpPr>
          <p:cNvPr id="204" name="CustomShape 5"/>
          <p:cNvSpPr/>
          <p:nvPr/>
        </p:nvSpPr>
        <p:spPr>
          <a:xfrm>
            <a:off x="10153440" y="1503784"/>
            <a:ext cx="178884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Illustration</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IP</a:t>
            </a:r>
            <a:r>
              <a:rPr lang="en-US" sz="1800" b="1" strike="noStrike" spc="-1" dirty="0">
                <a:solidFill>
                  <a:srgbClr val="C00000"/>
                </a:solidFill>
                <a:latin typeface="Agency FB"/>
              </a:rPr>
              <a:t> – Plan/Map</a:t>
            </a:r>
            <a:endParaRPr lang="en-US" sz="1800" b="0" strike="noStrike" spc="-1" dirty="0">
              <a:solidFill>
                <a:srgbClr val="000000"/>
              </a:solidFill>
              <a:latin typeface="Arial"/>
            </a:endParaRPr>
          </a:p>
        </p:txBody>
      </p:sp>
      <p:sp>
        <p:nvSpPr>
          <p:cNvPr id="206" name="TextShape 7"/>
          <p:cNvSpPr txBox="1"/>
          <p:nvPr/>
        </p:nvSpPr>
        <p:spPr>
          <a:xfrm>
            <a:off x="5441760" y="6390360"/>
            <a:ext cx="1247040" cy="364680"/>
          </a:xfrm>
          <a:prstGeom prst="rect">
            <a:avLst/>
          </a:prstGeom>
          <a:noFill/>
          <a:ln>
            <a:noFill/>
          </a:ln>
        </p:spPr>
        <p:txBody>
          <a:bodyPr anchor="ctr">
            <a:noAutofit/>
          </a:bodyPr>
          <a:lstStyle/>
          <a:p>
            <a:pPr>
              <a:lnSpc>
                <a:spcPct val="100000"/>
              </a:lnSpc>
            </a:pPr>
            <a:fld id="{ABC3A6A8-ECAE-41A6-B772-DF1BCDCA1BE3}" type="datetime1">
              <a:rPr lang="en-US" sz="1200" b="0" strike="noStrike" spc="-1">
                <a:solidFill>
                  <a:srgbClr val="8B8B8B"/>
                </a:solidFill>
                <a:latin typeface="Calibri"/>
              </a:rPr>
              <a:t>9/1/2023</a:t>
            </a:fld>
            <a:endParaRPr lang="en-US" sz="1200" b="0" strike="noStrike" spc="-1">
              <a:latin typeface="Times New Roman"/>
            </a:endParaRPr>
          </a:p>
        </p:txBody>
      </p:sp>
      <p:sp>
        <p:nvSpPr>
          <p:cNvPr id="207" name="TextShape 8"/>
          <p:cNvSpPr txBox="1"/>
          <p:nvPr/>
        </p:nvSpPr>
        <p:spPr>
          <a:xfrm>
            <a:off x="255600" y="6390360"/>
            <a:ext cx="2742840" cy="364680"/>
          </a:xfrm>
          <a:prstGeom prst="rect">
            <a:avLst/>
          </a:prstGeom>
          <a:noFill/>
          <a:ln>
            <a:noFill/>
          </a:ln>
        </p:spPr>
        <p:txBody>
          <a:bodyPr anchor="ctr">
            <a:noAutofit/>
          </a:bodyPr>
          <a:lstStyle/>
          <a:p>
            <a:pPr>
              <a:lnSpc>
                <a:spcPct val="100000"/>
              </a:lnSpc>
            </a:pPr>
            <a:fld id="{9A006FD6-5F67-40C5-BACD-875D0F6D7757}" type="slidenum">
              <a:rPr lang="en-US" sz="1200" b="0" strike="noStrike" spc="-1">
                <a:solidFill>
                  <a:srgbClr val="8B8B8B"/>
                </a:solidFill>
                <a:latin typeface="Calibri"/>
              </a:rPr>
              <a:t>4</a:t>
            </a:fld>
            <a:endParaRPr lang="en-US" sz="1200" b="0" strike="noStrike" spc="-1">
              <a:latin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CustomShape 1"/>
          <p:cNvSpPr/>
          <p:nvPr/>
        </p:nvSpPr>
        <p:spPr>
          <a:xfrm>
            <a:off x="3715560" y="811440"/>
            <a:ext cx="7344000" cy="56034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3" name="Picture 5">
            <a:extLst>
              <a:ext uri="{FF2B5EF4-FFF2-40B4-BE49-F238E27FC236}">
                <a16:creationId xmlns:a16="http://schemas.microsoft.com/office/drawing/2014/main" id="{ED54B3C9-735D-3924-6F70-AA339F7368FF}"/>
              </a:ext>
            </a:extLst>
          </p:cNvPr>
          <p:cNvPicPr/>
          <p:nvPr/>
        </p:nvPicPr>
        <p:blipFill rotWithShape="1">
          <a:blip r:embed="rId2"/>
          <a:srcRect t="47845"/>
          <a:stretch/>
        </p:blipFill>
        <p:spPr>
          <a:xfrm>
            <a:off x="5075640" y="1088371"/>
            <a:ext cx="4571280" cy="2748410"/>
          </a:xfrm>
          <a:prstGeom prst="rect">
            <a:avLst/>
          </a:prstGeom>
          <a:ln>
            <a:noFill/>
          </a:ln>
        </p:spPr>
      </p:pic>
      <p:sp>
        <p:nvSpPr>
          <p:cNvPr id="209" name="CustomShape 2"/>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Itemization, Rough Sort and Application of Logical File Names</a:t>
            </a:r>
            <a:endParaRPr lang="en-US" sz="2400" b="0" strike="noStrike" spc="-1" dirty="0">
              <a:solidFill>
                <a:srgbClr val="000000"/>
              </a:solidFill>
              <a:latin typeface="Arial"/>
            </a:endParaRPr>
          </a:p>
        </p:txBody>
      </p:sp>
      <p:sp>
        <p:nvSpPr>
          <p:cNvPr id="210" name="CustomShape 3"/>
          <p:cNvSpPr/>
          <p:nvPr/>
        </p:nvSpPr>
        <p:spPr>
          <a:xfrm>
            <a:off x="408600" y="717551"/>
            <a:ext cx="3120997" cy="6184855"/>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0" strike="noStrike" spc="-1" dirty="0">
                <a:solidFill>
                  <a:srgbClr val="595959"/>
                </a:solidFill>
                <a:latin typeface="Agency FB"/>
              </a:rPr>
              <a:t>The rough sort and pagination is accomplished by a </a:t>
            </a:r>
            <a:r>
              <a:rPr lang="en-US" spc="-1" dirty="0">
                <a:solidFill>
                  <a:srgbClr val="595959"/>
                </a:solidFill>
                <a:latin typeface="Agency FB"/>
              </a:rPr>
              <a:t>tool-kit we call the CDASH Itemizer.</a:t>
            </a: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 user browses a folder of scans in Windows Explorer. </a:t>
            </a:r>
          </a:p>
          <a:p>
            <a:pPr>
              <a:lnSpc>
                <a:spcPct val="100000"/>
              </a:lnSpc>
            </a:pPr>
            <a:r>
              <a:rPr lang="en-US" spc="-1" dirty="0">
                <a:solidFill>
                  <a:srgbClr val="595959"/>
                </a:solidFill>
                <a:latin typeface="Agency FB"/>
              </a:rPr>
              <a:t>P</a:t>
            </a:r>
            <a:r>
              <a:rPr lang="en-US" sz="1800" b="0" strike="noStrike" spc="-1" dirty="0">
                <a:solidFill>
                  <a:srgbClr val="595959"/>
                </a:solidFill>
                <a:latin typeface="Agency FB"/>
              </a:rPr>
              <a:t>ages belonging to a document are selected, dragged and dropped onto the appropriate renaming tool.</a:t>
            </a:r>
            <a:endParaRPr lang="en-US" spc="-1" dirty="0">
              <a:solidFill>
                <a:srgbClr val="595959"/>
              </a:solidFill>
              <a:latin typeface="Agency FB"/>
            </a:endParaRPr>
          </a:p>
          <a:p>
            <a:pPr marL="231775" indent="-180975">
              <a:buFont typeface="Arial" panose="020B0604020202020204" pitchFamily="34" charset="0"/>
              <a:buChar char="•"/>
            </a:pPr>
            <a:r>
              <a:rPr lang="en-US" sz="1800" spc="-1" dirty="0">
                <a:solidFill>
                  <a:srgbClr val="C00000"/>
                </a:solidFill>
                <a:latin typeface="Agency FB"/>
              </a:rPr>
              <a:t>Street Name Spelling </a:t>
            </a:r>
            <a:r>
              <a:rPr lang="en-US" spc="-1" dirty="0">
                <a:solidFill>
                  <a:srgbClr val="C00000"/>
                </a:solidFill>
                <a:latin typeface="Agency FB"/>
              </a:rPr>
              <a:t>is validated or repaired based on our street listing.</a:t>
            </a:r>
          </a:p>
          <a:p>
            <a:pPr marL="231775" indent="-180975">
              <a:buFont typeface="Arial" panose="020B0604020202020204" pitchFamily="34" charset="0"/>
              <a:buChar char="•"/>
            </a:pPr>
            <a:r>
              <a:rPr lang="en-US" spc="-1" dirty="0">
                <a:solidFill>
                  <a:srgbClr val="C00000"/>
                </a:solidFill>
                <a:latin typeface="Agency FB"/>
              </a:rPr>
              <a:t>Media files are renamed, with codes that assigning an Item Type, Item ID and Page Number. </a:t>
            </a:r>
          </a:p>
          <a:p>
            <a:pPr marL="231775" indent="-180975">
              <a:lnSpc>
                <a:spcPct val="100000"/>
              </a:lnSpc>
              <a:buFont typeface="Arial" panose="020B0604020202020204" pitchFamily="34" charset="0"/>
              <a:buChar char="•"/>
            </a:pPr>
            <a:r>
              <a:rPr lang="en-US" spc="-1" dirty="0">
                <a:solidFill>
                  <a:srgbClr val="C00000"/>
                </a:solidFill>
                <a:latin typeface="Agency FB"/>
              </a:rPr>
              <a:t>A CSV manifest of Items is created, which assigns default titles and other keywords to items </a:t>
            </a:r>
            <a:endParaRPr lang="en-US" sz="1800" spc="-1" dirty="0">
              <a:solidFill>
                <a:srgbClr val="C00000"/>
              </a:solidFill>
              <a:latin typeface="Agency FB"/>
            </a:endParaRPr>
          </a:p>
          <a:p>
            <a:pPr marL="231775" indent="-180975">
              <a:lnSpc>
                <a:spcPct val="100000"/>
              </a:lnSpc>
              <a:buFont typeface="Arial" panose="020B0604020202020204" pitchFamily="34" charset="0"/>
              <a:buChar char="•"/>
            </a:pPr>
            <a:r>
              <a:rPr lang="en-US" spc="-1" dirty="0">
                <a:solidFill>
                  <a:srgbClr val="C00000"/>
                </a:solidFill>
                <a:latin typeface="Agency FB"/>
              </a:rPr>
              <a:t>A CSV manifest of media is created which assigns a title and item identifier to each media file. </a:t>
            </a:r>
            <a:endParaRPr lang="en-US" sz="1800" b="0" strike="noStrike" spc="-1" dirty="0">
              <a:solidFill>
                <a:srgbClr val="C00000"/>
              </a:solidFill>
              <a:latin typeface="Agency FB"/>
            </a:endParaRPr>
          </a:p>
          <a:p>
            <a:pPr>
              <a:lnSpc>
                <a:spcPct val="100000"/>
              </a:lnSpc>
            </a:pPr>
            <a:r>
              <a:rPr lang="en-US" sz="1800" b="0" strike="noStrike" spc="-1" dirty="0">
                <a:solidFill>
                  <a:srgbClr val="595959"/>
                </a:solidFill>
                <a:latin typeface="Agency FB"/>
              </a:rPr>
              <a:t>These renamed files are now ready for geo-coding and application of automatically assigned titles and tags. </a:t>
            </a:r>
            <a:endParaRPr lang="en-US" sz="1800" b="0" strike="noStrike" spc="-1" dirty="0">
              <a:solidFill>
                <a:srgbClr val="000000"/>
              </a:solidFill>
              <a:latin typeface="Arial"/>
            </a:endParaRPr>
          </a:p>
        </p:txBody>
      </p:sp>
      <p:sp>
        <p:nvSpPr>
          <p:cNvPr id="219" name="TextShape 11"/>
          <p:cNvSpPr txBox="1"/>
          <p:nvPr/>
        </p:nvSpPr>
        <p:spPr>
          <a:xfrm>
            <a:off x="5441760" y="6390360"/>
            <a:ext cx="1247040" cy="364680"/>
          </a:xfrm>
          <a:prstGeom prst="rect">
            <a:avLst/>
          </a:prstGeom>
          <a:noFill/>
          <a:ln>
            <a:noFill/>
          </a:ln>
        </p:spPr>
        <p:txBody>
          <a:bodyPr anchor="ctr">
            <a:noAutofit/>
          </a:bodyPr>
          <a:lstStyle/>
          <a:p>
            <a:pPr>
              <a:lnSpc>
                <a:spcPct val="100000"/>
              </a:lnSpc>
            </a:pPr>
            <a:fld id="{3CA2232F-36DE-4948-B3EF-F0E5E71D8160}" type="datetime1">
              <a:rPr lang="en-US" sz="1200" b="0" strike="noStrike" spc="-1">
                <a:solidFill>
                  <a:srgbClr val="8B8B8B"/>
                </a:solidFill>
                <a:latin typeface="Calibri"/>
              </a:rPr>
              <a:t>9/1/2023</a:t>
            </a:fld>
            <a:endParaRPr lang="en-US" sz="1200" b="0" strike="noStrike" spc="-1">
              <a:latin typeface="Times New Roman"/>
            </a:endParaRPr>
          </a:p>
        </p:txBody>
      </p:sp>
      <p:sp>
        <p:nvSpPr>
          <p:cNvPr id="220" name="TextShape 12"/>
          <p:cNvSpPr txBox="1"/>
          <p:nvPr/>
        </p:nvSpPr>
        <p:spPr>
          <a:xfrm>
            <a:off x="255600" y="6390360"/>
            <a:ext cx="2742840" cy="364680"/>
          </a:xfrm>
          <a:prstGeom prst="rect">
            <a:avLst/>
          </a:prstGeom>
          <a:noFill/>
          <a:ln>
            <a:noFill/>
          </a:ln>
        </p:spPr>
        <p:txBody>
          <a:bodyPr anchor="ctr">
            <a:noAutofit/>
          </a:bodyPr>
          <a:lstStyle/>
          <a:p>
            <a:pPr>
              <a:lnSpc>
                <a:spcPct val="100000"/>
              </a:lnSpc>
            </a:pPr>
            <a:fld id="{7E51309C-B0FD-4960-9734-418053B6758A}" type="slidenum">
              <a:rPr lang="en-US" sz="1200" b="0" strike="noStrike" spc="-1">
                <a:solidFill>
                  <a:srgbClr val="8B8B8B"/>
                </a:solidFill>
                <a:latin typeface="Calibri"/>
              </a:rPr>
              <a:t>5</a:t>
            </a:fld>
            <a:endParaRPr lang="en-US" sz="1200" b="0" strike="noStrike" spc="-1">
              <a:latin typeface="Times New Roman"/>
            </a:endParaRPr>
          </a:p>
        </p:txBody>
      </p:sp>
      <p:sp>
        <p:nvSpPr>
          <p:cNvPr id="213" name="CustomShape 5"/>
          <p:cNvSpPr/>
          <p:nvPr/>
        </p:nvSpPr>
        <p:spPr>
          <a:xfrm>
            <a:off x="7690695" y="1779995"/>
            <a:ext cx="1786680" cy="110844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16" name="CustomShape 8"/>
          <p:cNvSpPr/>
          <p:nvPr/>
        </p:nvSpPr>
        <p:spPr>
          <a:xfrm>
            <a:off x="4075652" y="1960016"/>
            <a:ext cx="2766600" cy="100512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Initial Scan Names</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a:t>
            </a:r>
            <a:r>
              <a:rPr lang="en-US" sz="2000" spc="-1" dirty="0">
                <a:solidFill>
                  <a:srgbClr val="C00000"/>
                </a:solidFill>
                <a:latin typeface="Agency FB"/>
              </a:rPr>
              <a:t>1</a:t>
            </a:r>
            <a:r>
              <a:rPr lang="en-US" sz="2000" b="0" strike="noStrike" spc="-1" dirty="0">
                <a:solidFill>
                  <a:srgbClr val="C00000"/>
                </a:solidFill>
                <a:latin typeface="Agency FB"/>
              </a:rPr>
              <a:t>.tif</a:t>
            </a:r>
            <a:br>
              <a:rPr dirty="0"/>
            </a:br>
            <a:r>
              <a:rPr lang="en-US" sz="2000" spc="-1" dirty="0">
                <a:solidFill>
                  <a:srgbClr val="C00000"/>
                </a:solidFill>
                <a:latin typeface="Agency FB"/>
              </a:rPr>
              <a:t>33</a:t>
            </a:r>
            <a:r>
              <a:rPr lang="en-US" sz="2000" b="0" strike="noStrike" spc="-1" dirty="0">
                <a:solidFill>
                  <a:srgbClr val="C00000"/>
                </a:solidFill>
                <a:latin typeface="Agency FB"/>
              </a:rPr>
              <a:t>6_Cambridge_St_002.tif</a:t>
            </a:r>
            <a:endParaRPr lang="en-US" sz="2000" b="0" strike="noStrike" spc="-1" dirty="0">
              <a:solidFill>
                <a:srgbClr val="000000"/>
              </a:solidFill>
              <a:latin typeface="Arial"/>
            </a:endParaRPr>
          </a:p>
        </p:txBody>
      </p:sp>
      <p:pic>
        <p:nvPicPr>
          <p:cNvPr id="2" name="Picture 5">
            <a:extLst>
              <a:ext uri="{FF2B5EF4-FFF2-40B4-BE49-F238E27FC236}">
                <a16:creationId xmlns:a16="http://schemas.microsoft.com/office/drawing/2014/main" id="{1537FE89-9B7D-F84D-33D1-7E99077476AA}"/>
              </a:ext>
            </a:extLst>
          </p:cNvPr>
          <p:cNvPicPr/>
          <p:nvPr/>
        </p:nvPicPr>
        <p:blipFill rotWithShape="1">
          <a:blip r:embed="rId2"/>
          <a:srcRect t="3665" b="51791"/>
          <a:stretch/>
        </p:blipFill>
        <p:spPr>
          <a:xfrm>
            <a:off x="5075640" y="3883761"/>
            <a:ext cx="4571280" cy="2347398"/>
          </a:xfrm>
          <a:prstGeom prst="rect">
            <a:avLst/>
          </a:prstGeom>
          <a:ln>
            <a:noFill/>
          </a:ln>
        </p:spPr>
      </p:pic>
      <p:sp>
        <p:nvSpPr>
          <p:cNvPr id="212" name="CustomShape 4"/>
          <p:cNvSpPr/>
          <p:nvPr/>
        </p:nvSpPr>
        <p:spPr>
          <a:xfrm>
            <a:off x="7597185" y="1426236"/>
            <a:ext cx="1973700" cy="36787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FF0000"/>
                </a:solidFill>
                <a:latin typeface="Calibri"/>
              </a:rPr>
              <a:t>Select Item Pages </a:t>
            </a:r>
            <a:endParaRPr lang="en-US" sz="1800" b="0" strike="noStrike" spc="-1" dirty="0">
              <a:solidFill>
                <a:srgbClr val="000000"/>
              </a:solidFill>
              <a:latin typeface="Arial"/>
            </a:endParaRPr>
          </a:p>
        </p:txBody>
      </p:sp>
      <p:sp>
        <p:nvSpPr>
          <p:cNvPr id="217" name="CustomShape 9"/>
          <p:cNvSpPr/>
          <p:nvPr/>
        </p:nvSpPr>
        <p:spPr>
          <a:xfrm>
            <a:off x="5505389" y="2399589"/>
            <a:ext cx="2425943" cy="3273749"/>
          </a:xfrm>
          <a:custGeom>
            <a:avLst/>
            <a:gdLst>
              <a:gd name="connsiteX0" fmla="*/ 8184 w 2158951"/>
              <a:gd name="connsiteY0" fmla="*/ 1519995 h 1763149"/>
              <a:gd name="connsiteX1" fmla="*/ 2158951 w 2158951"/>
              <a:gd name="connsiteY1" fmla="*/ 3814 h 1763149"/>
              <a:gd name="connsiteX0" fmla="*/ 0 w 2150767"/>
              <a:gd name="connsiteY0" fmla="*/ 1532225 h 1532225"/>
              <a:gd name="connsiteX1" fmla="*/ 2150767 w 2150767"/>
              <a:gd name="connsiteY1" fmla="*/ 16044 h 1532225"/>
              <a:gd name="connsiteX0" fmla="*/ 0 w 2426390"/>
              <a:gd name="connsiteY0" fmla="*/ 3274792 h 3274792"/>
              <a:gd name="connsiteX1" fmla="*/ 2426390 w 2426390"/>
              <a:gd name="connsiteY1" fmla="*/ 4408 h 3274792"/>
            </a:gdLst>
            <a:ahLst/>
            <a:cxnLst>
              <a:cxn ang="0">
                <a:pos x="connsiteX0" y="connsiteY0"/>
              </a:cxn>
              <a:cxn ang="0">
                <a:pos x="connsiteX1" y="connsiteY1"/>
              </a:cxn>
            </a:cxnLst>
            <a:rect l="l" t="t" r="r" b="b"/>
            <a:pathLst>
              <a:path w="2426390" h="3274792">
                <a:moveTo>
                  <a:pt x="0" y="3274792"/>
                </a:moveTo>
                <a:cubicBezTo>
                  <a:pt x="348980" y="2179386"/>
                  <a:pt x="1033457" y="-113906"/>
                  <a:pt x="2426390" y="4408"/>
                </a:cubicBezTo>
              </a:path>
            </a:pathLst>
          </a:custGeom>
          <a:noFill/>
          <a:ln w="76320">
            <a:solidFill>
              <a:srgbClr val="FF0000"/>
            </a:solidFill>
            <a:headEnd type="triangle" w="med" len="med"/>
          </a:ln>
          <a:effectLst>
            <a:glow rad="63500">
              <a:srgbClr val="FFFF00">
                <a:alpha val="40000"/>
              </a:srgb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18" name="CustomShape 10"/>
          <p:cNvSpPr/>
          <p:nvPr/>
        </p:nvSpPr>
        <p:spPr>
          <a:xfrm rot="17841190">
            <a:off x="5159699" y="3506839"/>
            <a:ext cx="1616381" cy="367878"/>
          </a:xfrm>
          <a:prstGeom prst="rect">
            <a:avLst/>
          </a:prstGeom>
          <a:noFill/>
          <a:ln>
            <a:noFill/>
          </a:ln>
          <a:effectLst>
            <a:glow rad="63500">
              <a:srgbClr val="FFFF00">
                <a:alpha val="40000"/>
              </a:srgbClr>
            </a:glow>
          </a:effectLst>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FF0000"/>
                </a:solidFill>
                <a:effectLst>
                  <a:glow rad="63500">
                    <a:srgbClr val="FFFF00">
                      <a:alpha val="40000"/>
                    </a:srgbClr>
                  </a:glow>
                </a:effectLst>
                <a:latin typeface="Calibri"/>
              </a:rPr>
              <a:t> Drag and Drop</a:t>
            </a:r>
            <a:endParaRPr lang="en-US" sz="1800" b="0" strike="noStrike" spc="-1" dirty="0">
              <a:solidFill>
                <a:srgbClr val="000000"/>
              </a:solidFill>
              <a:effectLst>
                <a:glow rad="63500">
                  <a:srgbClr val="FFFF00">
                    <a:alpha val="40000"/>
                  </a:srgbClr>
                </a:glow>
              </a:effectLst>
              <a:latin typeface="Arial"/>
            </a:endParaRPr>
          </a:p>
        </p:txBody>
      </p:sp>
      <p:sp>
        <p:nvSpPr>
          <p:cNvPr id="215" name="CustomShape 7"/>
          <p:cNvSpPr/>
          <p:nvPr/>
        </p:nvSpPr>
        <p:spPr>
          <a:xfrm>
            <a:off x="8089109" y="4179240"/>
            <a:ext cx="3400200" cy="1014209"/>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Assign New Logical File Names: </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6_Cambridge_St_001p001-PE.tif</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336</a:t>
            </a:r>
            <a:r>
              <a:rPr lang="en-US" sz="2000" b="0" strike="noStrike" spc="-1" dirty="0">
                <a:solidFill>
                  <a:srgbClr val="C00000"/>
                </a:solidFill>
                <a:latin typeface="Agency FB"/>
              </a:rPr>
              <a:t>_Cambridge_St_001p002-PE.tif</a:t>
            </a:r>
          </a:p>
        </p:txBody>
      </p:sp>
      <p:sp>
        <p:nvSpPr>
          <p:cNvPr id="214" name="CustomShape 6"/>
          <p:cNvSpPr/>
          <p:nvPr/>
        </p:nvSpPr>
        <p:spPr>
          <a:xfrm>
            <a:off x="5154300" y="5464359"/>
            <a:ext cx="574920" cy="76680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Place-Item-Page Name Encoding</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72182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described in another sequence of slides. </a:t>
            </a:r>
          </a:p>
          <a:p>
            <a:pPr>
              <a:lnSpc>
                <a:spcPct val="100000"/>
              </a:lnSpc>
              <a:spcAft>
                <a:spcPts val="601"/>
              </a:spcAft>
            </a:pPr>
            <a:endParaRPr lang="en-US" spc="-1" dirty="0">
              <a:solidFill>
                <a:srgbClr val="595959"/>
              </a:solidFill>
              <a:latin typeface="Agency FB"/>
            </a:endParaRPr>
          </a:p>
        </p:txBody>
      </p:sp>
      <p:grpSp>
        <p:nvGrpSpPr>
          <p:cNvPr id="36" name="Group 35">
            <a:extLst>
              <a:ext uri="{FF2B5EF4-FFF2-40B4-BE49-F238E27FC236}">
                <a16:creationId xmlns:a16="http://schemas.microsoft.com/office/drawing/2014/main" id="{BF77C92F-6524-A893-7497-7239D4BE7CE2}"/>
              </a:ext>
            </a:extLst>
          </p:cNvPr>
          <p:cNvGrpSpPr/>
          <p:nvPr/>
        </p:nvGrpSpPr>
        <p:grpSpPr>
          <a:xfrm>
            <a:off x="5351100" y="2690536"/>
            <a:ext cx="4120143" cy="2381082"/>
            <a:chOff x="5721689" y="511002"/>
            <a:chExt cx="4120143" cy="2381082"/>
          </a:xfrm>
        </p:grpSpPr>
        <p:sp>
          <p:nvSpPr>
            <p:cNvPr id="2" name="CustomShape 7">
              <a:extLst>
                <a:ext uri="{FF2B5EF4-FFF2-40B4-BE49-F238E27FC236}">
                  <a16:creationId xmlns:a16="http://schemas.microsoft.com/office/drawing/2014/main" id="{C96EA85A-9A57-988A-46F4-38EFA3E6920E}"/>
                </a:ext>
              </a:extLst>
            </p:cNvPr>
            <p:cNvSpPr/>
            <p:nvPr/>
          </p:nvSpPr>
          <p:spPr>
            <a:xfrm>
              <a:off x="5721689" y="1448565"/>
              <a:ext cx="4120143" cy="952653"/>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6_Cambridge_St_001p001-PE.tif</a:t>
              </a:r>
              <a:endParaRPr lang="en-US" sz="2800" b="0" strike="noStrike" spc="-1" dirty="0">
                <a:solidFill>
                  <a:srgbClr val="000000"/>
                </a:solidFill>
                <a:latin typeface="Arial"/>
              </a:endParaRPr>
            </a:p>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6_Cambridge_St_001p002-PE.tif</a:t>
              </a:r>
            </a:p>
          </p:txBody>
        </p:sp>
        <p:cxnSp>
          <p:nvCxnSpPr>
            <p:cNvPr id="4" name="Straight Connector 3">
              <a:extLst>
                <a:ext uri="{FF2B5EF4-FFF2-40B4-BE49-F238E27FC236}">
                  <a16:creationId xmlns:a16="http://schemas.microsoft.com/office/drawing/2014/main" id="{E85365B4-4219-D503-FC39-19C6DEBE599C}"/>
                </a:ext>
              </a:extLst>
            </p:cNvPr>
            <p:cNvCxnSpPr>
              <a:cxnSpLocks/>
            </p:cNvCxnSpPr>
            <p:nvPr/>
          </p:nvCxnSpPr>
          <p:spPr>
            <a:xfrm>
              <a:off x="8462244" y="2860051"/>
              <a:ext cx="55379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F21C6A4-CFD6-AEC2-11FA-A73ED791042D}"/>
                </a:ext>
              </a:extLst>
            </p:cNvPr>
            <p:cNvCxnSpPr>
              <a:cxnSpLocks/>
            </p:cNvCxnSpPr>
            <p:nvPr/>
          </p:nvCxnSpPr>
          <p:spPr>
            <a:xfrm flipV="1">
              <a:off x="5812077" y="1298201"/>
              <a:ext cx="2123644" cy="718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D23127-FCA5-1C65-CF26-9E0233FE2AA0}"/>
                </a:ext>
              </a:extLst>
            </p:cNvPr>
            <p:cNvCxnSpPr>
              <a:cxnSpLocks/>
            </p:cNvCxnSpPr>
            <p:nvPr/>
          </p:nvCxnSpPr>
          <p:spPr>
            <a:xfrm>
              <a:off x="5797578" y="2872930"/>
              <a:ext cx="50450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5565CF2-0D2B-F7D5-9EEA-8C4FF3FFFE6F}"/>
                </a:ext>
              </a:extLst>
            </p:cNvPr>
            <p:cNvCxnSpPr>
              <a:cxnSpLocks/>
            </p:cNvCxnSpPr>
            <p:nvPr/>
          </p:nvCxnSpPr>
          <p:spPr>
            <a:xfrm>
              <a:off x="6327947" y="2879205"/>
              <a:ext cx="159327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770E19B-659B-2835-AD7D-77F4D37E65FF}"/>
                </a:ext>
              </a:extLst>
            </p:cNvPr>
            <p:cNvCxnSpPr>
              <a:cxnSpLocks/>
            </p:cNvCxnSpPr>
            <p:nvPr/>
          </p:nvCxnSpPr>
          <p:spPr>
            <a:xfrm flipV="1">
              <a:off x="7947089" y="2860051"/>
              <a:ext cx="51515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25D2CDC-8C93-2F6C-CBE6-BD19EF0E6F45}"/>
                </a:ext>
              </a:extLst>
            </p:cNvPr>
            <p:cNvCxnSpPr>
              <a:cxnSpLocks/>
            </p:cNvCxnSpPr>
            <p:nvPr/>
          </p:nvCxnSpPr>
          <p:spPr>
            <a:xfrm>
              <a:off x="9016036" y="2860051"/>
              <a:ext cx="412124"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5195F44E-F0A5-8818-3439-D8E111AD874E}"/>
                </a:ext>
              </a:extLst>
            </p:cNvPr>
            <p:cNvSpPr txBox="1"/>
            <p:nvPr/>
          </p:nvSpPr>
          <p:spPr>
            <a:xfrm>
              <a:off x="5967211" y="928869"/>
              <a:ext cx="1441420" cy="369332"/>
            </a:xfrm>
            <a:prstGeom prst="rect">
              <a:avLst/>
            </a:prstGeom>
            <a:noFill/>
          </p:spPr>
          <p:txBody>
            <a:bodyPr wrap="none" rtlCol="0">
              <a:spAutoFit/>
            </a:bodyPr>
            <a:lstStyle/>
            <a:p>
              <a:r>
                <a:rPr lang="en-US" dirty="0"/>
                <a:t>Place Name</a:t>
              </a:r>
            </a:p>
          </p:txBody>
        </p:sp>
        <p:cxnSp>
          <p:nvCxnSpPr>
            <p:cNvPr id="24" name="Straight Connector 23">
              <a:extLst>
                <a:ext uri="{FF2B5EF4-FFF2-40B4-BE49-F238E27FC236}">
                  <a16:creationId xmlns:a16="http://schemas.microsoft.com/office/drawing/2014/main" id="{0D675615-C015-E3CB-3D4A-E9A180DE64A3}"/>
                </a:ext>
              </a:extLst>
            </p:cNvPr>
            <p:cNvCxnSpPr>
              <a:cxnSpLocks/>
            </p:cNvCxnSpPr>
            <p:nvPr/>
          </p:nvCxnSpPr>
          <p:spPr>
            <a:xfrm>
              <a:off x="5812077" y="887514"/>
              <a:ext cx="2610028"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A757B5A-686E-4C3B-C2DD-1A4DAF63C7CE}"/>
                </a:ext>
              </a:extLst>
            </p:cNvPr>
            <p:cNvSpPr txBox="1"/>
            <p:nvPr/>
          </p:nvSpPr>
          <p:spPr>
            <a:xfrm>
              <a:off x="5967210" y="511002"/>
              <a:ext cx="1968511" cy="369332"/>
            </a:xfrm>
            <a:prstGeom prst="rect">
              <a:avLst/>
            </a:prstGeom>
            <a:noFill/>
          </p:spPr>
          <p:txBody>
            <a:bodyPr wrap="square" rtlCol="0">
              <a:spAutoFit/>
            </a:bodyPr>
            <a:lstStyle/>
            <a:p>
              <a:r>
                <a:rPr lang="en-US" dirty="0"/>
                <a:t>Item Name</a:t>
              </a:r>
            </a:p>
          </p:txBody>
        </p:sp>
      </p:grpSp>
      <p:grpSp>
        <p:nvGrpSpPr>
          <p:cNvPr id="32" name="Group 31">
            <a:extLst>
              <a:ext uri="{FF2B5EF4-FFF2-40B4-BE49-F238E27FC236}">
                <a16:creationId xmlns:a16="http://schemas.microsoft.com/office/drawing/2014/main" id="{644FC44F-C68E-EAE7-EC52-E387768327FD}"/>
              </a:ext>
            </a:extLst>
          </p:cNvPr>
          <p:cNvGrpSpPr/>
          <p:nvPr/>
        </p:nvGrpSpPr>
        <p:grpSpPr>
          <a:xfrm>
            <a:off x="5351623" y="426661"/>
            <a:ext cx="2740032" cy="1719789"/>
            <a:chOff x="8224740" y="1398436"/>
            <a:chExt cx="2037636" cy="1278928"/>
          </a:xfrm>
        </p:grpSpPr>
        <p:pic>
          <p:nvPicPr>
            <p:cNvPr id="33" name="Picture 32" descr="Image result for pages">
              <a:extLst>
                <a:ext uri="{FF2B5EF4-FFF2-40B4-BE49-F238E27FC236}">
                  <a16:creationId xmlns:a16="http://schemas.microsoft.com/office/drawing/2014/main" id="{E61133CC-B3B6-E2FA-795F-964E6340A4A9}"/>
                </a:ext>
              </a:extLst>
            </p:cNvPr>
            <p:cNvPicPr/>
            <p:nvPr/>
          </p:nvPicPr>
          <p:blipFill>
            <a:blip r:embed="rId2"/>
            <a:stretch/>
          </p:blipFill>
          <p:spPr>
            <a:xfrm rot="16200000">
              <a:off x="9250677" y="1665665"/>
              <a:ext cx="1011699" cy="1011699"/>
            </a:xfrm>
            <a:prstGeom prst="rect">
              <a:avLst/>
            </a:prstGeom>
            <a:ln>
              <a:noFill/>
            </a:ln>
          </p:spPr>
        </p:pic>
        <p:pic>
          <p:nvPicPr>
            <p:cNvPr id="34" name="Picture 2" descr="Image result for folder">
              <a:extLst>
                <a:ext uri="{FF2B5EF4-FFF2-40B4-BE49-F238E27FC236}">
                  <a16:creationId xmlns:a16="http://schemas.microsoft.com/office/drawing/2014/main" id="{D8A61F8A-4CAD-1E3B-BF1B-89118D0CA115}"/>
                </a:ext>
              </a:extLst>
            </p:cNvPr>
            <p:cNvPicPr/>
            <p:nvPr/>
          </p:nvPicPr>
          <p:blipFill>
            <a:blip r:embed="rId3"/>
            <a:stretch/>
          </p:blipFill>
          <p:spPr>
            <a:xfrm>
              <a:off x="8224740" y="1398436"/>
              <a:ext cx="1790981" cy="1219286"/>
            </a:xfrm>
            <a:prstGeom prst="rect">
              <a:avLst/>
            </a:prstGeom>
            <a:ln>
              <a:noFill/>
            </a:ln>
          </p:spPr>
        </p:pic>
        <p:sp>
          <p:nvSpPr>
            <p:cNvPr id="35" name="CustomShape 6">
              <a:extLst>
                <a:ext uri="{FF2B5EF4-FFF2-40B4-BE49-F238E27FC236}">
                  <a16:creationId xmlns:a16="http://schemas.microsoft.com/office/drawing/2014/main" id="{784642D3-FD9C-9E71-FD55-E3B874779CCF}"/>
                </a:ext>
              </a:extLst>
            </p:cNvPr>
            <p:cNvSpPr/>
            <p:nvPr/>
          </p:nvSpPr>
          <p:spPr>
            <a:xfrm>
              <a:off x="8305922" y="1978395"/>
              <a:ext cx="1630510" cy="29646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pc="-1" dirty="0">
                  <a:solidFill>
                    <a:srgbClr val="C00000"/>
                  </a:solidFill>
                  <a:latin typeface="Agency FB"/>
                </a:rPr>
                <a:t>262-266 Cambridge St</a:t>
              </a:r>
            </a:p>
          </p:txBody>
        </p:sp>
      </p:grpSp>
      <p:sp>
        <p:nvSpPr>
          <p:cNvPr id="37" name="TextBox 36">
            <a:extLst>
              <a:ext uri="{FF2B5EF4-FFF2-40B4-BE49-F238E27FC236}">
                <a16:creationId xmlns:a16="http://schemas.microsoft.com/office/drawing/2014/main" id="{F947D6C9-0914-A2E5-3888-7EE9116F0A50}"/>
              </a:ext>
            </a:extLst>
          </p:cNvPr>
          <p:cNvSpPr txBox="1"/>
          <p:nvPr/>
        </p:nvSpPr>
        <p:spPr>
          <a:xfrm>
            <a:off x="8486988" y="1193797"/>
            <a:ext cx="1968511" cy="369332"/>
          </a:xfrm>
          <a:prstGeom prst="rect">
            <a:avLst/>
          </a:prstGeom>
          <a:noFill/>
        </p:spPr>
        <p:txBody>
          <a:bodyPr wrap="square" rtlCol="0">
            <a:spAutoFit/>
          </a:bodyPr>
          <a:lstStyle/>
          <a:p>
            <a:r>
              <a:rPr lang="en-US" dirty="0"/>
              <a:t>Accession Folder</a:t>
            </a:r>
          </a:p>
        </p:txBody>
      </p:sp>
    </p:spTree>
    <p:extLst>
      <p:ext uri="{BB962C8B-B14F-4D97-AF65-F5344CB8AC3E}">
        <p14:creationId xmlns:p14="http://schemas.microsoft.com/office/powerpoint/2010/main" val="1113487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CustomShape 1"/>
          <p:cNvSpPr/>
          <p:nvPr/>
        </p:nvSpPr>
        <p:spPr>
          <a:xfrm>
            <a:off x="5293080" y="1099080"/>
            <a:ext cx="6091200" cy="4399920"/>
          </a:xfrm>
          <a:prstGeom prst="rect">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142" name="Picture 54" descr="Image result for city planet"/>
          <p:cNvPicPr/>
          <p:nvPr/>
        </p:nvPicPr>
        <p:blipFill>
          <a:blip r:embed="rId2"/>
          <a:srcRect l="9544" t="8361" r="10540" b="15114"/>
          <a:stretch/>
        </p:blipFill>
        <p:spPr>
          <a:xfrm>
            <a:off x="4407480" y="4208040"/>
            <a:ext cx="1954080" cy="1954080"/>
          </a:xfrm>
          <a:prstGeom prst="rect">
            <a:avLst/>
          </a:prstGeom>
          <a:ln>
            <a:noFill/>
          </a:ln>
        </p:spPr>
      </p:pic>
      <p:sp>
        <p:nvSpPr>
          <p:cNvPr id="143" name="CustomShape 2"/>
          <p:cNvSpPr/>
          <p:nvPr/>
        </p:nvSpPr>
        <p:spPr>
          <a:xfrm>
            <a:off x="4478400" y="2598120"/>
            <a:ext cx="935640" cy="2309040"/>
          </a:xfrm>
          <a:custGeom>
            <a:avLst/>
            <a:gdLst/>
            <a:ahLst/>
            <a:cxnLst/>
            <a:rect l="l" t="t" r="r" b="b"/>
            <a:pathLst>
              <a:path w="2599218" h="1988540">
                <a:moveTo>
                  <a:pt x="2599218" y="0"/>
                </a:moveTo>
                <a:cubicBezTo>
                  <a:pt x="-486035" y="93672"/>
                  <a:pt x="-140818" y="1769836"/>
                  <a:pt x="251350" y="1988540"/>
                </a:cubicBezTo>
              </a:path>
            </a:pathLst>
          </a:custGeom>
          <a:noFill/>
          <a:ln w="114480">
            <a:solidFill>
              <a:srgbClr val="FF6565"/>
            </a:solidFill>
            <a:headEnd type="triangle" w="sm" len="med"/>
            <a:tailEnd type="diamond" w="med"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44" name="CustomShape 3"/>
          <p:cNvSpPr/>
          <p:nvPr/>
        </p:nvSpPr>
        <p:spPr>
          <a:xfrm>
            <a:off x="422640" y="62640"/>
            <a:ext cx="102852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C-Dash Architecture: </a:t>
            </a:r>
            <a:endParaRPr lang="en-US" sz="2400" b="0" strike="noStrike" spc="-1">
              <a:solidFill>
                <a:srgbClr val="000000"/>
              </a:solidFill>
              <a:latin typeface="Arial"/>
            </a:endParaRPr>
          </a:p>
          <a:p>
            <a:pPr marL="285840" indent="-285480">
              <a:lnSpc>
                <a:spcPct val="100000"/>
              </a:lnSpc>
            </a:pPr>
            <a:r>
              <a:rPr lang="en-US" sz="2400" b="1" strike="noStrike" spc="-1">
                <a:solidFill>
                  <a:srgbClr val="2E75B6"/>
                </a:solidFill>
                <a:latin typeface="Calibri"/>
              </a:rPr>
              <a:t>Documents Linked to Knowledge about People Places, things Events</a:t>
            </a:r>
            <a:endParaRPr lang="en-US" sz="2400" b="0" strike="noStrike" spc="-1">
              <a:solidFill>
                <a:srgbClr val="000000"/>
              </a:solidFill>
              <a:latin typeface="Arial"/>
            </a:endParaRPr>
          </a:p>
        </p:txBody>
      </p:sp>
      <p:sp>
        <p:nvSpPr>
          <p:cNvPr id="145" name="CustomShape 4"/>
          <p:cNvSpPr/>
          <p:nvPr/>
        </p:nvSpPr>
        <p:spPr>
          <a:xfrm>
            <a:off x="387720" y="957960"/>
            <a:ext cx="3287160" cy="5779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A digital archive for the building files entails a conception of a system for keeping and developing information about architectural objects in the city.</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project begins with a system for cataloging, annotating and linking </a:t>
            </a:r>
            <a:r>
              <a:rPr lang="en-US" sz="1800" b="1" strike="noStrike" spc="-1" dirty="0">
                <a:solidFill>
                  <a:srgbClr val="595959"/>
                </a:solidFill>
                <a:latin typeface="Agency FB"/>
              </a:rPr>
              <a:t>Documents</a:t>
            </a:r>
            <a:r>
              <a:rPr lang="en-US" sz="1800" b="0" strike="noStrike" spc="-1" dirty="0">
                <a:solidFill>
                  <a:srgbClr val="595959"/>
                </a:solidFill>
                <a:latin typeface="Agency FB"/>
              </a:rPr>
              <a:t>.</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These documents will be used in descriptions </a:t>
            </a:r>
            <a:r>
              <a:rPr lang="en-US" sz="1800" b="1" strike="noStrike" spc="-1" dirty="0">
                <a:solidFill>
                  <a:srgbClr val="595959"/>
                </a:solidFill>
                <a:latin typeface="Agency FB"/>
              </a:rPr>
              <a:t>of Buildings and other Named Places</a:t>
            </a:r>
            <a:r>
              <a:rPr lang="en-US" sz="1800" b="0" strike="noStrike" spc="-1" dirty="0">
                <a:solidFill>
                  <a:srgbClr val="595959"/>
                </a:solidFill>
                <a:latin typeface="Agency FB"/>
              </a:rPr>
              <a:t>,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In the future, our information system can be used to organize </a:t>
            </a:r>
            <a:r>
              <a:rPr lang="en-US" sz="1800" b="1" strike="noStrike" spc="-1" dirty="0">
                <a:solidFill>
                  <a:srgbClr val="595959"/>
                </a:solidFill>
                <a:latin typeface="Agency FB"/>
              </a:rPr>
              <a:t>Accounts of Events </a:t>
            </a:r>
            <a:r>
              <a:rPr lang="en-US" sz="1800" b="0" strike="noStrike" spc="-1" dirty="0">
                <a:solidFill>
                  <a:srgbClr val="595959"/>
                </a:solidFill>
                <a:latin typeface="Agency FB"/>
              </a:rPr>
              <a:t>and </a:t>
            </a:r>
            <a:r>
              <a:rPr lang="en-US" sz="1800" b="1" strike="noStrike" spc="-1" dirty="0">
                <a:solidFill>
                  <a:srgbClr val="595959"/>
                </a:solidFill>
                <a:latin typeface="Agency FB"/>
              </a:rPr>
              <a:t>Biographical information</a:t>
            </a:r>
            <a:r>
              <a:rPr lang="en-US" sz="1800" b="0" strike="noStrike" spc="-1" dirty="0">
                <a:solidFill>
                  <a:srgbClr val="595959"/>
                </a:solidFill>
                <a:latin typeface="Agency FB"/>
              </a:rPr>
              <a:t>, and information about other sorts of things.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holistic conceptualization will remind us that we will have a container for information about Buildings that is independent from information about documents. </a:t>
            </a:r>
            <a:endParaRPr lang="en-US" sz="1800" b="0" strike="noStrike" spc="-1" dirty="0">
              <a:solidFill>
                <a:srgbClr val="000000"/>
              </a:solidFill>
              <a:latin typeface="Arial"/>
            </a:endParaRPr>
          </a:p>
        </p:txBody>
      </p:sp>
      <p:sp>
        <p:nvSpPr>
          <p:cNvPr id="146" name="CustomShape 5"/>
          <p:cNvSpPr/>
          <p:nvPr/>
        </p:nvSpPr>
        <p:spPr>
          <a:xfrm>
            <a:off x="5396040" y="1902240"/>
            <a:ext cx="11689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Documents</a:t>
            </a:r>
            <a:endParaRPr lang="en-US" sz="1800" b="0" strike="noStrike" spc="-1">
              <a:solidFill>
                <a:srgbClr val="000000"/>
              </a:solidFill>
              <a:latin typeface="Arial"/>
            </a:endParaRPr>
          </a:p>
        </p:txBody>
      </p:sp>
      <p:sp>
        <p:nvSpPr>
          <p:cNvPr id="147" name="CustomShape 6"/>
          <p:cNvSpPr/>
          <p:nvPr/>
        </p:nvSpPr>
        <p:spPr>
          <a:xfrm>
            <a:off x="8475120" y="1694520"/>
            <a:ext cx="15645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Documents</a:t>
            </a:r>
            <a:endParaRPr lang="en-US" sz="1800" b="0" strike="noStrike" spc="-1">
              <a:solidFill>
                <a:srgbClr val="000000"/>
              </a:solidFill>
              <a:latin typeface="Arial"/>
            </a:endParaRPr>
          </a:p>
        </p:txBody>
      </p:sp>
      <p:sp>
        <p:nvSpPr>
          <p:cNvPr id="148" name="CustomShape 7"/>
          <p:cNvSpPr/>
          <p:nvPr/>
        </p:nvSpPr>
        <p:spPr>
          <a:xfrm>
            <a:off x="8545320" y="37648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People, Events, Things  </a:t>
            </a:r>
            <a:endParaRPr lang="en-US" sz="1800" b="0" strike="noStrike" spc="-1">
              <a:solidFill>
                <a:srgbClr val="000000"/>
              </a:solidFill>
              <a:latin typeface="Arial"/>
            </a:endParaRPr>
          </a:p>
        </p:txBody>
      </p:sp>
      <p:sp>
        <p:nvSpPr>
          <p:cNvPr id="149" name="CustomShape 8"/>
          <p:cNvSpPr/>
          <p:nvPr/>
        </p:nvSpPr>
        <p:spPr>
          <a:xfrm>
            <a:off x="6772680" y="1657440"/>
            <a:ext cx="103068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Digital Resources</a:t>
            </a:r>
            <a:endParaRPr lang="en-US" sz="1800" b="0" strike="noStrike" spc="-1">
              <a:solidFill>
                <a:srgbClr val="000000"/>
              </a:solidFill>
              <a:latin typeface="Arial"/>
            </a:endParaRPr>
          </a:p>
        </p:txBody>
      </p:sp>
      <p:sp>
        <p:nvSpPr>
          <p:cNvPr id="150" name="CustomShape 9"/>
          <p:cNvSpPr/>
          <p:nvPr/>
        </p:nvSpPr>
        <p:spPr>
          <a:xfrm>
            <a:off x="3932640" y="3761280"/>
            <a:ext cx="1308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The City Through Time</a:t>
            </a:r>
            <a:endParaRPr lang="en-US" sz="1800" b="0" strike="noStrike" spc="-1">
              <a:solidFill>
                <a:srgbClr val="000000"/>
              </a:solidFill>
              <a:latin typeface="Arial"/>
            </a:endParaRPr>
          </a:p>
        </p:txBody>
      </p:sp>
      <p:sp>
        <p:nvSpPr>
          <p:cNvPr id="151" name="CustomShape 10"/>
          <p:cNvSpPr/>
          <p:nvPr/>
        </p:nvSpPr>
        <p:spPr>
          <a:xfrm>
            <a:off x="4025520" y="2785680"/>
            <a:ext cx="1308960" cy="689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Observations</a:t>
            </a:r>
            <a:endParaRPr lang="en-US" sz="1800" b="0" strike="noStrike" spc="-1">
              <a:solidFill>
                <a:srgbClr val="000000"/>
              </a:solidFill>
              <a:latin typeface="Arial"/>
            </a:endParaRPr>
          </a:p>
          <a:p>
            <a:pPr>
              <a:lnSpc>
                <a:spcPct val="100000"/>
              </a:lnSpc>
              <a:spcAft>
                <a:spcPts val="400"/>
              </a:spcAft>
            </a:pPr>
            <a:r>
              <a:rPr lang="en-US" sz="1800" b="1" strike="noStrike" spc="-1">
                <a:solidFill>
                  <a:srgbClr val="595959"/>
                </a:solidFill>
                <a:latin typeface="Agency FB"/>
              </a:rPr>
              <a:t>Ideas</a:t>
            </a:r>
            <a:endParaRPr lang="en-US" sz="1800" b="0" strike="noStrike" spc="-1">
              <a:solidFill>
                <a:srgbClr val="000000"/>
              </a:solidFill>
              <a:latin typeface="Arial"/>
            </a:endParaRPr>
          </a:p>
        </p:txBody>
      </p:sp>
      <p:sp>
        <p:nvSpPr>
          <p:cNvPr id="152" name="CustomShape 11"/>
          <p:cNvSpPr/>
          <p:nvPr/>
        </p:nvSpPr>
        <p:spPr>
          <a:xfrm>
            <a:off x="9777960" y="4512960"/>
            <a:ext cx="2092680" cy="166500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Users: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Search &amp; Discover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Access</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Re-Use</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Reference &amp; Link</a:t>
            </a:r>
            <a:endParaRPr lang="en-US" sz="1800" b="0" strike="noStrike" spc="-1">
              <a:solidFill>
                <a:srgbClr val="000000"/>
              </a:solidFill>
              <a:latin typeface="Arial"/>
            </a:endParaRPr>
          </a:p>
        </p:txBody>
      </p:sp>
      <p:pic>
        <p:nvPicPr>
          <p:cNvPr id="153" name="Picture 6" descr="Image result for file cabinet"/>
          <p:cNvPicPr/>
          <p:nvPr/>
        </p:nvPicPr>
        <p:blipFill>
          <a:blip r:embed="rId3"/>
          <a:stretch/>
        </p:blipFill>
        <p:spPr>
          <a:xfrm>
            <a:off x="5565600" y="2508840"/>
            <a:ext cx="989280" cy="830520"/>
          </a:xfrm>
          <a:prstGeom prst="rect">
            <a:avLst/>
          </a:prstGeom>
          <a:ln>
            <a:noFill/>
          </a:ln>
        </p:spPr>
      </p:pic>
      <p:pic>
        <p:nvPicPr>
          <p:cNvPr id="154" name="Picture 8" descr="Image result for scanner icon"/>
          <p:cNvPicPr/>
          <p:nvPr/>
        </p:nvPicPr>
        <p:blipFill>
          <a:blip r:embed="rId4"/>
          <a:stretch/>
        </p:blipFill>
        <p:spPr>
          <a:xfrm>
            <a:off x="6709320" y="2598120"/>
            <a:ext cx="989280" cy="567720"/>
          </a:xfrm>
          <a:prstGeom prst="rect">
            <a:avLst/>
          </a:prstGeom>
          <a:ln>
            <a:noFill/>
          </a:ln>
        </p:spPr>
      </p:pic>
      <p:pic>
        <p:nvPicPr>
          <p:cNvPr id="155" name="Picture 2" descr="Image result for pdf icon"/>
          <p:cNvPicPr/>
          <p:nvPr/>
        </p:nvPicPr>
        <p:blipFill>
          <a:blip r:embed="rId5"/>
          <a:stretch/>
        </p:blipFill>
        <p:spPr>
          <a:xfrm>
            <a:off x="6607440" y="4398480"/>
            <a:ext cx="645840" cy="645840"/>
          </a:xfrm>
          <a:prstGeom prst="rect">
            <a:avLst/>
          </a:prstGeom>
          <a:ln>
            <a:noFill/>
          </a:ln>
        </p:spPr>
      </p:pic>
      <p:sp>
        <p:nvSpPr>
          <p:cNvPr id="156" name="CustomShape 12"/>
          <p:cNvSpPr/>
          <p:nvPr/>
        </p:nvSpPr>
        <p:spPr>
          <a:xfrm>
            <a:off x="6898320" y="504648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Born Digital</a:t>
            </a:r>
            <a:endParaRPr lang="en-US" sz="1800" b="0" strike="noStrike" spc="-1">
              <a:solidFill>
                <a:srgbClr val="000000"/>
              </a:solidFill>
              <a:latin typeface="Arial"/>
            </a:endParaRPr>
          </a:p>
        </p:txBody>
      </p:sp>
      <p:sp>
        <p:nvSpPr>
          <p:cNvPr id="157" name="CustomShape 13"/>
          <p:cNvSpPr/>
          <p:nvPr/>
        </p:nvSpPr>
        <p:spPr>
          <a:xfrm>
            <a:off x="7513920" y="3542040"/>
            <a:ext cx="458640" cy="391320"/>
          </a:xfrm>
          <a:custGeom>
            <a:avLst/>
            <a:gdLst/>
            <a:ahLst/>
            <a:cxnLst/>
            <a:rect l="l" t="t" r="r" b="b"/>
            <a:pathLst>
              <a:path w="1274916" h="391559">
                <a:moveTo>
                  <a:pt x="1274916" y="0"/>
                </a:moveTo>
                <a:cubicBezTo>
                  <a:pt x="1015115" y="261097"/>
                  <a:pt x="609256" y="301644"/>
                  <a:pt x="0" y="391559"/>
                </a:cubicBezTo>
              </a:path>
            </a:pathLst>
          </a:custGeom>
          <a:noFill/>
          <a:ln w="114480">
            <a:solidFill>
              <a:srgbClr val="FF6565"/>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158" name="Picture 6" descr="Image result for tiff icon"/>
          <p:cNvPicPr/>
          <p:nvPr/>
        </p:nvPicPr>
        <p:blipFill>
          <a:blip r:embed="rId6"/>
          <a:stretch/>
        </p:blipFill>
        <p:spPr>
          <a:xfrm>
            <a:off x="6873120" y="3340080"/>
            <a:ext cx="645840" cy="645840"/>
          </a:xfrm>
          <a:prstGeom prst="rect">
            <a:avLst/>
          </a:prstGeom>
          <a:ln>
            <a:noFill/>
          </a:ln>
        </p:spPr>
      </p:pic>
      <p:sp>
        <p:nvSpPr>
          <p:cNvPr id="159" name="CustomShape 14"/>
          <p:cNvSpPr/>
          <p:nvPr/>
        </p:nvSpPr>
        <p:spPr>
          <a:xfrm>
            <a:off x="6930720" y="398232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Scans</a:t>
            </a:r>
            <a:endParaRPr lang="en-US" sz="1800" b="0" strike="noStrike" spc="-1">
              <a:solidFill>
                <a:srgbClr val="000000"/>
              </a:solidFill>
              <a:latin typeface="Arial"/>
            </a:endParaRPr>
          </a:p>
        </p:txBody>
      </p:sp>
      <p:pic>
        <p:nvPicPr>
          <p:cNvPr id="160" name="Picture 8" descr="Image result for audio mp4 icon"/>
          <p:cNvPicPr/>
          <p:nvPr/>
        </p:nvPicPr>
        <p:blipFill>
          <a:blip r:embed="rId7"/>
          <a:stretch/>
        </p:blipFill>
        <p:spPr>
          <a:xfrm>
            <a:off x="7320240" y="4398120"/>
            <a:ext cx="511920" cy="599760"/>
          </a:xfrm>
          <a:prstGeom prst="rect">
            <a:avLst/>
          </a:prstGeom>
          <a:ln>
            <a:noFill/>
          </a:ln>
        </p:spPr>
      </p:pic>
      <p:sp>
        <p:nvSpPr>
          <p:cNvPr id="161" name="CustomShape 15"/>
          <p:cNvSpPr/>
          <p:nvPr/>
        </p:nvSpPr>
        <p:spPr>
          <a:xfrm>
            <a:off x="7672320" y="2288880"/>
            <a:ext cx="857880" cy="2039760"/>
          </a:xfrm>
          <a:custGeom>
            <a:avLst/>
            <a:gdLst/>
            <a:ahLst/>
            <a:cxnLst/>
            <a:rect l="l" t="t" r="r" b="b"/>
            <a:pathLst>
              <a:path w="2383633" h="2040056">
                <a:moveTo>
                  <a:pt x="2383633" y="0"/>
                </a:moveTo>
                <a:cubicBezTo>
                  <a:pt x="1515821" y="570190"/>
                  <a:pt x="358900" y="1744079"/>
                  <a:pt x="0" y="2040056"/>
                </a:cubicBezTo>
              </a:path>
            </a:pathLst>
          </a:custGeom>
          <a:noFill/>
          <a:ln w="114480">
            <a:solidFill>
              <a:srgbClr val="FF6565"/>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2" name="CustomShape 16"/>
          <p:cNvSpPr/>
          <p:nvPr/>
        </p:nvSpPr>
        <p:spPr>
          <a:xfrm>
            <a:off x="9806400" y="2086920"/>
            <a:ext cx="1305000" cy="1833480"/>
          </a:xfrm>
          <a:custGeom>
            <a:avLst/>
            <a:gdLst/>
            <a:ahLst/>
            <a:cxnLst/>
            <a:rect l="l" t="t" r="r" b="b"/>
            <a:pathLst>
              <a:path w="3625058" h="1833993">
                <a:moveTo>
                  <a:pt x="774197" y="0"/>
                </a:moveTo>
                <a:cubicBezTo>
                  <a:pt x="5807638" y="3520"/>
                  <a:pt x="3291646" y="1074378"/>
                  <a:pt x="0" y="1833993"/>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3" name="CustomShape 17"/>
          <p:cNvSpPr/>
          <p:nvPr/>
        </p:nvSpPr>
        <p:spPr>
          <a:xfrm>
            <a:off x="9042120" y="2221560"/>
            <a:ext cx="463320" cy="1503000"/>
          </a:xfrm>
          <a:custGeom>
            <a:avLst/>
            <a:gdLst/>
            <a:ahLst/>
            <a:cxnLst/>
            <a:rect l="l" t="t" r="r" b="b"/>
            <a:pathLst>
              <a:path w="7463" h="10000">
                <a:moveTo>
                  <a:pt x="7463" y="0"/>
                </a:moveTo>
                <a:cubicBezTo>
                  <a:pt x="-1858" y="5424"/>
                  <a:pt x="-2546" y="6224"/>
                  <a:pt x="5959" y="10000"/>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4" name="CustomShape 18"/>
          <p:cNvSpPr/>
          <p:nvPr/>
        </p:nvSpPr>
        <p:spPr>
          <a:xfrm rot="17433600">
            <a:off x="7575840" y="2895480"/>
            <a:ext cx="7354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Attach</a:t>
            </a:r>
            <a:endParaRPr lang="en-US" sz="1800" b="0" strike="noStrike" spc="-1">
              <a:solidFill>
                <a:srgbClr val="000000"/>
              </a:solidFill>
              <a:latin typeface="Arial"/>
            </a:endParaRPr>
          </a:p>
        </p:txBody>
      </p:sp>
      <p:sp>
        <p:nvSpPr>
          <p:cNvPr id="165" name="CustomShape 19"/>
          <p:cNvSpPr/>
          <p:nvPr/>
        </p:nvSpPr>
        <p:spPr>
          <a:xfrm>
            <a:off x="9587160" y="2378520"/>
            <a:ext cx="1305000" cy="639000"/>
          </a:xfrm>
          <a:prstGeom prst="rect">
            <a:avLst/>
          </a:prstGeom>
          <a:noFill/>
          <a:ln>
            <a:noFill/>
          </a:ln>
          <a:effectLst>
            <a:glow rad="139700">
              <a:srgbClr val="FFC000">
                <a:alpha val="52000"/>
              </a:srgbClr>
            </a:glow>
          </a:effectLst>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FF6565"/>
                </a:solidFill>
                <a:latin typeface="Calibri"/>
              </a:rPr>
              <a:t>Links &amp; References</a:t>
            </a:r>
            <a:endParaRPr lang="en-US" sz="1800" b="0" strike="noStrike" spc="-1">
              <a:solidFill>
                <a:srgbClr val="000000"/>
              </a:solidFill>
              <a:latin typeface="Arial"/>
            </a:endParaRPr>
          </a:p>
        </p:txBody>
      </p:sp>
      <p:sp>
        <p:nvSpPr>
          <p:cNvPr id="166" name="CustomShape 20"/>
          <p:cNvSpPr/>
          <p:nvPr/>
        </p:nvSpPr>
        <p:spPr>
          <a:xfrm>
            <a:off x="8481600" y="26506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Buildings </a:t>
            </a:r>
            <a:br/>
            <a:r>
              <a:rPr lang="en-US" sz="1800" b="1" strike="noStrike" spc="-1">
                <a:solidFill>
                  <a:srgbClr val="000000"/>
                </a:solidFill>
                <a:latin typeface="Agency FB"/>
              </a:rPr>
              <a:t>&amp; Places</a:t>
            </a:r>
            <a:endParaRPr lang="en-US" sz="1800" b="0" strike="noStrike" spc="-1">
              <a:solidFill>
                <a:srgbClr val="000000"/>
              </a:solidFill>
              <a:latin typeface="Arial"/>
            </a:endParaRPr>
          </a:p>
        </p:txBody>
      </p:sp>
      <p:sp>
        <p:nvSpPr>
          <p:cNvPr id="167" name="CustomShape 21"/>
          <p:cNvSpPr/>
          <p:nvPr/>
        </p:nvSpPr>
        <p:spPr>
          <a:xfrm>
            <a:off x="10425240" y="2328840"/>
            <a:ext cx="1308960" cy="964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r">
              <a:lnSpc>
                <a:spcPct val="100000"/>
              </a:lnSpc>
              <a:spcAft>
                <a:spcPts val="400"/>
              </a:spcAft>
            </a:pPr>
            <a:r>
              <a:rPr lang="en-US" sz="1800" b="1" strike="noStrike" spc="-1">
                <a:solidFill>
                  <a:srgbClr val="000000"/>
                </a:solidFill>
                <a:latin typeface="Agency FB"/>
              </a:rPr>
              <a:t>Stories</a:t>
            </a:r>
            <a:endParaRPr lang="en-US" sz="1800" b="0" strike="noStrike" spc="-1">
              <a:solidFill>
                <a:srgbClr val="000000"/>
              </a:solidFill>
              <a:latin typeface="Arial"/>
            </a:endParaRPr>
          </a:p>
          <a:p>
            <a:pPr algn="r">
              <a:lnSpc>
                <a:spcPct val="100000"/>
              </a:lnSpc>
              <a:spcAft>
                <a:spcPts val="400"/>
              </a:spcAft>
            </a:pPr>
            <a:r>
              <a:rPr lang="en-US" sz="1800" b="1" strike="noStrike" spc="-1">
                <a:solidFill>
                  <a:srgbClr val="000000"/>
                </a:solidFill>
                <a:latin typeface="Agency FB"/>
              </a:rPr>
              <a:t>Exhibits &amp; Scholarship</a:t>
            </a:r>
            <a:endParaRPr lang="en-US" sz="1800" b="0" strike="noStrike" spc="-1">
              <a:solidFill>
                <a:srgbClr val="000000"/>
              </a:solidFill>
              <a:latin typeface="Arial"/>
            </a:endParaRPr>
          </a:p>
        </p:txBody>
      </p:sp>
      <p:sp>
        <p:nvSpPr>
          <p:cNvPr id="168" name="CustomShape 22"/>
          <p:cNvSpPr/>
          <p:nvPr/>
        </p:nvSpPr>
        <p:spPr>
          <a:xfrm>
            <a:off x="5385960" y="1193400"/>
            <a:ext cx="33822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Information Stewardship &amp; Development</a:t>
            </a:r>
            <a:endParaRPr lang="en-US" sz="1800" b="0" strike="noStrike" spc="-1">
              <a:solidFill>
                <a:srgbClr val="000000"/>
              </a:solidFill>
              <a:latin typeface="Arial"/>
            </a:endParaRPr>
          </a:p>
        </p:txBody>
      </p:sp>
      <p:sp>
        <p:nvSpPr>
          <p:cNvPr id="169" name="TextShape 23"/>
          <p:cNvSpPr txBox="1"/>
          <p:nvPr/>
        </p:nvSpPr>
        <p:spPr>
          <a:xfrm>
            <a:off x="5441760" y="6390360"/>
            <a:ext cx="1247040" cy="364680"/>
          </a:xfrm>
          <a:prstGeom prst="rect">
            <a:avLst/>
          </a:prstGeom>
          <a:noFill/>
          <a:ln>
            <a:noFill/>
          </a:ln>
        </p:spPr>
        <p:txBody>
          <a:bodyPr anchor="ctr">
            <a:noAutofit/>
          </a:bodyPr>
          <a:lstStyle/>
          <a:p>
            <a:pPr>
              <a:lnSpc>
                <a:spcPct val="100000"/>
              </a:lnSpc>
            </a:pPr>
            <a:fld id="{DEE0687B-1AAB-44D3-9173-02DB72521A26}" type="datetime1">
              <a:rPr lang="en-US" sz="1200" b="0" strike="noStrike" spc="-1">
                <a:solidFill>
                  <a:srgbClr val="8B8B8B"/>
                </a:solidFill>
                <a:latin typeface="Calibri"/>
              </a:rPr>
              <a:t>9/1/2023</a:t>
            </a:fld>
            <a:endParaRPr lang="en-US" sz="1200" b="0" strike="noStrike" spc="-1">
              <a:latin typeface="Times New Roman"/>
            </a:endParaRPr>
          </a:p>
        </p:txBody>
      </p:sp>
      <p:sp>
        <p:nvSpPr>
          <p:cNvPr id="170" name="TextShape 24"/>
          <p:cNvSpPr txBox="1"/>
          <p:nvPr/>
        </p:nvSpPr>
        <p:spPr>
          <a:xfrm>
            <a:off x="255600" y="6390360"/>
            <a:ext cx="2742840" cy="364680"/>
          </a:xfrm>
          <a:prstGeom prst="rect">
            <a:avLst/>
          </a:prstGeom>
          <a:noFill/>
          <a:ln>
            <a:noFill/>
          </a:ln>
        </p:spPr>
        <p:txBody>
          <a:bodyPr anchor="ctr">
            <a:noAutofit/>
          </a:bodyPr>
          <a:lstStyle/>
          <a:p>
            <a:pPr>
              <a:lnSpc>
                <a:spcPct val="100000"/>
              </a:lnSpc>
            </a:pPr>
            <a:fld id="{FC43B017-507B-49B0-9BE8-C3B3967904F6}" type="slidenum">
              <a:rPr lang="en-US" sz="1200" b="0" strike="noStrike" spc="-1">
                <a:solidFill>
                  <a:srgbClr val="8B8B8B"/>
                </a:solidFill>
                <a:latin typeface="Calibri"/>
              </a:rPr>
              <a:t>7</a:t>
            </a:fld>
            <a:endParaRPr lang="en-US" sz="1200" b="0" strike="noStrike" spc="-1">
              <a:latin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 name="CustomShape 1"/>
          <p:cNvSpPr/>
          <p:nvPr/>
        </p:nvSpPr>
        <p:spPr>
          <a:xfrm>
            <a:off x="389880" y="122040"/>
            <a:ext cx="332712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Introducing Omeka-S</a:t>
            </a:r>
            <a:endParaRPr lang="en-US" sz="2400" b="0" strike="noStrike" spc="-1" dirty="0">
              <a:solidFill>
                <a:srgbClr val="000000"/>
              </a:solidFill>
              <a:latin typeface="Arial"/>
            </a:endParaRPr>
          </a:p>
        </p:txBody>
      </p:sp>
      <p:sp>
        <p:nvSpPr>
          <p:cNvPr id="276" name="CustomShape 2"/>
          <p:cNvSpPr/>
          <p:nvPr/>
        </p:nvSpPr>
        <p:spPr>
          <a:xfrm>
            <a:off x="389880" y="5969880"/>
            <a:ext cx="3327120" cy="821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Visit the C-Dash Omeka-S Pilot Site at the temporary URL:</a:t>
            </a:r>
            <a:endParaRPr lang="en-US" sz="1800" b="0" strike="noStrike" spc="-1">
              <a:solidFill>
                <a:srgbClr val="000000"/>
              </a:solidFill>
              <a:latin typeface="Arial"/>
            </a:endParaRPr>
          </a:p>
          <a:p>
            <a:pPr>
              <a:lnSpc>
                <a:spcPct val="100000"/>
              </a:lnSpc>
            </a:pPr>
            <a:r>
              <a:rPr lang="en-US" sz="1200" b="0" u="sng" strike="noStrike" spc="-1">
                <a:solidFill>
                  <a:srgbClr val="0563C1"/>
                </a:solidFill>
                <a:uFillTx/>
                <a:latin typeface="Calibri"/>
                <a:hlinkClick r:id="rId2"/>
              </a:rPr>
              <a:t>http://chcomeka.azurewebsites.net/omeka-s</a:t>
            </a:r>
            <a:endParaRPr lang="en-US" sz="1200" b="0" strike="noStrike" spc="-1">
              <a:solidFill>
                <a:srgbClr val="000000"/>
              </a:solidFill>
              <a:latin typeface="Arial"/>
            </a:endParaRPr>
          </a:p>
        </p:txBody>
      </p:sp>
      <p:pic>
        <p:nvPicPr>
          <p:cNvPr id="277" name="Picture 1"/>
          <p:cNvPicPr/>
          <p:nvPr/>
        </p:nvPicPr>
        <p:blipFill>
          <a:blip r:embed="rId3"/>
          <a:stretch/>
        </p:blipFill>
        <p:spPr>
          <a:xfrm>
            <a:off x="12577840" y="5023033"/>
            <a:ext cx="7389360" cy="6414840"/>
          </a:xfrm>
          <a:prstGeom prst="rect">
            <a:avLst/>
          </a:prstGeom>
          <a:ln>
            <a:noFill/>
          </a:ln>
        </p:spPr>
      </p:pic>
      <p:sp>
        <p:nvSpPr>
          <p:cNvPr id="278" name="CustomShape 3"/>
          <p:cNvSpPr/>
          <p:nvPr/>
        </p:nvSpPr>
        <p:spPr>
          <a:xfrm>
            <a:off x="389880" y="583560"/>
            <a:ext cx="3866400" cy="503069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Omeka-S is an open source Content Management System designed for the Library, Archive and Museum Community.</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functions for attaching metadata to </a:t>
            </a:r>
            <a:r>
              <a:rPr lang="en-US" spc="-1" dirty="0">
                <a:solidFill>
                  <a:srgbClr val="595959"/>
                </a:solidFill>
                <a:latin typeface="Agency FB"/>
              </a:rPr>
              <a:t>digitized documents</a:t>
            </a:r>
            <a:r>
              <a:rPr lang="en-US" sz="1800" b="0" strike="noStrike" spc="-1" dirty="0">
                <a:solidFill>
                  <a:srgbClr val="595959"/>
                </a:solidFill>
                <a:latin typeface="Agency FB"/>
              </a:rPr>
              <a:t>, and for linking information together across collections and systems – e.g. building photos to building records of other types.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been under development since 2008, has a very active community of users and developers. Many high-profile installations use Omeka-S to develop searchable digital collections and to integrate archival information into web-based exhibits.</a:t>
            </a:r>
            <a:endParaRPr lang="en-US" sz="1800" b="0" strike="noStrike" spc="-1" dirty="0">
              <a:solidFill>
                <a:srgbClr val="000000"/>
              </a:solidFill>
              <a:latin typeface="Arial"/>
            </a:endParaRPr>
          </a:p>
          <a:p>
            <a:pPr>
              <a:lnSpc>
                <a:spcPct val="100000"/>
              </a:lnSpc>
              <a:spcAft>
                <a:spcPts val="601"/>
              </a:spcAft>
            </a:pPr>
            <a:r>
              <a:rPr lang="en-US" sz="1800" b="0" strike="noStrike" spc="-1" dirty="0" err="1">
                <a:solidFill>
                  <a:srgbClr val="595959"/>
                </a:solidFill>
                <a:latin typeface="Agency FB"/>
              </a:rPr>
              <a:t>Omeka_S</a:t>
            </a:r>
            <a:r>
              <a:rPr lang="en-US" sz="1800" b="0" strike="noStrike" spc="-1" dirty="0">
                <a:solidFill>
                  <a:srgbClr val="595959"/>
                </a:solidFill>
                <a:latin typeface="Agency FB"/>
              </a:rPr>
              <a:t> is a PHP application similar to the popular content management system, word-press. It is relatively easy to install, configure and modify for someone with basic </a:t>
            </a:r>
            <a:r>
              <a:rPr lang="en-US" sz="1800" b="0" strike="noStrike" spc="-1" dirty="0" err="1">
                <a:solidFill>
                  <a:srgbClr val="595959"/>
                </a:solidFill>
                <a:latin typeface="Agency FB"/>
              </a:rPr>
              <a:t>linux</a:t>
            </a:r>
            <a:r>
              <a:rPr lang="en-US" sz="1800" b="0" strike="noStrike" spc="-1" dirty="0">
                <a:solidFill>
                  <a:srgbClr val="595959"/>
                </a:solidFill>
                <a:latin typeface="Agency FB"/>
              </a:rPr>
              <a:t> skills</a:t>
            </a: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279" name="TextShape 4"/>
          <p:cNvSpPr txBox="1"/>
          <p:nvPr/>
        </p:nvSpPr>
        <p:spPr>
          <a:xfrm>
            <a:off x="5441760" y="6390360"/>
            <a:ext cx="1247040" cy="364680"/>
          </a:xfrm>
          <a:prstGeom prst="rect">
            <a:avLst/>
          </a:prstGeom>
          <a:noFill/>
          <a:ln>
            <a:noFill/>
          </a:ln>
        </p:spPr>
        <p:txBody>
          <a:bodyPr anchor="ctr">
            <a:noAutofit/>
          </a:bodyPr>
          <a:lstStyle/>
          <a:p>
            <a:pPr>
              <a:lnSpc>
                <a:spcPct val="100000"/>
              </a:lnSpc>
            </a:pPr>
            <a:fld id="{79961C57-19E7-41E9-8904-FF1377426E64}" type="datetime1">
              <a:rPr lang="en-US" sz="1200" b="0" strike="noStrike" spc="-1">
                <a:solidFill>
                  <a:srgbClr val="8B8B8B"/>
                </a:solidFill>
                <a:latin typeface="Calibri"/>
              </a:rPr>
              <a:t>9/1/2023</a:t>
            </a:fld>
            <a:endParaRPr lang="en-US" sz="1200" b="0" strike="noStrike" spc="-1">
              <a:latin typeface="Times New Roman"/>
            </a:endParaRPr>
          </a:p>
        </p:txBody>
      </p:sp>
      <p:sp>
        <p:nvSpPr>
          <p:cNvPr id="280" name="TextShape 5"/>
          <p:cNvSpPr txBox="1"/>
          <p:nvPr/>
        </p:nvSpPr>
        <p:spPr>
          <a:xfrm>
            <a:off x="255600" y="6390360"/>
            <a:ext cx="2742840" cy="364680"/>
          </a:xfrm>
          <a:prstGeom prst="rect">
            <a:avLst/>
          </a:prstGeom>
          <a:noFill/>
          <a:ln>
            <a:noFill/>
          </a:ln>
        </p:spPr>
        <p:txBody>
          <a:bodyPr anchor="ctr">
            <a:noAutofit/>
          </a:bodyPr>
          <a:lstStyle/>
          <a:p>
            <a:pPr>
              <a:lnSpc>
                <a:spcPct val="100000"/>
              </a:lnSpc>
            </a:pPr>
            <a:fld id="{CC97DFE1-A8E0-4382-9BCB-471BC0BD82E3}" type="slidenum">
              <a:rPr lang="en-US" sz="1200" b="0" strike="noStrike" spc="-1">
                <a:solidFill>
                  <a:srgbClr val="8B8B8B"/>
                </a:solidFill>
                <a:latin typeface="Calibri"/>
              </a:rPr>
              <a:t>8</a:t>
            </a:fld>
            <a:endParaRPr lang="en-US" sz="1200" b="0" strike="noStrike" spc="-1">
              <a:latin typeface="Times New Roman"/>
            </a:endParaRPr>
          </a:p>
        </p:txBody>
      </p:sp>
      <p:pic>
        <p:nvPicPr>
          <p:cNvPr id="3" name="Picture 2">
            <a:extLst>
              <a:ext uri="{FF2B5EF4-FFF2-40B4-BE49-F238E27FC236}">
                <a16:creationId xmlns:a16="http://schemas.microsoft.com/office/drawing/2014/main" id="{1BFEB6AD-2B44-BD96-44BB-35A7E1058C71}"/>
              </a:ext>
            </a:extLst>
          </p:cNvPr>
          <p:cNvPicPr>
            <a:picLocks noChangeAspect="1"/>
          </p:cNvPicPr>
          <p:nvPr/>
        </p:nvPicPr>
        <p:blipFill>
          <a:blip r:embed="rId4"/>
          <a:stretch>
            <a:fillRect/>
          </a:stretch>
        </p:blipFill>
        <p:spPr>
          <a:xfrm>
            <a:off x="4425486" y="464399"/>
            <a:ext cx="7478768" cy="526415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Resource Templates and Vocabularies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6404660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Items: Documents Related to Places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61694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As a document archive, catalog and public-facing discovery tool, Omeka is concerned with Items.  An Item could be a multipage document made up of multiple scanned pages,   An Item could be an audio file or a three-dimensional model. </a:t>
            </a:r>
          </a:p>
          <a:p>
            <a:pPr>
              <a:lnSpc>
                <a:spcPct val="100000"/>
              </a:lnSpc>
              <a:spcAft>
                <a:spcPts val="601"/>
              </a:spcAft>
            </a:pPr>
            <a:r>
              <a:rPr lang="en-US" spc="-1" dirty="0">
                <a:solidFill>
                  <a:srgbClr val="595959"/>
                </a:solidFill>
                <a:latin typeface="Agency FB"/>
              </a:rPr>
              <a:t>At the moment, there are two major Item Types:</a:t>
            </a:r>
          </a:p>
          <a:p>
            <a:pPr>
              <a:lnSpc>
                <a:spcPct val="100000"/>
              </a:lnSpc>
              <a:spcAft>
                <a:spcPts val="601"/>
              </a:spcAft>
            </a:pPr>
            <a:r>
              <a:rPr lang="en-US" b="1" spc="-1" dirty="0">
                <a:solidFill>
                  <a:srgbClr val="595959"/>
                </a:solidFill>
                <a:latin typeface="Agency FB"/>
              </a:rPr>
              <a:t>Documents: </a:t>
            </a:r>
            <a:r>
              <a:rPr lang="en-US" spc="-1" dirty="0">
                <a:solidFill>
                  <a:srgbClr val="595959"/>
                </a:solidFill>
                <a:latin typeface="Agency FB"/>
              </a:rPr>
              <a:t>may be collections of scanned pages, or single-page ephemera or PDF documents.  </a:t>
            </a:r>
          </a:p>
          <a:p>
            <a:pPr>
              <a:lnSpc>
                <a:spcPct val="100000"/>
              </a:lnSpc>
              <a:spcAft>
                <a:spcPts val="601"/>
              </a:spcAft>
            </a:pPr>
            <a:r>
              <a:rPr lang="en-US" b="1" spc="-1" dirty="0">
                <a:solidFill>
                  <a:srgbClr val="595959"/>
                </a:solidFill>
                <a:latin typeface="Agency FB"/>
              </a:rPr>
              <a:t>Places: </a:t>
            </a:r>
            <a:r>
              <a:rPr lang="en-US" spc="-1" dirty="0">
                <a:solidFill>
                  <a:srgbClr val="595959"/>
                </a:solidFill>
                <a:latin typeface="Agency FB"/>
              </a:rPr>
              <a:t> references to buildings, bridges or monuments.  </a:t>
            </a:r>
          </a:p>
          <a:p>
            <a:pPr>
              <a:lnSpc>
                <a:spcPct val="100000"/>
              </a:lnSpc>
              <a:spcAft>
                <a:spcPts val="601"/>
              </a:spcAft>
            </a:pPr>
            <a:r>
              <a:rPr lang="en-US" spc="-1" dirty="0">
                <a:solidFill>
                  <a:srgbClr val="595959"/>
                </a:solidFill>
                <a:latin typeface="Agency FB"/>
              </a:rPr>
              <a:t>Places have locations that can be represented on a map.  Every item in CDASH is related to a place.</a:t>
            </a:r>
          </a:p>
          <a:p>
            <a:pPr>
              <a:lnSpc>
                <a:spcPct val="100000"/>
              </a:lnSpc>
              <a:spcAft>
                <a:spcPts val="601"/>
              </a:spcAft>
            </a:pPr>
            <a:r>
              <a:rPr lang="en-US" spc="-1" dirty="0">
                <a:solidFill>
                  <a:srgbClr val="595959"/>
                </a:solidFill>
                <a:latin typeface="Agency FB"/>
              </a:rPr>
              <a:t>The most common type of Place item is a </a:t>
            </a:r>
            <a:r>
              <a:rPr lang="en-US" b="1" spc="-1" dirty="0">
                <a:solidFill>
                  <a:srgbClr val="595959"/>
                </a:solidFill>
                <a:latin typeface="Agency FB"/>
              </a:rPr>
              <a:t>Street Address or Address Range</a:t>
            </a:r>
            <a:r>
              <a:rPr lang="en-US" spc="-1" dirty="0">
                <a:solidFill>
                  <a:srgbClr val="595959"/>
                </a:solidFill>
                <a:latin typeface="Agency FB"/>
              </a:rPr>
              <a:t>, which was the fundamental organizing framework of the Building Files collection. </a:t>
            </a:r>
          </a:p>
          <a:p>
            <a:pPr>
              <a:lnSpc>
                <a:spcPct val="100000"/>
              </a:lnSpc>
              <a:spcAft>
                <a:spcPts val="601"/>
              </a:spcAft>
            </a:pPr>
            <a:r>
              <a:rPr lang="en-US" spc="-1" dirty="0">
                <a:solidFill>
                  <a:srgbClr val="595959"/>
                </a:solidFill>
                <a:latin typeface="Agency FB"/>
              </a:rPr>
              <a:t>Document and Place Items have specific sets of metadata fields that are defined with Omeka Resource Templates.</a:t>
            </a:r>
          </a:p>
          <a:p>
            <a:pPr>
              <a:lnSpc>
                <a:spcPct val="100000"/>
              </a:lnSpc>
              <a:spcAft>
                <a:spcPts val="601"/>
              </a:spcAft>
            </a:pPr>
            <a:endParaRPr lang="en-US" sz="1800" b="0" strike="noStrike" spc="-1" dirty="0">
              <a:solidFill>
                <a:srgbClr val="595959"/>
              </a:solidFill>
              <a:latin typeface="Agency FB"/>
            </a:endParaRPr>
          </a:p>
        </p:txBody>
      </p:sp>
    </p:spTree>
    <p:extLst>
      <p:ext uri="{BB962C8B-B14F-4D97-AF65-F5344CB8AC3E}">
        <p14:creationId xmlns:p14="http://schemas.microsoft.com/office/powerpoint/2010/main" val="418022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Place Types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35331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z="1200" b="1" spc="-1" dirty="0">
              <a:solidFill>
                <a:srgbClr val="595959"/>
              </a:solidFill>
              <a:latin typeface="Agency FB"/>
            </a:endParaRP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8303513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Custom Omeka Theme</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4261689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Omeka Modules: Stock and Custom</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318011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Development and Collaboration</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6025961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The Digitization and Accession Process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0057974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Create Place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589246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a:t>
            </a:r>
            <a:r>
              <a:rPr lang="en-US" spc="-1" dirty="0" err="1">
                <a:solidFill>
                  <a:srgbClr val="595959"/>
                </a:solidFill>
                <a:latin typeface="Agency FB"/>
              </a:rPr>
              <a:t>nnew</a:t>
            </a:r>
            <a:r>
              <a:rPr lang="en-US" spc="-1" dirty="0">
                <a:solidFill>
                  <a:srgbClr val="595959"/>
                </a:solidFill>
                <a:latin typeface="Agency FB"/>
              </a:rPr>
              <a:t> Place item. </a:t>
            </a:r>
          </a:p>
          <a:p>
            <a:pPr>
              <a:lnSpc>
                <a:spcPct val="100000"/>
              </a:lnSpc>
              <a:spcAft>
                <a:spcPts val="601"/>
              </a:spcAft>
            </a:pPr>
            <a:r>
              <a:rPr lang="en-US" spc="-1" dirty="0">
                <a:solidFill>
                  <a:srgbClr val="595959"/>
                </a:solidFill>
                <a:latin typeface="Agency FB"/>
              </a:rPr>
              <a:t>Place Items may be created or edited ‘by hand’ using the ordinary item creation capabilities of Omeka-S.  </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resource template provides a form with useful pick-lists and validation.</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mapping extension provides a means of setting or adjusting the map location.</a:t>
            </a:r>
            <a:endParaRPr lang="en-US" sz="1200" spc="-1" dirty="0">
              <a:solidFill>
                <a:srgbClr val="595959"/>
              </a:solidFill>
              <a:latin typeface="Agency FB"/>
            </a:endParaRPr>
          </a:p>
          <a:p>
            <a:pPr>
              <a:spcAft>
                <a:spcPts val="601"/>
              </a:spcAft>
            </a:pPr>
            <a:endParaRPr lang="en-US" spc="-1" dirty="0">
              <a:solidFill>
                <a:srgbClr val="595959"/>
              </a:solidFill>
              <a:latin typeface="Agency FB"/>
            </a:endParaRPr>
          </a:p>
          <a:p>
            <a:pPr>
              <a:spcAft>
                <a:spcPts val="601"/>
              </a:spcAft>
            </a:pPr>
            <a:r>
              <a:rPr lang="en-US" b="1" spc="-1" dirty="0">
                <a:solidFill>
                  <a:srgbClr val="595959"/>
                </a:solidFill>
                <a:latin typeface="Agency FB"/>
              </a:rPr>
              <a:t>Automated Batch Geocoding</a:t>
            </a:r>
          </a:p>
          <a:p>
            <a:pPr>
              <a:spcAft>
                <a:spcPts val="601"/>
              </a:spcAft>
            </a:pPr>
            <a:r>
              <a:rPr lang="en-US" spc="-1" dirty="0">
                <a:solidFill>
                  <a:srgbClr val="595959"/>
                </a:solidFill>
                <a:latin typeface="Agency FB"/>
              </a:rPr>
              <a:t>In the initial population of CDASH it is necessary to create place items based on the address references.  This process of automated geocoding and identification of historical districts, etc. is described in another sequence of slides.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4483411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CustomShape 1"/>
          <p:cNvSpPr/>
          <p:nvPr/>
        </p:nvSpPr>
        <p:spPr>
          <a:xfrm>
            <a:off x="475560" y="8028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Prepare Batch of Scans with Rough Catalog</a:t>
            </a:r>
            <a:endParaRPr lang="en-US" sz="2400" b="0" strike="noStrike" spc="-1">
              <a:solidFill>
                <a:srgbClr val="000000"/>
              </a:solidFill>
              <a:latin typeface="Arial"/>
            </a:endParaRPr>
          </a:p>
        </p:txBody>
      </p:sp>
      <p:sp>
        <p:nvSpPr>
          <p:cNvPr id="250" name="CustomShape 2"/>
          <p:cNvSpPr/>
          <p:nvPr/>
        </p:nvSpPr>
        <p:spPr>
          <a:xfrm>
            <a:off x="724320" y="119520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item-type dictionary to apply meaningful titles and keywords</a:t>
            </a:r>
            <a:endParaRPr lang="en-US" sz="1800" b="0" strike="noStrike" spc="-1">
              <a:solidFill>
                <a:srgbClr val="000000"/>
              </a:solidFill>
              <a:latin typeface="Arial"/>
            </a:endParaRPr>
          </a:p>
        </p:txBody>
      </p:sp>
      <p:sp>
        <p:nvSpPr>
          <p:cNvPr id="251" name="CustomShape 3"/>
          <p:cNvSpPr/>
          <p:nvPr/>
        </p:nvSpPr>
        <p:spPr>
          <a:xfrm>
            <a:off x="724320" y="211860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Address Points dictionary to look up the coordinates, building-ID and Map-Lot.</a:t>
            </a:r>
            <a:endParaRPr lang="en-US" sz="1800" b="0" strike="noStrike" spc="-1">
              <a:solidFill>
                <a:srgbClr val="000000"/>
              </a:solidFill>
              <a:latin typeface="Arial"/>
            </a:endParaRPr>
          </a:p>
        </p:txBody>
      </p:sp>
      <p:sp>
        <p:nvSpPr>
          <p:cNvPr id="252" name="CustomShape 4"/>
          <p:cNvSpPr/>
          <p:nvPr/>
        </p:nvSpPr>
        <p:spPr>
          <a:xfrm>
            <a:off x="512280" y="331884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Write a comma-delimted table formatted for the Omeka CSV import tool </a:t>
            </a:r>
            <a:endParaRPr lang="en-US" sz="1800" b="0" strike="noStrike" spc="-1">
              <a:solidFill>
                <a:srgbClr val="000000"/>
              </a:solidFill>
              <a:latin typeface="Arial"/>
            </a:endParaRPr>
          </a:p>
        </p:txBody>
      </p:sp>
      <p:sp>
        <p:nvSpPr>
          <p:cNvPr id="253" name="CustomShape 5"/>
          <p:cNvSpPr/>
          <p:nvPr/>
        </p:nvSpPr>
        <p:spPr>
          <a:xfrm>
            <a:off x="475560" y="428832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Future version could:</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Embed the metadata and coordinates into the image files themselves.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Import the collection into any content management system that permits systematic import.</a:t>
            </a:r>
            <a:endParaRPr lang="en-US" sz="1800" b="0" strike="noStrike" spc="-1">
              <a:solidFill>
                <a:srgbClr val="000000"/>
              </a:solidFill>
              <a:latin typeface="Arial"/>
            </a:endParaRPr>
          </a:p>
        </p:txBody>
      </p:sp>
      <p:sp>
        <p:nvSpPr>
          <p:cNvPr id="254" name="CustomShape 6"/>
          <p:cNvSpPr/>
          <p:nvPr/>
        </p:nvSpPr>
        <p:spPr>
          <a:xfrm>
            <a:off x="475560" y="5630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For each image file in the scans folder: </a:t>
            </a:r>
            <a:endParaRPr lang="en-US" sz="1800" b="0" strike="noStrike" spc="-1">
              <a:solidFill>
                <a:srgbClr val="000000"/>
              </a:solidFill>
              <a:latin typeface="Arial"/>
            </a:endParaRPr>
          </a:p>
        </p:txBody>
      </p:sp>
      <p:pic>
        <p:nvPicPr>
          <p:cNvPr id="255" name="Picture 9"/>
          <p:cNvPicPr/>
          <p:nvPr/>
        </p:nvPicPr>
        <p:blipFill>
          <a:blip r:embed="rId2"/>
          <a:stretch/>
        </p:blipFill>
        <p:spPr>
          <a:xfrm>
            <a:off x="4641840" y="1215360"/>
            <a:ext cx="2302920" cy="1746720"/>
          </a:xfrm>
          <a:prstGeom prst="rect">
            <a:avLst/>
          </a:prstGeom>
          <a:ln>
            <a:solidFill>
              <a:schemeClr val="accent1"/>
            </a:solidFill>
          </a:ln>
        </p:spPr>
      </p:pic>
      <p:pic>
        <p:nvPicPr>
          <p:cNvPr id="256" name="Picture 2"/>
          <p:cNvPicPr/>
          <p:nvPr/>
        </p:nvPicPr>
        <p:blipFill>
          <a:blip r:embed="rId3"/>
          <a:srcRect t="8020" r="50000"/>
          <a:stretch/>
        </p:blipFill>
        <p:spPr>
          <a:xfrm>
            <a:off x="7606080" y="1249560"/>
            <a:ext cx="2624400" cy="1717200"/>
          </a:xfrm>
          <a:prstGeom prst="rect">
            <a:avLst/>
          </a:prstGeom>
          <a:ln w="9360">
            <a:solidFill>
              <a:schemeClr val="tx1"/>
            </a:solidFill>
            <a:miter/>
          </a:ln>
        </p:spPr>
      </p:pic>
      <p:pic>
        <p:nvPicPr>
          <p:cNvPr id="257" name="Picture 4" descr="Image result for python script icon"/>
          <p:cNvPicPr/>
          <p:nvPr/>
        </p:nvPicPr>
        <p:blipFill>
          <a:blip r:embed="rId4"/>
          <a:stretch/>
        </p:blipFill>
        <p:spPr>
          <a:xfrm>
            <a:off x="4701960" y="3397680"/>
            <a:ext cx="1052640" cy="1052640"/>
          </a:xfrm>
          <a:prstGeom prst="rect">
            <a:avLst/>
          </a:prstGeom>
          <a:ln>
            <a:noFill/>
          </a:ln>
        </p:spPr>
      </p:pic>
      <p:sp>
        <p:nvSpPr>
          <p:cNvPr id="258" name="CustomShape 7"/>
          <p:cNvSpPr/>
          <p:nvPr/>
        </p:nvSpPr>
        <p:spPr>
          <a:xfrm>
            <a:off x="4641840" y="52992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Address, Geo-Location &amp; Building and Parcel Links</a:t>
            </a:r>
            <a:endParaRPr lang="en-US" sz="1800" b="0" strike="noStrike" spc="-1">
              <a:solidFill>
                <a:srgbClr val="000000"/>
              </a:solidFill>
              <a:latin typeface="Arial"/>
            </a:endParaRPr>
          </a:p>
        </p:txBody>
      </p:sp>
      <p:sp>
        <p:nvSpPr>
          <p:cNvPr id="259" name="CustomShape 8"/>
          <p:cNvSpPr/>
          <p:nvPr/>
        </p:nvSpPr>
        <p:spPr>
          <a:xfrm>
            <a:off x="7606080" y="770400"/>
            <a:ext cx="25282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 Item-Type Metadata</a:t>
            </a:r>
            <a:endParaRPr lang="en-US" sz="1800" b="0" strike="noStrike" spc="-1">
              <a:solidFill>
                <a:srgbClr val="000000"/>
              </a:solidFill>
              <a:latin typeface="Arial"/>
            </a:endParaRPr>
          </a:p>
        </p:txBody>
      </p:sp>
      <p:sp>
        <p:nvSpPr>
          <p:cNvPr id="260" name="CustomShape 9"/>
          <p:cNvSpPr/>
          <p:nvPr/>
        </p:nvSpPr>
        <p:spPr>
          <a:xfrm>
            <a:off x="5763960" y="331884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Python and ArcGIS </a:t>
            </a:r>
            <a:br>
              <a:rPr dirty="0"/>
            </a:br>
            <a:r>
              <a:rPr lang="en-US" sz="1800" b="1" strike="noStrike" spc="-1" dirty="0">
                <a:solidFill>
                  <a:srgbClr val="595959"/>
                </a:solidFill>
                <a:latin typeface="Agency FB"/>
              </a:rPr>
              <a:t>Procedure </a:t>
            </a:r>
            <a:endParaRPr lang="en-US" sz="1800" b="0" strike="noStrike" spc="-1" dirty="0">
              <a:solidFill>
                <a:srgbClr val="000000"/>
              </a:solidFill>
              <a:latin typeface="Arial"/>
            </a:endParaRPr>
          </a:p>
        </p:txBody>
      </p:sp>
      <p:sp>
        <p:nvSpPr>
          <p:cNvPr id="261" name="CustomShape 10"/>
          <p:cNvSpPr/>
          <p:nvPr/>
        </p:nvSpPr>
        <p:spPr>
          <a:xfrm flipH="1">
            <a:off x="7046640" y="2804760"/>
            <a:ext cx="857520" cy="57420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62" name="CustomShape 11"/>
          <p:cNvSpPr/>
          <p:nvPr/>
        </p:nvSpPr>
        <p:spPr>
          <a:xfrm flipH="1">
            <a:off x="5981040" y="2859840"/>
            <a:ext cx="693720" cy="47628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63" name="CustomShape 12"/>
          <p:cNvSpPr/>
          <p:nvPr/>
        </p:nvSpPr>
        <p:spPr>
          <a:xfrm>
            <a:off x="5943600" y="3276720"/>
            <a:ext cx="304560" cy="304560"/>
          </a:xfrm>
          <a:prstGeom prst="rect">
            <a:avLst/>
          </a:prstGeom>
          <a:noFill/>
          <a:ln>
            <a:noFill/>
          </a:ln>
        </p:spPr>
        <p:style>
          <a:lnRef idx="0">
            <a:scrgbClr r="0" g="0" b="0"/>
          </a:lnRef>
          <a:fillRef idx="0">
            <a:scrgbClr r="0" g="0" b="0"/>
          </a:fillRef>
          <a:effectRef idx="0">
            <a:scrgbClr r="0" g="0" b="0"/>
          </a:effectRef>
          <a:fontRef idx="minor"/>
        </p:style>
        <p:txBody>
          <a:bodyPr/>
          <a:lstStyle/>
          <a:p>
            <a:endParaRPr lang="en-US"/>
          </a:p>
        </p:txBody>
      </p:sp>
      <p:grpSp>
        <p:nvGrpSpPr>
          <p:cNvPr id="264" name="Group 13"/>
          <p:cNvGrpSpPr/>
          <p:nvPr/>
        </p:nvGrpSpPr>
        <p:grpSpPr>
          <a:xfrm>
            <a:off x="6807600" y="3190680"/>
            <a:ext cx="5317920" cy="3991680"/>
            <a:chOff x="6807600" y="3190680"/>
            <a:chExt cx="5317920" cy="3991680"/>
          </a:xfrm>
        </p:grpSpPr>
        <p:pic>
          <p:nvPicPr>
            <p:cNvPr id="265" name="Picture 8" descr="Image result for folder icon"/>
            <p:cNvPicPr/>
            <p:nvPr/>
          </p:nvPicPr>
          <p:blipFill>
            <a:blip r:embed="rId5"/>
            <a:stretch/>
          </p:blipFill>
          <p:spPr>
            <a:xfrm>
              <a:off x="6807600" y="3190680"/>
              <a:ext cx="5317920" cy="3991680"/>
            </a:xfrm>
            <a:prstGeom prst="rect">
              <a:avLst/>
            </a:prstGeom>
            <a:ln>
              <a:noFill/>
            </a:ln>
          </p:spPr>
        </p:pic>
        <p:pic>
          <p:nvPicPr>
            <p:cNvPr id="266" name="Picture 8"/>
            <p:cNvPicPr/>
            <p:nvPr/>
          </p:nvPicPr>
          <p:blipFill>
            <a:blip r:embed="rId6"/>
            <a:srcRect l="17489" t="22534" r="39265" b="2756"/>
            <a:stretch/>
          </p:blipFill>
          <p:spPr>
            <a:xfrm>
              <a:off x="9524880" y="4644720"/>
              <a:ext cx="2177640" cy="1719720"/>
            </a:xfrm>
            <a:prstGeom prst="rect">
              <a:avLst/>
            </a:prstGeom>
            <a:ln>
              <a:solidFill>
                <a:schemeClr val="accent1"/>
              </a:solidFill>
            </a:ln>
          </p:spPr>
        </p:pic>
        <p:sp>
          <p:nvSpPr>
            <p:cNvPr id="267" name="CustomShape 14"/>
            <p:cNvSpPr/>
            <p:nvPr/>
          </p:nvSpPr>
          <p:spPr>
            <a:xfrm>
              <a:off x="9441720" y="417276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Re-Named Images</a:t>
              </a:r>
              <a:endParaRPr lang="en-US" sz="1800" b="0" strike="noStrike" spc="-1">
                <a:solidFill>
                  <a:srgbClr val="000000"/>
                </a:solidFill>
                <a:latin typeface="Arial"/>
              </a:endParaRPr>
            </a:p>
          </p:txBody>
        </p:sp>
        <p:sp>
          <p:nvSpPr>
            <p:cNvPr id="268" name="CustomShape 15"/>
            <p:cNvSpPr/>
            <p:nvPr/>
          </p:nvSpPr>
          <p:spPr>
            <a:xfrm>
              <a:off x="7733880" y="415620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Catalog</a:t>
              </a:r>
              <a:endParaRPr lang="en-US" sz="1800" b="0" strike="noStrike" spc="-1">
                <a:solidFill>
                  <a:srgbClr val="000000"/>
                </a:solidFill>
                <a:latin typeface="Arial"/>
              </a:endParaRPr>
            </a:p>
          </p:txBody>
        </p:sp>
        <p:pic>
          <p:nvPicPr>
            <p:cNvPr id="269" name="Picture 4" descr="Image result for csv icon"/>
            <p:cNvPicPr/>
            <p:nvPr/>
          </p:nvPicPr>
          <p:blipFill>
            <a:blip r:embed="rId7"/>
            <a:stretch/>
          </p:blipFill>
          <p:spPr>
            <a:xfrm>
              <a:off x="7528680" y="4542120"/>
              <a:ext cx="1951560" cy="1951560"/>
            </a:xfrm>
            <a:prstGeom prst="rect">
              <a:avLst/>
            </a:prstGeom>
            <a:ln>
              <a:noFill/>
            </a:ln>
          </p:spPr>
        </p:pic>
        <p:sp>
          <p:nvSpPr>
            <p:cNvPr id="270" name="CustomShape 16"/>
            <p:cNvSpPr/>
            <p:nvPr/>
          </p:nvSpPr>
          <p:spPr>
            <a:xfrm>
              <a:off x="7118280" y="378108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20180212</a:t>
              </a:r>
              <a:endParaRPr lang="en-US" sz="1800" b="0" strike="noStrike" spc="-1">
                <a:solidFill>
                  <a:srgbClr val="000000"/>
                </a:solidFill>
                <a:latin typeface="Arial"/>
              </a:endParaRPr>
            </a:p>
          </p:txBody>
        </p:sp>
      </p:grpSp>
      <p:sp>
        <p:nvSpPr>
          <p:cNvPr id="271" name="CustomShape 17"/>
          <p:cNvSpPr/>
          <p:nvPr/>
        </p:nvSpPr>
        <p:spPr>
          <a:xfrm>
            <a:off x="4723200" y="483696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Batch </a:t>
            </a:r>
            <a:br/>
            <a:r>
              <a:rPr lang="en-US" sz="2400" b="1" strike="noStrike" spc="-1">
                <a:solidFill>
                  <a:srgbClr val="595959"/>
                </a:solidFill>
                <a:latin typeface="Agency FB"/>
              </a:rPr>
              <a:t>Rough Archive </a:t>
            </a:r>
            <a:endParaRPr lang="en-US" sz="2400" b="0" strike="noStrike" spc="-1">
              <a:solidFill>
                <a:srgbClr val="000000"/>
              </a:solidFill>
              <a:latin typeface="Arial"/>
            </a:endParaRPr>
          </a:p>
        </p:txBody>
      </p:sp>
      <p:sp>
        <p:nvSpPr>
          <p:cNvPr id="272" name="CustomShape 18"/>
          <p:cNvSpPr/>
          <p:nvPr/>
        </p:nvSpPr>
        <p:spPr>
          <a:xfrm>
            <a:off x="5884560" y="4021920"/>
            <a:ext cx="1667160" cy="89316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73" name="TextShape 19"/>
          <p:cNvSpPr txBox="1"/>
          <p:nvPr/>
        </p:nvSpPr>
        <p:spPr>
          <a:xfrm>
            <a:off x="5441760" y="6390360"/>
            <a:ext cx="1247040" cy="364680"/>
          </a:xfrm>
          <a:prstGeom prst="rect">
            <a:avLst/>
          </a:prstGeom>
          <a:noFill/>
          <a:ln>
            <a:noFill/>
          </a:ln>
        </p:spPr>
        <p:txBody>
          <a:bodyPr anchor="ctr">
            <a:noAutofit/>
          </a:bodyPr>
          <a:lstStyle/>
          <a:p>
            <a:pPr>
              <a:lnSpc>
                <a:spcPct val="100000"/>
              </a:lnSpc>
            </a:pPr>
            <a:fld id="{CF44CC73-2648-438C-9FB4-0311A9190E15}" type="datetime1">
              <a:rPr lang="en-US" sz="1200" b="0" strike="noStrike" spc="-1">
                <a:solidFill>
                  <a:srgbClr val="8B8B8B"/>
                </a:solidFill>
                <a:latin typeface="Calibri"/>
              </a:rPr>
              <a:t>9/1/2023</a:t>
            </a:fld>
            <a:endParaRPr lang="en-US" sz="1200" b="0" strike="noStrike" spc="-1">
              <a:latin typeface="Times New Roman"/>
            </a:endParaRPr>
          </a:p>
        </p:txBody>
      </p:sp>
      <p:sp>
        <p:nvSpPr>
          <p:cNvPr id="274" name="TextShape 20"/>
          <p:cNvSpPr txBox="1"/>
          <p:nvPr/>
        </p:nvSpPr>
        <p:spPr>
          <a:xfrm>
            <a:off x="255600" y="6390360"/>
            <a:ext cx="2742840" cy="364680"/>
          </a:xfrm>
          <a:prstGeom prst="rect">
            <a:avLst/>
          </a:prstGeom>
          <a:noFill/>
          <a:ln>
            <a:noFill/>
          </a:ln>
        </p:spPr>
        <p:txBody>
          <a:bodyPr anchor="ctr">
            <a:noAutofit/>
          </a:bodyPr>
          <a:lstStyle/>
          <a:p>
            <a:pPr>
              <a:lnSpc>
                <a:spcPct val="100000"/>
              </a:lnSpc>
            </a:pPr>
            <a:fld id="{099158C0-8524-4966-AB96-B655CBFC901E}" type="slidenum">
              <a:rPr lang="en-US" sz="1200" b="0" strike="noStrike" spc="-1">
                <a:solidFill>
                  <a:srgbClr val="8B8B8B"/>
                </a:solidFill>
                <a:latin typeface="Calibri"/>
              </a:rPr>
              <a:t>17</a:t>
            </a:fld>
            <a:endParaRPr lang="en-US" sz="1200" b="0" strike="noStrike" spc="-1">
              <a:latin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Create, Collect and Pre-Process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2251"/>
            <a:ext cx="3831391" cy="609383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new Place item. </a:t>
            </a:r>
          </a:p>
          <a:p>
            <a:pPr>
              <a:lnSpc>
                <a:spcPct val="100000"/>
              </a:lnSpc>
              <a:spcAft>
                <a:spcPts val="601"/>
              </a:spcAft>
            </a:pPr>
            <a:r>
              <a:rPr lang="en-US" spc="-1" dirty="0">
                <a:solidFill>
                  <a:srgbClr val="595959"/>
                </a:solidFill>
                <a:latin typeface="Agency FB"/>
              </a:rPr>
              <a:t>Create a folder to hold the media associated with each item you plan to create.</a:t>
            </a:r>
          </a:p>
          <a:p>
            <a:pPr>
              <a:lnSpc>
                <a:spcPct val="100000"/>
              </a:lnSpc>
              <a:spcAft>
                <a:spcPts val="601"/>
              </a:spcAft>
            </a:pPr>
            <a:r>
              <a:rPr lang="en-US" spc="-1" dirty="0">
                <a:solidFill>
                  <a:srgbClr val="595959"/>
                </a:solidFill>
                <a:latin typeface="Agency FB"/>
              </a:rPr>
              <a:t>Scan your pages or copy scans into folder. The names should contain an address or place name following the naming template and rules specified for the renaming tool.</a:t>
            </a:r>
          </a:p>
          <a:p>
            <a:pPr>
              <a:lnSpc>
                <a:spcPct val="100000"/>
              </a:lnSpc>
              <a:spcAft>
                <a:spcPts val="601"/>
              </a:spcAft>
            </a:pPr>
            <a:r>
              <a:rPr lang="en-US" spc="-1" dirty="0">
                <a:solidFill>
                  <a:srgbClr val="595959"/>
                </a:solidFill>
                <a:latin typeface="Agency FB"/>
              </a:rPr>
              <a:t>Use the Item Renaming tool to validate that a place exists with the indicated place name. </a:t>
            </a:r>
          </a:p>
          <a:p>
            <a:pPr>
              <a:lnSpc>
                <a:spcPct val="100000"/>
              </a:lnSpc>
              <a:spcAft>
                <a:spcPts val="601"/>
              </a:spcAft>
            </a:pPr>
            <a:r>
              <a:rPr lang="en-US" spc="-1" dirty="0">
                <a:solidFill>
                  <a:srgbClr val="595959"/>
                </a:solidFill>
                <a:latin typeface="Agency FB"/>
              </a:rPr>
              <a:t>assign the media files to an item and item type.</a:t>
            </a:r>
          </a:p>
          <a:p>
            <a:pPr>
              <a:lnSpc>
                <a:spcPct val="100000"/>
              </a:lnSpc>
              <a:spcAft>
                <a:spcPts val="601"/>
              </a:spcAft>
            </a:pPr>
            <a:r>
              <a:rPr lang="en-US" spc="-1" dirty="0">
                <a:solidFill>
                  <a:srgbClr val="595959"/>
                </a:solidFill>
                <a:latin typeface="Agency FB"/>
              </a:rPr>
              <a:t>The renaming tool generates a CSV manifest for the folder.  This file carries the information Omeka needs to create the item and assign paged media to it.  </a:t>
            </a:r>
          </a:p>
          <a:p>
            <a:pPr>
              <a:lnSpc>
                <a:spcPct val="100000"/>
              </a:lnSpc>
              <a:spcAft>
                <a:spcPts val="601"/>
              </a:spcAft>
            </a:pPr>
            <a:r>
              <a:rPr lang="en-US" spc="-1" dirty="0">
                <a:solidFill>
                  <a:srgbClr val="595959"/>
                </a:solidFill>
                <a:latin typeface="Agency FB"/>
              </a:rPr>
              <a:t>The folder is now a CDASH Accession Batch folder that can be uploaded to the server and imported into CDASH. </a:t>
            </a:r>
          </a:p>
        </p:txBody>
      </p:sp>
    </p:spTree>
    <p:extLst>
      <p:ext uri="{BB962C8B-B14F-4D97-AF65-F5344CB8AC3E}">
        <p14:creationId xmlns:p14="http://schemas.microsoft.com/office/powerpoint/2010/main" val="729709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A CDASH Document Item Accession Package (Batch)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455363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Document Items are a fundamental element of CDASH. </a:t>
            </a:r>
          </a:p>
          <a:p>
            <a:pPr>
              <a:lnSpc>
                <a:spcPct val="100000"/>
              </a:lnSpc>
              <a:spcAft>
                <a:spcPts val="601"/>
              </a:spcAft>
            </a:pPr>
            <a:r>
              <a:rPr lang="en-US" spc="-1" dirty="0">
                <a:solidFill>
                  <a:srgbClr val="595959"/>
                </a:solidFill>
                <a:latin typeface="Agency FB"/>
              </a:rPr>
              <a:t>A CDASH Document typically involves a sequence of scans representing the front and back of a photograph, or the pages of an article.  A document may be a single image file it may be a PDF document (preferably, </a:t>
            </a:r>
            <a:r>
              <a:rPr lang="en-US" spc="-1" dirty="0" err="1">
                <a:solidFill>
                  <a:srgbClr val="595959"/>
                </a:solidFill>
                <a:latin typeface="Agency FB"/>
              </a:rPr>
              <a:t>PDFa</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in CDASH bundles the pages together and associates these with a catalog record and other descriptive information about the </a:t>
            </a:r>
            <a:r>
              <a:rPr lang="en-US" spc="-1" dirty="0" err="1">
                <a:solidFill>
                  <a:srgbClr val="595959"/>
                </a:solidFill>
                <a:latin typeface="Agency FB"/>
              </a:rPr>
              <a:t>documement</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is also related to a CDASH Place– which is another sort of item that will be discussed in another part of this slideshow.   </a:t>
            </a:r>
          </a:p>
          <a:p>
            <a:pPr>
              <a:lnSpc>
                <a:spcPct val="100000"/>
              </a:lnSpc>
              <a:spcAft>
                <a:spcPts val="601"/>
              </a:spcAft>
            </a:pPr>
            <a:r>
              <a:rPr lang="en-US" spc="-1" dirty="0">
                <a:solidFill>
                  <a:srgbClr val="595959"/>
                </a:solidFill>
                <a:latin typeface="Agency FB"/>
              </a:rPr>
              <a:t>The task </a:t>
            </a:r>
          </a:p>
        </p:txBody>
      </p:sp>
    </p:spTree>
    <p:extLst>
      <p:ext uri="{BB962C8B-B14F-4D97-AF65-F5344CB8AC3E}">
        <p14:creationId xmlns:p14="http://schemas.microsoft.com/office/powerpoint/2010/main" val="38834134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Geocode Addresses and Supplement Master Address List  </a:t>
            </a:r>
            <a:br/>
            <a:r>
              <a:rPr lang="en-US" sz="2000" b="1" strike="noStrike" spc="-1">
                <a:solidFill>
                  <a:srgbClr val="2E75B6"/>
                </a:solidFill>
                <a:latin typeface="Calibri"/>
              </a:rPr>
              <a:t>(Using Cambridge Master Address File and Assessing Property Addresses)</a:t>
            </a:r>
            <a:endParaRPr lang="en-US" sz="2000" b="0" strike="noStrike" spc="-1">
              <a:solidFill>
                <a:srgbClr val="000000"/>
              </a:solidFill>
              <a:latin typeface="Arial"/>
            </a:endParaRPr>
          </a:p>
        </p:txBody>
      </p:sp>
      <p:pic>
        <p:nvPicPr>
          <p:cNvPr id="222" name="Picture 1"/>
          <p:cNvPicPr/>
          <p:nvPr/>
        </p:nvPicPr>
        <p:blipFill>
          <a:blip r:embed="rId2"/>
          <a:stretch/>
        </p:blipFill>
        <p:spPr>
          <a:xfrm>
            <a:off x="4100400" y="1119960"/>
            <a:ext cx="1784160" cy="2049120"/>
          </a:xfrm>
          <a:prstGeom prst="rect">
            <a:avLst/>
          </a:prstGeom>
          <a:ln>
            <a:noFill/>
          </a:ln>
        </p:spPr>
      </p:pic>
      <p:pic>
        <p:nvPicPr>
          <p:cNvPr id="223" name="Picture 2"/>
          <p:cNvPicPr/>
          <p:nvPr/>
        </p:nvPicPr>
        <p:blipFill>
          <a:blip r:embed="rId3"/>
          <a:stretch/>
        </p:blipFill>
        <p:spPr>
          <a:xfrm>
            <a:off x="6013080" y="1035360"/>
            <a:ext cx="4856760" cy="2218680"/>
          </a:xfrm>
          <a:prstGeom prst="rect">
            <a:avLst/>
          </a:prstGeom>
          <a:ln>
            <a:noFill/>
          </a:ln>
        </p:spPr>
      </p:pic>
      <p:sp>
        <p:nvSpPr>
          <p:cNvPr id="224" name="CustomShape 2"/>
          <p:cNvSpPr/>
          <p:nvPr/>
        </p:nvSpPr>
        <p:spPr>
          <a:xfrm>
            <a:off x="742320" y="2209680"/>
            <a:ext cx="269352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Many addresses match perfectly.  A sequence of steps deals with range addresses and interpolates non-matched house numbers, finally assigning a default location for addresses that find no match. </a:t>
            </a:r>
            <a:endParaRPr lang="en-US" sz="1800" b="0" strike="noStrike" spc="-1">
              <a:solidFill>
                <a:srgbClr val="000000"/>
              </a:solidFill>
              <a:latin typeface="Arial"/>
            </a:endParaRPr>
          </a:p>
        </p:txBody>
      </p:sp>
      <p:sp>
        <p:nvSpPr>
          <p:cNvPr id="225" name="CustomShape 3"/>
          <p:cNvSpPr/>
          <p:nvPr/>
        </p:nvSpPr>
        <p:spPr>
          <a:xfrm>
            <a:off x="742320" y="420588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Result is a dictionary of all CDASH Addresses with:</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Latitude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Longitude,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Map-Lot</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Building_ID</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Score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Note</a:t>
            </a:r>
            <a:endParaRPr lang="en-US" sz="1800" b="0" strike="noStrike" spc="-1">
              <a:solidFill>
                <a:srgbClr val="000000"/>
              </a:solidFill>
              <a:latin typeface="Arial"/>
            </a:endParaRPr>
          </a:p>
        </p:txBody>
      </p:sp>
      <p:pic>
        <p:nvPicPr>
          <p:cNvPr id="226" name="Picture 4"/>
          <p:cNvPicPr/>
          <p:nvPr/>
        </p:nvPicPr>
        <p:blipFill>
          <a:blip r:embed="rId4"/>
          <a:stretch/>
        </p:blipFill>
        <p:spPr>
          <a:xfrm>
            <a:off x="3967560" y="3481920"/>
            <a:ext cx="3908160" cy="2589480"/>
          </a:xfrm>
          <a:prstGeom prst="rect">
            <a:avLst/>
          </a:prstGeom>
          <a:ln>
            <a:noFill/>
          </a:ln>
        </p:spPr>
      </p:pic>
      <p:pic>
        <p:nvPicPr>
          <p:cNvPr id="227" name="Picture 5"/>
          <p:cNvPicPr/>
          <p:nvPr/>
        </p:nvPicPr>
        <p:blipFill>
          <a:blip r:embed="rId5"/>
          <a:stretch/>
        </p:blipFill>
        <p:spPr>
          <a:xfrm>
            <a:off x="8023320" y="3468960"/>
            <a:ext cx="3711600" cy="2598840"/>
          </a:xfrm>
          <a:prstGeom prst="rect">
            <a:avLst/>
          </a:prstGeom>
          <a:ln>
            <a:noFill/>
          </a:ln>
        </p:spPr>
      </p:pic>
      <p:sp>
        <p:nvSpPr>
          <p:cNvPr id="228" name="CustomShape 4"/>
          <p:cNvSpPr/>
          <p:nvPr/>
        </p:nvSpPr>
        <p:spPr>
          <a:xfrm>
            <a:off x="702000" y="95256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Python scripts match CDASH addresses with known address locations form Master Address File and Assessing Database</a:t>
            </a:r>
            <a:endParaRPr lang="en-US" sz="1800" b="0" strike="noStrike" spc="-1">
              <a:solidFill>
                <a:srgbClr val="000000"/>
              </a:solidFill>
              <a:latin typeface="Arial"/>
            </a:endParaRPr>
          </a:p>
        </p:txBody>
      </p:sp>
      <p:sp>
        <p:nvSpPr>
          <p:cNvPr id="229"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15495166-4D14-403E-AE21-56969ED017D9}" type="datetime1">
              <a:rPr lang="en-US" sz="1200" b="0" strike="noStrike" spc="-1">
                <a:solidFill>
                  <a:srgbClr val="8B8B8B"/>
                </a:solidFill>
                <a:latin typeface="Calibri"/>
              </a:rPr>
              <a:t>9/1/2023</a:t>
            </a:fld>
            <a:endParaRPr lang="en-US" sz="1200" b="0" strike="noStrike" spc="-1">
              <a:latin typeface="Times New Roman"/>
            </a:endParaRPr>
          </a:p>
        </p:txBody>
      </p:sp>
      <p:sp>
        <p:nvSpPr>
          <p:cNvPr id="230"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F49A4AF6-2323-48F5-B928-F9121AEDFECF}" type="slidenum">
              <a:rPr lang="en-US" sz="1200" b="0" strike="noStrike" spc="-1">
                <a:solidFill>
                  <a:srgbClr val="8B8B8B"/>
                </a:solidFill>
                <a:latin typeface="Calibri"/>
              </a:rPr>
              <a:t>20</a:t>
            </a:fld>
            <a:endParaRPr lang="en-US" sz="1200" b="0" strike="noStrike" spc="-1">
              <a:latin typeface="Times New Roman"/>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3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Correction and Augmentation of Address and Street Layers Using GIS</a:t>
            </a:r>
            <a:br/>
            <a:r>
              <a:rPr lang="en-US" sz="2000" b="1" strike="noStrike" spc="-1">
                <a:solidFill>
                  <a:srgbClr val="2E75B6"/>
                </a:solidFill>
                <a:latin typeface="Calibri"/>
              </a:rPr>
              <a:t>(Extending Cambridge Master Address File and Street Centerlines)</a:t>
            </a:r>
            <a:endParaRPr lang="en-US" sz="2000" b="0" strike="noStrike" spc="-1">
              <a:solidFill>
                <a:srgbClr val="000000"/>
              </a:solidFill>
              <a:latin typeface="Arial"/>
            </a:endParaRPr>
          </a:p>
        </p:txBody>
      </p:sp>
      <p:sp>
        <p:nvSpPr>
          <p:cNvPr id="232" name="CustomShape 2"/>
          <p:cNvSpPr/>
          <p:nvPr/>
        </p:nvSpPr>
        <p:spPr>
          <a:xfrm>
            <a:off x="779040" y="953640"/>
            <a:ext cx="2693520" cy="532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799"/>
              </a:spcAft>
            </a:pPr>
            <a:r>
              <a:rPr lang="en-US" sz="1600" b="0" strike="noStrike" spc="-1">
                <a:solidFill>
                  <a:srgbClr val="595959"/>
                </a:solidFill>
                <a:latin typeface="Agency FB"/>
              </a:rPr>
              <a:t>The CDASH Address Dictionary is opened in ArcMap</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Addresses with low scores are corrected.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Non-Address locations, like water bodies, parks, etc. have names applied.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GIS Overlay techniques are used to assign official district and historic landmark designations to addresses that fall within GIS layers of historic building information,  Titles and names for these locations are assigned.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Assessing information is assigned to re-located address points.</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Historical street names are added to a CHC Street Centerlines layer.</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At the end we have additions to the Extended Address File that includes historic address locations.</a:t>
            </a:r>
            <a:endParaRPr lang="en-US" sz="1600" b="0" strike="noStrike" spc="-1">
              <a:solidFill>
                <a:srgbClr val="000000"/>
              </a:solidFill>
              <a:latin typeface="Arial"/>
            </a:endParaRPr>
          </a:p>
        </p:txBody>
      </p:sp>
      <p:pic>
        <p:nvPicPr>
          <p:cNvPr id="233" name="Picture 3"/>
          <p:cNvPicPr/>
          <p:nvPr/>
        </p:nvPicPr>
        <p:blipFill>
          <a:blip r:embed="rId2"/>
          <a:stretch/>
        </p:blipFill>
        <p:spPr>
          <a:xfrm>
            <a:off x="4140720" y="3764160"/>
            <a:ext cx="3572640" cy="2525040"/>
          </a:xfrm>
          <a:prstGeom prst="rect">
            <a:avLst/>
          </a:prstGeom>
          <a:ln>
            <a:noFill/>
          </a:ln>
        </p:spPr>
      </p:pic>
      <p:sp>
        <p:nvSpPr>
          <p:cNvPr id="234" name="CustomShape 3"/>
          <p:cNvSpPr/>
          <p:nvPr/>
        </p:nvSpPr>
        <p:spPr>
          <a:xfrm>
            <a:off x="8619840" y="3745440"/>
            <a:ext cx="3427560" cy="2518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Assessing Parcels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Neighborhood conservation districts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Landmark Easements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Landmarks (not shown)</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Register</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District</a:t>
            </a:r>
            <a:endParaRPr lang="en-US" sz="1800" b="0" strike="noStrike" spc="-1">
              <a:solidFill>
                <a:srgbClr val="000000"/>
              </a:solidFill>
              <a:latin typeface="Arial"/>
            </a:endParaRPr>
          </a:p>
        </p:txBody>
      </p:sp>
      <p:sp>
        <p:nvSpPr>
          <p:cNvPr id="235" name="CustomShape 4"/>
          <p:cNvSpPr/>
          <p:nvPr/>
        </p:nvSpPr>
        <p:spPr>
          <a:xfrm flipH="1">
            <a:off x="6232680" y="4940280"/>
            <a:ext cx="24505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6" name="CustomShape 5"/>
          <p:cNvSpPr/>
          <p:nvPr/>
        </p:nvSpPr>
        <p:spPr>
          <a:xfrm flipH="1">
            <a:off x="7288560" y="3931560"/>
            <a:ext cx="13777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7" name="CustomShape 6"/>
          <p:cNvSpPr/>
          <p:nvPr/>
        </p:nvSpPr>
        <p:spPr>
          <a:xfrm flipH="1" flipV="1">
            <a:off x="6831720" y="6073920"/>
            <a:ext cx="1834920" cy="126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8" name="CustomShape 7"/>
          <p:cNvSpPr/>
          <p:nvPr/>
        </p:nvSpPr>
        <p:spPr>
          <a:xfrm flipH="1">
            <a:off x="6856200" y="4317840"/>
            <a:ext cx="182736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9" name="CustomShape 8"/>
          <p:cNvSpPr/>
          <p:nvPr/>
        </p:nvSpPr>
        <p:spPr>
          <a:xfrm flipH="1" flipV="1">
            <a:off x="5020200" y="5708880"/>
            <a:ext cx="3670200" cy="90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240" name="Picture 29"/>
          <p:cNvPicPr/>
          <p:nvPr/>
        </p:nvPicPr>
        <p:blipFill>
          <a:blip r:embed="rId3"/>
          <a:stretch/>
        </p:blipFill>
        <p:spPr>
          <a:xfrm>
            <a:off x="8328600" y="1033920"/>
            <a:ext cx="3118320" cy="2241720"/>
          </a:xfrm>
          <a:prstGeom prst="rect">
            <a:avLst/>
          </a:prstGeom>
          <a:ln>
            <a:noFill/>
          </a:ln>
        </p:spPr>
      </p:pic>
      <p:pic>
        <p:nvPicPr>
          <p:cNvPr id="241" name="Picture 30"/>
          <p:cNvPicPr/>
          <p:nvPr/>
        </p:nvPicPr>
        <p:blipFill>
          <a:blip r:embed="rId4"/>
          <a:stretch/>
        </p:blipFill>
        <p:spPr>
          <a:xfrm>
            <a:off x="4140720" y="1099800"/>
            <a:ext cx="3520080" cy="2479680"/>
          </a:xfrm>
          <a:prstGeom prst="rect">
            <a:avLst/>
          </a:prstGeom>
          <a:ln>
            <a:noFill/>
          </a:ln>
        </p:spPr>
      </p:pic>
      <p:sp>
        <p:nvSpPr>
          <p:cNvPr id="242" name="CustomShape 9"/>
          <p:cNvSpPr/>
          <p:nvPr/>
        </p:nvSpPr>
        <p:spPr>
          <a:xfrm rot="1999200">
            <a:off x="5759280" y="2061360"/>
            <a:ext cx="160452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Abandoned Streets</a:t>
            </a:r>
            <a:endParaRPr lang="en-US" sz="1400" b="0" strike="noStrike" spc="-1">
              <a:solidFill>
                <a:srgbClr val="000000"/>
              </a:solidFill>
              <a:latin typeface="Arial"/>
            </a:endParaRPr>
          </a:p>
        </p:txBody>
      </p:sp>
      <p:sp>
        <p:nvSpPr>
          <p:cNvPr id="243" name="CustomShape 10"/>
          <p:cNvSpPr/>
          <p:nvPr/>
        </p:nvSpPr>
        <p:spPr>
          <a:xfrm>
            <a:off x="4311720" y="5852160"/>
            <a:ext cx="154044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Parcel Address Points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(Tax Assessor)</a:t>
            </a:r>
            <a:endParaRPr lang="en-US" sz="1400" b="0" strike="noStrike" spc="-1">
              <a:solidFill>
                <a:srgbClr val="000000"/>
              </a:solidFill>
              <a:latin typeface="Calibri"/>
              <a:ea typeface="Microsoft YaHei"/>
            </a:endParaRPr>
          </a:p>
        </p:txBody>
      </p:sp>
      <p:sp>
        <p:nvSpPr>
          <p:cNvPr id="244" name="CustomShape 11"/>
          <p:cNvSpPr/>
          <p:nvPr/>
        </p:nvSpPr>
        <p:spPr>
          <a:xfrm>
            <a:off x="4297680" y="4480560"/>
            <a:ext cx="154656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000000"/>
                </a:solidFill>
                <a:latin typeface="Calibri"/>
              </a:rPr>
              <a:t> Historic Addresses</a:t>
            </a:r>
            <a:endParaRPr lang="en-US" sz="1400" b="0" strike="noStrike" spc="-1">
              <a:solidFill>
                <a:srgbClr val="000000"/>
              </a:solidFill>
              <a:latin typeface="Arial"/>
            </a:endParaRPr>
          </a:p>
        </p:txBody>
      </p:sp>
      <p:sp>
        <p:nvSpPr>
          <p:cNvPr id="245" name="CustomShape 12"/>
          <p:cNvSpPr/>
          <p:nvPr/>
        </p:nvSpPr>
        <p:spPr>
          <a:xfrm rot="2011200">
            <a:off x="4803480" y="2107080"/>
            <a:ext cx="1449000" cy="303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Renamed Streets</a:t>
            </a:r>
            <a:endParaRPr lang="en-US" sz="1400" b="0" strike="noStrike" spc="-1">
              <a:solidFill>
                <a:srgbClr val="000000"/>
              </a:solidFill>
              <a:latin typeface="Arial"/>
            </a:endParaRPr>
          </a:p>
        </p:txBody>
      </p:sp>
      <p:sp>
        <p:nvSpPr>
          <p:cNvPr id="246" name="TextShape 13"/>
          <p:cNvSpPr txBox="1"/>
          <p:nvPr/>
        </p:nvSpPr>
        <p:spPr>
          <a:xfrm>
            <a:off x="5441760" y="6390360"/>
            <a:ext cx="1247040" cy="364680"/>
          </a:xfrm>
          <a:prstGeom prst="rect">
            <a:avLst/>
          </a:prstGeom>
          <a:noFill/>
          <a:ln>
            <a:noFill/>
          </a:ln>
        </p:spPr>
        <p:txBody>
          <a:bodyPr anchor="ctr">
            <a:noAutofit/>
          </a:bodyPr>
          <a:lstStyle/>
          <a:p>
            <a:pPr>
              <a:lnSpc>
                <a:spcPct val="100000"/>
              </a:lnSpc>
            </a:pPr>
            <a:fld id="{56124DF6-4D50-4FB8-A36F-865CB437A5A1}" type="datetime1">
              <a:rPr lang="en-US" sz="1200" b="0" strike="noStrike" spc="-1">
                <a:solidFill>
                  <a:srgbClr val="8B8B8B"/>
                </a:solidFill>
                <a:latin typeface="Calibri"/>
              </a:rPr>
              <a:t>9/1/2023</a:t>
            </a:fld>
            <a:endParaRPr lang="en-US" sz="1200" b="0" strike="noStrike" spc="-1">
              <a:latin typeface="Times New Roman"/>
            </a:endParaRPr>
          </a:p>
        </p:txBody>
      </p:sp>
      <p:sp>
        <p:nvSpPr>
          <p:cNvPr id="247" name="TextShape 14"/>
          <p:cNvSpPr txBox="1"/>
          <p:nvPr/>
        </p:nvSpPr>
        <p:spPr>
          <a:xfrm>
            <a:off x="255600" y="6390360"/>
            <a:ext cx="2742840" cy="364680"/>
          </a:xfrm>
          <a:prstGeom prst="rect">
            <a:avLst/>
          </a:prstGeom>
          <a:noFill/>
          <a:ln>
            <a:noFill/>
          </a:ln>
        </p:spPr>
        <p:txBody>
          <a:bodyPr anchor="ctr">
            <a:noAutofit/>
          </a:bodyPr>
          <a:lstStyle/>
          <a:p>
            <a:pPr>
              <a:lnSpc>
                <a:spcPct val="100000"/>
              </a:lnSpc>
            </a:pPr>
            <a:fld id="{8F2FABEC-B2FA-4A4B-A5C3-468BB7896EDA}" type="slidenum">
              <a:rPr lang="en-US" sz="1200" b="0" strike="noStrike" spc="-1">
                <a:solidFill>
                  <a:srgbClr val="8B8B8B"/>
                </a:solidFill>
                <a:latin typeface="Calibri"/>
              </a:rPr>
              <a:t>21</a:t>
            </a:fld>
            <a:endParaRPr lang="en-US" sz="1200" b="0" strike="noStrike" spc="-1">
              <a:latin typeface="Times New Roman"/>
            </a:endParaRPr>
          </a:p>
        </p:txBody>
      </p:sp>
      <p:sp>
        <p:nvSpPr>
          <p:cNvPr id="248" name="CustomShape 15"/>
          <p:cNvSpPr/>
          <p:nvPr/>
        </p:nvSpPr>
        <p:spPr>
          <a:xfrm>
            <a:off x="4282920" y="3940920"/>
            <a:ext cx="220932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Addresses of curent entryways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(Cambridge GIS) </a:t>
            </a:r>
            <a:endParaRPr lang="en-US" sz="1400" b="0" strike="noStrike" spc="-1">
              <a:solidFill>
                <a:srgbClr val="000000"/>
              </a:solidFill>
              <a:latin typeface="Calibri"/>
              <a:ea typeface="Microsoft YaHe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Tour:  Delegate Admin and Contributor Privileges</a:t>
            </a:r>
            <a:endParaRPr lang="en-US" sz="2400" b="0" strike="noStrike" spc="-1">
              <a:solidFill>
                <a:srgbClr val="000000"/>
              </a:solidFill>
              <a:latin typeface="Arial"/>
            </a:endParaRPr>
          </a:p>
        </p:txBody>
      </p:sp>
      <p:sp>
        <p:nvSpPr>
          <p:cNvPr id="282" name="CustomShape 2"/>
          <p:cNvSpPr/>
          <p:nvPr/>
        </p:nvSpPr>
        <p:spPr>
          <a:xfrm>
            <a:off x="408600" y="8114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Control look, feel and Branding of site using pre-fab “</a:t>
            </a:r>
            <a:r>
              <a:rPr lang="en-US" sz="1800" b="1" u="sng" strike="noStrike" spc="-1">
                <a:solidFill>
                  <a:srgbClr val="399AFA"/>
                </a:solidFill>
                <a:uFillTx/>
                <a:latin typeface="Agency FB"/>
                <a:hlinkClick r:id="rId2"/>
              </a:rPr>
              <a:t>Themes</a:t>
            </a:r>
            <a:r>
              <a:rPr lang="en-US" sz="1800" b="1" strike="noStrike" spc="-1">
                <a:solidFill>
                  <a:srgbClr val="595959"/>
                </a:solidFill>
                <a:latin typeface="Agency FB"/>
              </a:rPr>
              <a:t>”</a:t>
            </a:r>
            <a:endParaRPr lang="en-US" sz="1800" b="0" strike="noStrike" spc="-1">
              <a:solidFill>
                <a:srgbClr val="000000"/>
              </a:solidFill>
              <a:latin typeface="Arial"/>
            </a:endParaRPr>
          </a:p>
        </p:txBody>
      </p:sp>
      <p:pic>
        <p:nvPicPr>
          <p:cNvPr id="283" name="Picture 7"/>
          <p:cNvPicPr/>
          <p:nvPr/>
        </p:nvPicPr>
        <p:blipFill>
          <a:blip r:embed="rId3"/>
          <a:srcRect b="24635"/>
          <a:stretch/>
        </p:blipFill>
        <p:spPr>
          <a:xfrm>
            <a:off x="3270960" y="994680"/>
            <a:ext cx="8512200" cy="4609080"/>
          </a:xfrm>
          <a:prstGeom prst="rect">
            <a:avLst/>
          </a:prstGeom>
          <a:ln>
            <a:noFill/>
          </a:ln>
        </p:spPr>
      </p:pic>
      <p:pic>
        <p:nvPicPr>
          <p:cNvPr id="284" name="Picture 8"/>
          <p:cNvPicPr/>
          <p:nvPr/>
        </p:nvPicPr>
        <p:blipFill>
          <a:blip r:embed="rId4"/>
          <a:stretch/>
        </p:blipFill>
        <p:spPr>
          <a:xfrm>
            <a:off x="7527240" y="3803760"/>
            <a:ext cx="4095000" cy="2593800"/>
          </a:xfrm>
          <a:prstGeom prst="rect">
            <a:avLst/>
          </a:prstGeom>
          <a:ln>
            <a:noFill/>
          </a:ln>
        </p:spPr>
      </p:pic>
      <p:sp>
        <p:nvSpPr>
          <p:cNvPr id="285" name="CustomShape 3"/>
          <p:cNvSpPr/>
          <p:nvPr/>
        </p:nvSpPr>
        <p:spPr>
          <a:xfrm>
            <a:off x="445680" y="15105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5"/>
              </a:rPr>
              <a:t>Create new Items</a:t>
            </a:r>
            <a:endParaRPr lang="en-US" sz="1800" b="0" strike="noStrike" spc="-1">
              <a:solidFill>
                <a:srgbClr val="000000"/>
              </a:solidFill>
              <a:latin typeface="Arial"/>
            </a:endParaRPr>
          </a:p>
        </p:txBody>
      </p:sp>
      <p:sp>
        <p:nvSpPr>
          <p:cNvPr id="286" name="CustomShape 4"/>
          <p:cNvSpPr/>
          <p:nvPr/>
        </p:nvSpPr>
        <p:spPr>
          <a:xfrm>
            <a:off x="408600" y="278532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6"/>
              </a:rPr>
              <a:t>Edit Metadata </a:t>
            </a:r>
            <a:r>
              <a:rPr lang="en-US" sz="1800" b="1" strike="noStrike" spc="-1">
                <a:solidFill>
                  <a:srgbClr val="595959"/>
                </a:solidFill>
                <a:latin typeface="Agency FB"/>
              </a:rPr>
              <a:t>and </a:t>
            </a:r>
            <a:r>
              <a:rPr lang="en-US" sz="1800" b="1" u="sng" strike="noStrike" spc="-1">
                <a:solidFill>
                  <a:srgbClr val="399AFA"/>
                </a:solidFill>
                <a:uFillTx/>
                <a:latin typeface="Agency FB"/>
                <a:hlinkClick r:id="rId7"/>
              </a:rPr>
              <a:t>Location Info </a:t>
            </a:r>
            <a:r>
              <a:rPr lang="en-US" sz="1800" b="1" strike="noStrike" spc="-1">
                <a:solidFill>
                  <a:srgbClr val="595959"/>
                </a:solidFill>
                <a:latin typeface="Agency FB"/>
              </a:rPr>
              <a:t>for Items </a:t>
            </a:r>
            <a:endParaRPr lang="en-US" sz="1800" b="0" strike="noStrike" spc="-1">
              <a:solidFill>
                <a:srgbClr val="000000"/>
              </a:solidFill>
              <a:latin typeface="Arial"/>
            </a:endParaRPr>
          </a:p>
        </p:txBody>
      </p:sp>
      <p:sp>
        <p:nvSpPr>
          <p:cNvPr id="287" name="CustomShape 5"/>
          <p:cNvSpPr/>
          <p:nvPr/>
        </p:nvSpPr>
        <p:spPr>
          <a:xfrm>
            <a:off x="408600" y="364680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8"/>
              </a:rPr>
              <a:t>Create New Item Types</a:t>
            </a:r>
            <a:endParaRPr lang="en-US" sz="1800" b="0" strike="noStrike" spc="-1">
              <a:solidFill>
                <a:srgbClr val="000000"/>
              </a:solidFill>
              <a:latin typeface="Arial"/>
            </a:endParaRPr>
          </a:p>
        </p:txBody>
      </p:sp>
      <p:sp>
        <p:nvSpPr>
          <p:cNvPr id="288" name="CustomShape 6"/>
          <p:cNvSpPr/>
          <p:nvPr/>
        </p:nvSpPr>
        <p:spPr>
          <a:xfrm>
            <a:off x="408600" y="43286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9"/>
              </a:rPr>
              <a:t>Create new metadata fields </a:t>
            </a:r>
            <a:r>
              <a:rPr lang="en-US" sz="1800" b="1" strike="noStrike" spc="-1">
                <a:solidFill>
                  <a:srgbClr val="595959"/>
                </a:solidFill>
                <a:latin typeface="Agency FB"/>
              </a:rPr>
              <a:t>and controlled lists  (MACRIS-ID) </a:t>
            </a:r>
            <a:endParaRPr lang="en-US" sz="1800" b="0" strike="noStrike" spc="-1">
              <a:solidFill>
                <a:srgbClr val="000000"/>
              </a:solidFill>
              <a:latin typeface="Arial"/>
            </a:endParaRPr>
          </a:p>
        </p:txBody>
      </p:sp>
      <p:sp>
        <p:nvSpPr>
          <p:cNvPr id="289" name="CustomShape 7"/>
          <p:cNvSpPr/>
          <p:nvPr/>
        </p:nvSpPr>
        <p:spPr>
          <a:xfrm>
            <a:off x="408600" y="514512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0"/>
              </a:rPr>
              <a:t>Inspect and Edit Tags Globally</a:t>
            </a:r>
            <a:endParaRPr lang="en-US" sz="1800" b="0" strike="noStrike" spc="-1">
              <a:solidFill>
                <a:srgbClr val="000000"/>
              </a:solidFill>
              <a:latin typeface="Arial"/>
            </a:endParaRPr>
          </a:p>
        </p:txBody>
      </p:sp>
      <p:sp>
        <p:nvSpPr>
          <p:cNvPr id="290" name="CustomShape 8"/>
          <p:cNvSpPr/>
          <p:nvPr/>
        </p:nvSpPr>
        <p:spPr>
          <a:xfrm>
            <a:off x="445680" y="205020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1"/>
              </a:rPr>
              <a:t>Upload Files </a:t>
            </a:r>
            <a:r>
              <a:rPr lang="en-US" sz="1800" b="1" strike="noStrike" spc="-1">
                <a:solidFill>
                  <a:srgbClr val="595959"/>
                </a:solidFill>
                <a:latin typeface="Agency FB"/>
              </a:rPr>
              <a:t>(associate them with Items) </a:t>
            </a:r>
            <a:endParaRPr lang="en-US" sz="1800" b="0" strike="noStrike" spc="-1">
              <a:solidFill>
                <a:srgbClr val="000000"/>
              </a:solidFill>
              <a:latin typeface="Arial"/>
            </a:endParaRPr>
          </a:p>
        </p:txBody>
      </p:sp>
      <p:sp>
        <p:nvSpPr>
          <p:cNvPr id="291" name="CustomShape 9"/>
          <p:cNvSpPr/>
          <p:nvPr/>
        </p:nvSpPr>
        <p:spPr>
          <a:xfrm>
            <a:off x="408600" y="58251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2"/>
              </a:rPr>
              <a:t>More Omeka Documentation</a:t>
            </a:r>
            <a:endParaRPr lang="en-US" sz="1800" b="0" strike="noStrike" spc="-1">
              <a:solidFill>
                <a:srgbClr val="000000"/>
              </a:solidFill>
              <a:latin typeface="Arial"/>
            </a:endParaRPr>
          </a:p>
        </p:txBody>
      </p:sp>
      <p:sp>
        <p:nvSpPr>
          <p:cNvPr id="292" name="TextShape 10"/>
          <p:cNvSpPr txBox="1"/>
          <p:nvPr/>
        </p:nvSpPr>
        <p:spPr>
          <a:xfrm>
            <a:off x="5441760" y="6390360"/>
            <a:ext cx="1247040" cy="364680"/>
          </a:xfrm>
          <a:prstGeom prst="rect">
            <a:avLst/>
          </a:prstGeom>
          <a:noFill/>
          <a:ln>
            <a:noFill/>
          </a:ln>
        </p:spPr>
        <p:txBody>
          <a:bodyPr anchor="ctr">
            <a:noAutofit/>
          </a:bodyPr>
          <a:lstStyle/>
          <a:p>
            <a:pPr>
              <a:lnSpc>
                <a:spcPct val="100000"/>
              </a:lnSpc>
            </a:pPr>
            <a:fld id="{8C18E8FD-51AC-4845-8578-7BB5360A4775}" type="datetime1">
              <a:rPr lang="en-US" sz="1200" b="0" strike="noStrike" spc="-1">
                <a:solidFill>
                  <a:srgbClr val="8B8B8B"/>
                </a:solidFill>
                <a:latin typeface="Calibri"/>
              </a:rPr>
              <a:t>9/1/2023</a:t>
            </a:fld>
            <a:endParaRPr lang="en-US" sz="1200" b="0" strike="noStrike" spc="-1">
              <a:latin typeface="Times New Roman"/>
            </a:endParaRPr>
          </a:p>
        </p:txBody>
      </p:sp>
      <p:sp>
        <p:nvSpPr>
          <p:cNvPr id="293" name="TextShape 11"/>
          <p:cNvSpPr txBox="1"/>
          <p:nvPr/>
        </p:nvSpPr>
        <p:spPr>
          <a:xfrm>
            <a:off x="255600" y="6390360"/>
            <a:ext cx="2742840" cy="364680"/>
          </a:xfrm>
          <a:prstGeom prst="rect">
            <a:avLst/>
          </a:prstGeom>
          <a:noFill/>
          <a:ln>
            <a:noFill/>
          </a:ln>
        </p:spPr>
        <p:txBody>
          <a:bodyPr anchor="ctr">
            <a:noAutofit/>
          </a:bodyPr>
          <a:lstStyle/>
          <a:p>
            <a:pPr>
              <a:lnSpc>
                <a:spcPct val="100000"/>
              </a:lnSpc>
            </a:pPr>
            <a:fld id="{92C17247-5F66-440E-80B9-8FD92DE3A046}" type="slidenum">
              <a:rPr lang="en-US" sz="1200" b="0" strike="noStrike" spc="-1">
                <a:solidFill>
                  <a:srgbClr val="8B8B8B"/>
                </a:solidFill>
                <a:latin typeface="Calibri"/>
              </a:rPr>
              <a:t>22</a:t>
            </a:fld>
            <a:endParaRPr lang="en-US" sz="1200" b="0" strike="noStrike" spc="-1">
              <a:latin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Beyond Omeka:  Open Archive Strategy</a:t>
            </a:r>
            <a:endParaRPr lang="en-US" sz="2400" b="0" strike="noStrike" spc="-1">
              <a:solidFill>
                <a:srgbClr val="000000"/>
              </a:solidFill>
              <a:latin typeface="Arial"/>
            </a:endParaRPr>
          </a:p>
        </p:txBody>
      </p:sp>
      <p:sp>
        <p:nvSpPr>
          <p:cNvPr id="295" name="CustomShape 2"/>
          <p:cNvSpPr/>
          <p:nvPr/>
        </p:nvSpPr>
        <p:spPr>
          <a:xfrm>
            <a:off x="361440" y="831240"/>
            <a:ext cx="3824280" cy="5576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The </a:t>
            </a:r>
            <a:r>
              <a:rPr lang="en-US" sz="1800" b="0" u="sng" strike="noStrike" spc="-1">
                <a:solidFill>
                  <a:srgbClr val="399AFA"/>
                </a:solidFill>
                <a:uFillTx/>
                <a:latin typeface="Agency FB"/>
                <a:hlinkClick r:id="rId2"/>
              </a:rPr>
              <a:t>Open Archive Initiative </a:t>
            </a:r>
            <a:r>
              <a:rPr lang="en-US" sz="1800" b="0" strike="noStrike" spc="-1">
                <a:solidFill>
                  <a:srgbClr val="595959"/>
                </a:solidFill>
                <a:latin typeface="Agency FB"/>
              </a:rPr>
              <a:t>  (OAI) provides a standard for exchanging resources and metadata between digital archive systems</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Following the OAI Protocol for Metadata Harvaesting (OAI-PMH) ensures that the collection does not not  become “locked in” to a specific software platform.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metadata template is based on crosswalk of the Omeka Base Resource and the Digital Commonwealth OAI Interchange template.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crosswalk template and other useful resources from digital commonwealth are available at </a:t>
            </a:r>
            <a:r>
              <a:rPr lang="en-US" sz="1800" b="0" u="sng" strike="noStrike" spc="-1">
                <a:solidFill>
                  <a:srgbClr val="399AFA"/>
                </a:solidFill>
                <a:uFillTx/>
                <a:latin typeface="Agency FB"/>
                <a:hlinkClick r:id="rId3"/>
              </a:rPr>
              <a:t>www.pbcGIS.com/cdash/crosswalk</a:t>
            </a:r>
            <a:r>
              <a:rPr lang="en-US" sz="1800" b="0" strike="noStrike" spc="-1">
                <a:solidFill>
                  <a:srgbClr val="595959"/>
                </a:solidFill>
                <a:latin typeface="Agency FB"/>
              </a:rPr>
              <a:t>.</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The C-Dash base resource template is used as a starting point for resource templates specialized for our various document types.  </a:t>
            </a:r>
            <a:endParaRPr lang="en-US" sz="1800" b="0" strike="noStrike" spc="-1">
              <a:solidFill>
                <a:srgbClr val="000000"/>
              </a:solidFill>
              <a:latin typeface="Arial"/>
            </a:endParaRPr>
          </a:p>
        </p:txBody>
      </p:sp>
      <p:sp>
        <p:nvSpPr>
          <p:cNvPr id="296" name="CustomShape 3"/>
          <p:cNvSpPr/>
          <p:nvPr/>
        </p:nvSpPr>
        <p:spPr>
          <a:xfrm>
            <a:off x="7327800" y="838800"/>
            <a:ext cx="235296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Develop </a:t>
            </a:r>
            <a:br/>
            <a:r>
              <a:rPr lang="en-US" sz="2400" b="1" strike="noStrike" spc="-1">
                <a:solidFill>
                  <a:srgbClr val="595959"/>
                </a:solidFill>
                <a:latin typeface="Agency FB"/>
              </a:rPr>
              <a:t>Catalog, Linking</a:t>
            </a:r>
            <a:endParaRPr lang="en-US" sz="2400" b="0" strike="noStrike" spc="-1">
              <a:solidFill>
                <a:srgbClr val="000000"/>
              </a:solidFill>
              <a:latin typeface="Arial"/>
            </a:endParaRPr>
          </a:p>
          <a:p>
            <a:pPr>
              <a:lnSpc>
                <a:spcPct val="100000"/>
              </a:lnSpc>
            </a:pPr>
            <a:r>
              <a:rPr lang="en-US" sz="2400" b="1" strike="noStrike" spc="-1">
                <a:solidFill>
                  <a:srgbClr val="595959"/>
                </a:solidFill>
                <a:latin typeface="Agency FB"/>
              </a:rPr>
              <a:t>&amp; Annotation</a:t>
            </a:r>
            <a:endParaRPr lang="en-US" sz="2400" b="0" strike="noStrike" spc="-1">
              <a:solidFill>
                <a:srgbClr val="000000"/>
              </a:solidFill>
              <a:latin typeface="Arial"/>
            </a:endParaRPr>
          </a:p>
        </p:txBody>
      </p:sp>
      <p:sp>
        <p:nvSpPr>
          <p:cNvPr id="297" name="CustomShape 4"/>
          <p:cNvSpPr/>
          <p:nvPr/>
        </p:nvSpPr>
        <p:spPr>
          <a:xfrm>
            <a:off x="4725720" y="113868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Import Rough Catalog</a:t>
            </a:r>
            <a:endParaRPr lang="en-US" sz="2400" b="0" strike="noStrike" spc="-1">
              <a:solidFill>
                <a:srgbClr val="000000"/>
              </a:solidFill>
              <a:latin typeface="Arial"/>
            </a:endParaRPr>
          </a:p>
        </p:txBody>
      </p:sp>
      <p:sp>
        <p:nvSpPr>
          <p:cNvPr id="298" name="CustomShape 5"/>
          <p:cNvSpPr/>
          <p:nvPr/>
        </p:nvSpPr>
        <p:spPr>
          <a:xfrm>
            <a:off x="9329040" y="1563840"/>
            <a:ext cx="2541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Publish OAI Packages </a:t>
            </a:r>
            <a:endParaRPr lang="en-US" sz="2400" b="0" strike="noStrike" spc="-1">
              <a:solidFill>
                <a:srgbClr val="000000"/>
              </a:solidFill>
              <a:latin typeface="Arial"/>
            </a:endParaRPr>
          </a:p>
        </p:txBody>
      </p:sp>
      <p:pic>
        <p:nvPicPr>
          <p:cNvPr id="299" name="Picture 4" descr="Image result for Cigital COmmonwealth"/>
          <p:cNvPicPr/>
          <p:nvPr/>
        </p:nvPicPr>
        <p:blipFill>
          <a:blip r:embed="rId4"/>
          <a:srcRect t="1596" b="28591"/>
          <a:stretch/>
        </p:blipFill>
        <p:spPr>
          <a:xfrm>
            <a:off x="6858000" y="5442480"/>
            <a:ext cx="1496880" cy="1045080"/>
          </a:xfrm>
          <a:prstGeom prst="rect">
            <a:avLst/>
          </a:prstGeom>
          <a:ln>
            <a:noFill/>
          </a:ln>
        </p:spPr>
      </p:pic>
      <p:sp>
        <p:nvSpPr>
          <p:cNvPr id="300" name="CustomShape 6"/>
          <p:cNvSpPr/>
          <p:nvPr/>
        </p:nvSpPr>
        <p:spPr>
          <a:xfrm>
            <a:off x="7956360" y="4460040"/>
            <a:ext cx="2352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OAI Harvest </a:t>
            </a:r>
            <a:endParaRPr lang="en-US" sz="2400" b="0" strike="noStrike" spc="-1">
              <a:solidFill>
                <a:srgbClr val="000000"/>
              </a:solidFill>
              <a:latin typeface="Arial"/>
            </a:endParaRPr>
          </a:p>
        </p:txBody>
      </p:sp>
      <p:grpSp>
        <p:nvGrpSpPr>
          <p:cNvPr id="301" name="Group 7"/>
          <p:cNvGrpSpPr/>
          <p:nvPr/>
        </p:nvGrpSpPr>
        <p:grpSpPr>
          <a:xfrm>
            <a:off x="9296280" y="1825920"/>
            <a:ext cx="2421000" cy="2117880"/>
            <a:chOff x="9296280" y="1825920"/>
            <a:chExt cx="2421000" cy="2117880"/>
          </a:xfrm>
        </p:grpSpPr>
        <p:pic>
          <p:nvPicPr>
            <p:cNvPr id="302" name="Picture 8" descr="Image result for folder icon"/>
            <p:cNvPicPr/>
            <p:nvPr/>
          </p:nvPicPr>
          <p:blipFill>
            <a:blip r:embed="rId5"/>
            <a:stretch/>
          </p:blipFill>
          <p:spPr>
            <a:xfrm>
              <a:off x="9296280" y="1825920"/>
              <a:ext cx="2421000" cy="2117880"/>
            </a:xfrm>
            <a:prstGeom prst="rect">
              <a:avLst/>
            </a:prstGeom>
            <a:ln>
              <a:noFill/>
            </a:ln>
          </p:spPr>
        </p:pic>
        <p:pic>
          <p:nvPicPr>
            <p:cNvPr id="303" name="Picture 26"/>
            <p:cNvPicPr/>
            <p:nvPr/>
          </p:nvPicPr>
          <p:blipFill>
            <a:blip r:embed="rId6"/>
            <a:srcRect l="17489" t="22534" r="39265" b="2756"/>
            <a:stretch/>
          </p:blipFill>
          <p:spPr>
            <a:xfrm>
              <a:off x="10309320" y="2565720"/>
              <a:ext cx="1245960" cy="983880"/>
            </a:xfrm>
            <a:prstGeom prst="rect">
              <a:avLst/>
            </a:prstGeom>
            <a:ln>
              <a:solidFill>
                <a:schemeClr val="accent1"/>
              </a:solidFill>
            </a:ln>
          </p:spPr>
        </p:pic>
        <p:sp>
          <p:nvSpPr>
            <p:cNvPr id="304" name="CustomShape 8"/>
            <p:cNvSpPr/>
            <p:nvPr/>
          </p:nvSpPr>
          <p:spPr>
            <a:xfrm>
              <a:off x="10204200" y="223884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05" name="CustomShape 9"/>
            <p:cNvSpPr/>
            <p:nvPr/>
          </p:nvSpPr>
          <p:spPr>
            <a:xfrm>
              <a:off x="9408960" y="2114640"/>
              <a:ext cx="1245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Improved</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06" name="Picture 4" descr="Image result for csv icon"/>
            <p:cNvPicPr/>
            <p:nvPr/>
          </p:nvPicPr>
          <p:blipFill>
            <a:blip r:embed="rId7"/>
            <a:stretch/>
          </p:blipFill>
          <p:spPr>
            <a:xfrm>
              <a:off x="9426600" y="2670840"/>
              <a:ext cx="853560" cy="853560"/>
            </a:xfrm>
            <a:prstGeom prst="rect">
              <a:avLst/>
            </a:prstGeom>
            <a:ln>
              <a:noFill/>
            </a:ln>
          </p:spPr>
        </p:pic>
      </p:grpSp>
      <p:pic>
        <p:nvPicPr>
          <p:cNvPr id="307" name="Picture 6" descr="Image result for dpla logo"/>
          <p:cNvPicPr/>
          <p:nvPr/>
        </p:nvPicPr>
        <p:blipFill>
          <a:blip r:embed="rId8"/>
          <a:stretch/>
        </p:blipFill>
        <p:spPr>
          <a:xfrm>
            <a:off x="5497200" y="5044680"/>
            <a:ext cx="1191960" cy="1045080"/>
          </a:xfrm>
          <a:prstGeom prst="rect">
            <a:avLst/>
          </a:prstGeom>
          <a:ln>
            <a:noFill/>
          </a:ln>
        </p:spPr>
      </p:pic>
      <p:grpSp>
        <p:nvGrpSpPr>
          <p:cNvPr id="308" name="Group 10"/>
          <p:cNvGrpSpPr/>
          <p:nvPr/>
        </p:nvGrpSpPr>
        <p:grpSpPr>
          <a:xfrm>
            <a:off x="5357520" y="4007160"/>
            <a:ext cx="2352960" cy="887040"/>
            <a:chOff x="5357520" y="4007160"/>
            <a:chExt cx="2352960" cy="887040"/>
          </a:xfrm>
        </p:grpSpPr>
        <p:pic>
          <p:nvPicPr>
            <p:cNvPr id="309" name="Picture 8" descr="Image result for application icon"/>
            <p:cNvPicPr/>
            <p:nvPr/>
          </p:nvPicPr>
          <p:blipFill>
            <a:blip r:embed="rId9"/>
            <a:stretch/>
          </p:blipFill>
          <p:spPr>
            <a:xfrm>
              <a:off x="5550480" y="4007160"/>
              <a:ext cx="815040" cy="887040"/>
            </a:xfrm>
            <a:prstGeom prst="rect">
              <a:avLst/>
            </a:prstGeom>
            <a:ln>
              <a:noFill/>
            </a:ln>
          </p:spPr>
        </p:pic>
        <p:sp>
          <p:nvSpPr>
            <p:cNvPr id="310" name="CustomShape 11"/>
            <p:cNvSpPr/>
            <p:nvPr/>
          </p:nvSpPr>
          <p:spPr>
            <a:xfrm>
              <a:off x="5357520" y="4219200"/>
              <a:ext cx="2352960" cy="57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600" b="0" strike="noStrike" spc="-1">
                  <a:solidFill>
                    <a:srgbClr val="595959"/>
                  </a:solidFill>
                  <a:latin typeface="Arial"/>
                </a:rPr>
                <a:t>Future Archive</a:t>
              </a:r>
              <a:br/>
              <a:r>
                <a:rPr lang="en-US" sz="1600" b="0" strike="noStrike" spc="-1">
                  <a:solidFill>
                    <a:srgbClr val="595959"/>
                  </a:solidFill>
                  <a:latin typeface="Arial"/>
                </a:rPr>
                <a:t>System</a:t>
              </a:r>
              <a:endParaRPr lang="en-US" sz="1600" b="0" strike="noStrike" spc="-1">
                <a:solidFill>
                  <a:srgbClr val="000000"/>
                </a:solidFill>
                <a:latin typeface="Arial"/>
              </a:endParaRPr>
            </a:p>
          </p:txBody>
        </p:sp>
      </p:grpSp>
      <p:sp>
        <p:nvSpPr>
          <p:cNvPr id="311" name="CustomShape 12"/>
          <p:cNvSpPr/>
          <p:nvPr/>
        </p:nvSpPr>
        <p:spPr>
          <a:xfrm>
            <a:off x="7356960" y="4675320"/>
            <a:ext cx="522000" cy="829440"/>
          </a:xfrm>
          <a:custGeom>
            <a:avLst/>
            <a:gdLst/>
            <a:ahLst/>
            <a:cxnLst/>
            <a:rect l="l" t="t" r="r" b="b"/>
            <a:pathLst>
              <a:path w="1450953" h="829788">
                <a:moveTo>
                  <a:pt x="9942" y="829788"/>
                </a:moveTo>
                <a:cubicBezTo>
                  <a:pt x="-74017" y="324592"/>
                  <a:pt x="371052" y="295646"/>
                  <a:pt x="1450952"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2" name="CustomShape 13"/>
          <p:cNvSpPr/>
          <p:nvPr/>
        </p:nvSpPr>
        <p:spPr>
          <a:xfrm>
            <a:off x="6800400" y="4413960"/>
            <a:ext cx="1098720" cy="252720"/>
          </a:xfrm>
          <a:custGeom>
            <a:avLst/>
            <a:gdLst/>
            <a:ahLst/>
            <a:cxnLst/>
            <a:rect l="l" t="t" r="r" b="b"/>
            <a:pathLst>
              <a:path w="3052678" h="253147">
                <a:moveTo>
                  <a:pt x="0" y="16135"/>
                </a:moveTo>
                <a:cubicBezTo>
                  <a:pt x="2243759" y="-31861"/>
                  <a:pt x="2016738" y="21565"/>
                  <a:pt x="3052678" y="253147"/>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3" name="CustomShape 14"/>
          <p:cNvSpPr/>
          <p:nvPr/>
        </p:nvSpPr>
        <p:spPr>
          <a:xfrm>
            <a:off x="6517080" y="4690080"/>
            <a:ext cx="1438920" cy="505440"/>
          </a:xfrm>
          <a:custGeom>
            <a:avLst/>
            <a:gdLst/>
            <a:ahLst/>
            <a:cxnLst/>
            <a:rect l="l" t="t" r="r" b="b"/>
            <a:pathLst>
              <a:path w="3874534" h="505938">
                <a:moveTo>
                  <a:pt x="0" y="505938"/>
                </a:moveTo>
                <a:cubicBezTo>
                  <a:pt x="709582" y="57892"/>
                  <a:pt x="1948190" y="28946"/>
                  <a:pt x="387453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4" name="CustomShape 15"/>
          <p:cNvSpPr/>
          <p:nvPr/>
        </p:nvSpPr>
        <p:spPr>
          <a:xfrm>
            <a:off x="9427680" y="3763080"/>
            <a:ext cx="1172160" cy="955080"/>
          </a:xfrm>
          <a:custGeom>
            <a:avLst/>
            <a:gdLst/>
            <a:ahLst/>
            <a:cxnLst/>
            <a:rect l="l" t="t" r="r" b="b"/>
            <a:pathLst>
              <a:path w="3156531" h="955454">
                <a:moveTo>
                  <a:pt x="0" y="944088"/>
                </a:moveTo>
                <a:cubicBezTo>
                  <a:pt x="1991731" y="1048492"/>
                  <a:pt x="3025196" y="409946"/>
                  <a:pt x="3156531"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5" name="CustomShape 16"/>
          <p:cNvSpPr/>
          <p:nvPr/>
        </p:nvSpPr>
        <p:spPr>
          <a:xfrm rot="13621800">
            <a:off x="9053280" y="2730960"/>
            <a:ext cx="342000" cy="399240"/>
          </a:xfrm>
          <a:custGeom>
            <a:avLst/>
            <a:gdLst/>
            <a:ahLst/>
            <a:cxnLst/>
            <a:rect l="l" t="t" r="r" b="b"/>
            <a:pathLst>
              <a:path w="922128" h="399477">
                <a:moveTo>
                  <a:pt x="0" y="399477"/>
                </a:moveTo>
                <a:cubicBezTo>
                  <a:pt x="855036" y="89237"/>
                  <a:pt x="312929" y="255491"/>
                  <a:pt x="922127"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6" name="CustomShape 17"/>
          <p:cNvSpPr/>
          <p:nvPr/>
        </p:nvSpPr>
        <p:spPr>
          <a:xfrm rot="16520400">
            <a:off x="7234560" y="2659320"/>
            <a:ext cx="51120" cy="645480"/>
          </a:xfrm>
          <a:custGeom>
            <a:avLst/>
            <a:gdLst/>
            <a:ahLst/>
            <a:cxnLst/>
            <a:rect l="l" t="t" r="r" b="b"/>
            <a:pathLst>
              <a:path w="138152" h="645911">
                <a:moveTo>
                  <a:pt x="134273" y="645911"/>
                </a:moveTo>
                <a:cubicBezTo>
                  <a:pt x="168732" y="259471"/>
                  <a:pt x="-39023" y="349249"/>
                  <a:pt x="657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317" name="Group 18"/>
          <p:cNvGrpSpPr/>
          <p:nvPr/>
        </p:nvGrpSpPr>
        <p:grpSpPr>
          <a:xfrm>
            <a:off x="4693680" y="1892880"/>
            <a:ext cx="2421000" cy="2117880"/>
            <a:chOff x="4693680" y="1892880"/>
            <a:chExt cx="2421000" cy="2117880"/>
          </a:xfrm>
        </p:grpSpPr>
        <p:pic>
          <p:nvPicPr>
            <p:cNvPr id="318" name="Picture 8" descr="Image result for folder icon"/>
            <p:cNvPicPr/>
            <p:nvPr/>
          </p:nvPicPr>
          <p:blipFill>
            <a:blip r:embed="rId5"/>
            <a:stretch/>
          </p:blipFill>
          <p:spPr>
            <a:xfrm>
              <a:off x="4693680" y="1892880"/>
              <a:ext cx="2421000" cy="2117880"/>
            </a:xfrm>
            <a:prstGeom prst="rect">
              <a:avLst/>
            </a:prstGeom>
            <a:ln>
              <a:noFill/>
            </a:ln>
          </p:spPr>
        </p:pic>
        <p:pic>
          <p:nvPicPr>
            <p:cNvPr id="319" name="Picture 8"/>
            <p:cNvPicPr/>
            <p:nvPr/>
          </p:nvPicPr>
          <p:blipFill>
            <a:blip r:embed="rId6"/>
            <a:srcRect l="17489" t="22534" r="39265" b="2756"/>
            <a:stretch/>
          </p:blipFill>
          <p:spPr>
            <a:xfrm>
              <a:off x="5707080" y="2633040"/>
              <a:ext cx="1245960" cy="983880"/>
            </a:xfrm>
            <a:prstGeom prst="rect">
              <a:avLst/>
            </a:prstGeom>
            <a:ln>
              <a:solidFill>
                <a:schemeClr val="accent1"/>
              </a:solidFill>
            </a:ln>
          </p:spPr>
        </p:pic>
        <p:sp>
          <p:nvSpPr>
            <p:cNvPr id="320" name="CustomShape 19"/>
            <p:cNvSpPr/>
            <p:nvPr/>
          </p:nvSpPr>
          <p:spPr>
            <a:xfrm>
              <a:off x="5601960" y="230580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21" name="CustomShape 20"/>
            <p:cNvSpPr/>
            <p:nvPr/>
          </p:nvSpPr>
          <p:spPr>
            <a:xfrm>
              <a:off x="4806360" y="2181960"/>
              <a:ext cx="9003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22" name="Picture 4" descr="Image result for csv icon"/>
            <p:cNvPicPr/>
            <p:nvPr/>
          </p:nvPicPr>
          <p:blipFill>
            <a:blip r:embed="rId7"/>
            <a:stretch/>
          </p:blipFill>
          <p:spPr>
            <a:xfrm>
              <a:off x="4824360" y="2738160"/>
              <a:ext cx="853560" cy="853560"/>
            </a:xfrm>
            <a:prstGeom prst="rect">
              <a:avLst/>
            </a:prstGeom>
            <a:ln>
              <a:noFill/>
            </a:ln>
          </p:spPr>
        </p:pic>
      </p:grpSp>
      <p:pic>
        <p:nvPicPr>
          <p:cNvPr id="323" name="Picture 2" descr="Image result for omeka-s logo"/>
          <p:cNvPicPr/>
          <p:nvPr/>
        </p:nvPicPr>
        <p:blipFill>
          <a:blip r:embed="rId10">
            <a:alphaModFix amt="62000"/>
          </a:blip>
          <a:stretch/>
        </p:blipFill>
        <p:spPr>
          <a:xfrm>
            <a:off x="7483680" y="2207880"/>
            <a:ext cx="1530360" cy="1530360"/>
          </a:xfrm>
          <a:prstGeom prst="rect">
            <a:avLst/>
          </a:prstGeom>
          <a:ln>
            <a:noFill/>
          </a:ln>
        </p:spPr>
      </p:pic>
      <p:sp>
        <p:nvSpPr>
          <p:cNvPr id="324" name="CustomShape 21"/>
          <p:cNvSpPr/>
          <p:nvPr/>
        </p:nvSpPr>
        <p:spPr>
          <a:xfrm>
            <a:off x="9261720" y="5044680"/>
            <a:ext cx="2548080" cy="1279080"/>
          </a:xfrm>
          <a:prstGeom prst="rect">
            <a:avLst/>
          </a:prstGeom>
          <a:solidFill>
            <a:schemeClr val="accent4">
              <a:lumMod val="40000"/>
              <a:lumOff val="60000"/>
            </a:schemeClr>
          </a:solidFill>
          <a:ln w="2556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Strategic Benefits:</a:t>
            </a:r>
            <a:endParaRPr lang="en-US" sz="24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Preservation &amp; Continuity</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sharing </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Linking &amp; Discovery</a:t>
            </a:r>
            <a:endParaRPr lang="en-US" sz="1800" b="0" strike="noStrike" spc="-1">
              <a:solidFill>
                <a:srgbClr val="000000"/>
              </a:solidFill>
              <a:latin typeface="Arial"/>
            </a:endParaRPr>
          </a:p>
        </p:txBody>
      </p:sp>
      <p:sp>
        <p:nvSpPr>
          <p:cNvPr id="325" name="TextShape 22"/>
          <p:cNvSpPr txBox="1"/>
          <p:nvPr/>
        </p:nvSpPr>
        <p:spPr>
          <a:xfrm>
            <a:off x="5441760" y="6390360"/>
            <a:ext cx="1247040" cy="364680"/>
          </a:xfrm>
          <a:prstGeom prst="rect">
            <a:avLst/>
          </a:prstGeom>
          <a:noFill/>
          <a:ln>
            <a:noFill/>
          </a:ln>
        </p:spPr>
        <p:txBody>
          <a:bodyPr anchor="ctr">
            <a:noAutofit/>
          </a:bodyPr>
          <a:lstStyle/>
          <a:p>
            <a:pPr>
              <a:lnSpc>
                <a:spcPct val="100000"/>
              </a:lnSpc>
            </a:pPr>
            <a:fld id="{73D95B9E-2CBC-45E6-9B14-29C4EFE98739}" type="datetime1">
              <a:rPr lang="en-US" sz="1200" b="0" strike="noStrike" spc="-1">
                <a:solidFill>
                  <a:srgbClr val="8B8B8B"/>
                </a:solidFill>
                <a:latin typeface="Calibri"/>
              </a:rPr>
              <a:t>9/1/2023</a:t>
            </a:fld>
            <a:endParaRPr lang="en-US" sz="1200" b="0" strike="noStrike" spc="-1">
              <a:latin typeface="Times New Roman"/>
            </a:endParaRPr>
          </a:p>
        </p:txBody>
      </p:sp>
      <p:sp>
        <p:nvSpPr>
          <p:cNvPr id="326" name="TextShape 23"/>
          <p:cNvSpPr txBox="1"/>
          <p:nvPr/>
        </p:nvSpPr>
        <p:spPr>
          <a:xfrm>
            <a:off x="255600" y="6390360"/>
            <a:ext cx="2742840" cy="364680"/>
          </a:xfrm>
          <a:prstGeom prst="rect">
            <a:avLst/>
          </a:prstGeom>
          <a:noFill/>
          <a:ln>
            <a:noFill/>
          </a:ln>
        </p:spPr>
        <p:txBody>
          <a:bodyPr anchor="ctr">
            <a:noAutofit/>
          </a:bodyPr>
          <a:lstStyle/>
          <a:p>
            <a:pPr>
              <a:lnSpc>
                <a:spcPct val="100000"/>
              </a:lnSpc>
            </a:pPr>
            <a:fld id="{82455A69-44B6-4442-9506-7891B28839D1}" type="slidenum">
              <a:rPr lang="en-US" sz="1200" b="0" strike="noStrike" spc="-1">
                <a:solidFill>
                  <a:srgbClr val="8B8B8B"/>
                </a:solidFill>
                <a:latin typeface="Calibri"/>
              </a:rPr>
              <a:t>23</a:t>
            </a:fld>
            <a:endParaRPr lang="en-US" sz="1200" b="0" strike="noStrike" spc="-1">
              <a:latin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CustomShape 1"/>
          <p:cNvSpPr/>
          <p:nvPr/>
        </p:nvSpPr>
        <p:spPr>
          <a:xfrm>
            <a:off x="4164840" y="578880"/>
            <a:ext cx="7827840" cy="611676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28" name="CustomShape 2"/>
          <p:cNvSpPr/>
          <p:nvPr/>
        </p:nvSpPr>
        <p:spPr>
          <a:xfrm>
            <a:off x="3767040" y="1523880"/>
            <a:ext cx="8857080" cy="3885120"/>
          </a:xfrm>
          <a:prstGeom prst="cloud">
            <a:avLst/>
          </a:prstGeom>
          <a:solidFill>
            <a:schemeClr val="accent1">
              <a:lumMod val="20000"/>
              <a:lumOff val="80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29" name="CustomShape 3"/>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Developing, Using and Preserving Historical Resources with Cloud Application</a:t>
            </a:r>
            <a:endParaRPr lang="en-US" sz="2400" b="0" strike="noStrike" spc="-1">
              <a:solidFill>
                <a:srgbClr val="000000"/>
              </a:solidFill>
              <a:latin typeface="Arial"/>
            </a:endParaRPr>
          </a:p>
        </p:txBody>
      </p:sp>
      <p:sp>
        <p:nvSpPr>
          <p:cNvPr id="330" name="CustomShape 4"/>
          <p:cNvSpPr/>
          <p:nvPr/>
        </p:nvSpPr>
        <p:spPr>
          <a:xfrm>
            <a:off x="412920" y="578880"/>
            <a:ext cx="3709080" cy="61254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The next phase of development for the C-Dash involves developing of a production system.  A few goals for this system include protecting information assets from:</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Disasters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Mistakes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Unplanned obsolescence of software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Existential dependence on Individuals or private firms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Our design addresses these goals in a Microsoft Azure Web Application </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Server maintenance and data redundancy are managed by Azure.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The application, data and documentation are easily understood by system administrators with off-the-shelf skills.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Recommend review of Cambridge IT department.</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Consider hosting Cambridge Azure Subscription.</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  </a:t>
            </a:r>
            <a:endParaRPr lang="en-US" sz="1800" b="0" strike="noStrike" spc="-1">
              <a:solidFill>
                <a:srgbClr val="000000"/>
              </a:solidFill>
              <a:latin typeface="Arial"/>
            </a:endParaRPr>
          </a:p>
        </p:txBody>
      </p:sp>
      <p:sp>
        <p:nvSpPr>
          <p:cNvPr id="331" name="CustomShape 5"/>
          <p:cNvSpPr/>
          <p:nvPr/>
        </p:nvSpPr>
        <p:spPr>
          <a:xfrm>
            <a:off x="8079480" y="1567080"/>
            <a:ext cx="190620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Scan Batches </a:t>
            </a:r>
            <a:br/>
            <a:r>
              <a:rPr lang="en-US" sz="1800" b="1" strike="noStrike" spc="-1">
                <a:solidFill>
                  <a:srgbClr val="333333"/>
                </a:solidFill>
                <a:latin typeface="Calibri"/>
              </a:rPr>
              <a:t>W/CSV Catalog Info </a:t>
            </a:r>
            <a:endParaRPr lang="en-US" sz="1800" b="1" strike="noStrike" spc="-1">
              <a:solidFill>
                <a:srgbClr val="333333"/>
              </a:solidFill>
              <a:latin typeface="Calibri"/>
              <a:ea typeface="Microsoft YaHei"/>
            </a:endParaRPr>
          </a:p>
        </p:txBody>
      </p:sp>
      <p:sp>
        <p:nvSpPr>
          <p:cNvPr id="332" name="CustomShape 6"/>
          <p:cNvSpPr/>
          <p:nvPr/>
        </p:nvSpPr>
        <p:spPr>
          <a:xfrm>
            <a:off x="7969320" y="2649600"/>
            <a:ext cx="2183400" cy="92052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r>
              <a:rPr lang="en-US" sz="1800" b="1" strike="noStrike" spc="-1">
                <a:solidFill>
                  <a:srgbClr val="333333"/>
                </a:solidFill>
                <a:latin typeface="Calibri"/>
              </a:rPr>
              <a:t>Metadata and Exhibits </a:t>
            </a:r>
            <a:br/>
            <a:r>
              <a:rPr lang="en-US" sz="1800" b="1" strike="noStrike" spc="-1">
                <a:solidFill>
                  <a:srgbClr val="333333"/>
                </a:solidFill>
                <a:latin typeface="Calibri"/>
              </a:rPr>
              <a:t>Developed in Omeka</a:t>
            </a:r>
            <a:endParaRPr lang="en-US" sz="1800" b="1" strike="noStrike" spc="-1">
              <a:solidFill>
                <a:srgbClr val="333333"/>
              </a:solidFill>
              <a:latin typeface="Calibri"/>
              <a:ea typeface="Microsoft YaHei"/>
            </a:endParaRPr>
          </a:p>
        </p:txBody>
      </p:sp>
      <p:sp>
        <p:nvSpPr>
          <p:cNvPr id="333" name="CustomShape 7"/>
          <p:cNvSpPr/>
          <p:nvPr/>
        </p:nvSpPr>
        <p:spPr>
          <a:xfrm>
            <a:off x="8197200" y="3790800"/>
            <a:ext cx="68688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Omeka</a:t>
            </a:r>
            <a:br/>
            <a:r>
              <a:rPr lang="en-US" sz="1800" b="1" strike="noStrike" spc="-1">
                <a:solidFill>
                  <a:srgbClr val="333333"/>
                </a:solidFill>
                <a:latin typeface="Calibri"/>
              </a:rPr>
              <a:t>Backup</a:t>
            </a:r>
            <a:endParaRPr lang="en-US" sz="1800" b="1" strike="noStrike" spc="-1">
              <a:solidFill>
                <a:srgbClr val="333333"/>
              </a:solidFill>
              <a:latin typeface="Calibri"/>
              <a:ea typeface="Microsoft YaHei"/>
            </a:endParaRPr>
          </a:p>
        </p:txBody>
      </p:sp>
      <p:sp>
        <p:nvSpPr>
          <p:cNvPr id="334" name="CustomShape 8"/>
          <p:cNvSpPr/>
          <p:nvPr/>
        </p:nvSpPr>
        <p:spPr>
          <a:xfrm>
            <a:off x="10441440" y="7733520"/>
            <a:ext cx="215316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000000"/>
                </a:solidFill>
                <a:latin typeface="Calibri"/>
              </a:rPr>
              <a:t>Safe Cloud Storage</a:t>
            </a:r>
            <a:endParaRPr lang="en-US" sz="2000" b="0" strike="noStrike" spc="-1">
              <a:solidFill>
                <a:srgbClr val="000000"/>
              </a:solidFill>
              <a:latin typeface="Arial"/>
            </a:endParaRPr>
          </a:p>
        </p:txBody>
      </p:sp>
      <p:sp>
        <p:nvSpPr>
          <p:cNvPr id="335" name="CustomShape 9"/>
          <p:cNvSpPr/>
          <p:nvPr/>
        </p:nvSpPr>
        <p:spPr>
          <a:xfrm flipH="1">
            <a:off x="6831000" y="2016720"/>
            <a:ext cx="857520" cy="57420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36" name="CustomShape 10"/>
          <p:cNvSpPr/>
          <p:nvPr/>
        </p:nvSpPr>
        <p:spPr>
          <a:xfrm>
            <a:off x="6922800" y="3785400"/>
            <a:ext cx="857520" cy="6656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37" name="CustomShape 11"/>
          <p:cNvSpPr/>
          <p:nvPr/>
        </p:nvSpPr>
        <p:spPr>
          <a:xfrm rot="19538400">
            <a:off x="6702480" y="1933200"/>
            <a:ext cx="818280" cy="3643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Import</a:t>
            </a:r>
            <a:endParaRPr lang="en-US" sz="1800" b="0" strike="noStrike" spc="-1">
              <a:solidFill>
                <a:srgbClr val="000000"/>
              </a:solidFill>
              <a:latin typeface="Arial"/>
            </a:endParaRPr>
          </a:p>
        </p:txBody>
      </p:sp>
      <p:sp>
        <p:nvSpPr>
          <p:cNvPr id="338" name="CustomShape 12"/>
          <p:cNvSpPr/>
          <p:nvPr/>
        </p:nvSpPr>
        <p:spPr>
          <a:xfrm rot="2368800">
            <a:off x="6739560" y="3780000"/>
            <a:ext cx="1227960" cy="6393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Automated</a:t>
            </a:r>
            <a:br/>
            <a:r>
              <a:rPr lang="en-US" sz="1800" b="0" strike="noStrike" spc="-1">
                <a:solidFill>
                  <a:srgbClr val="000000"/>
                </a:solidFill>
                <a:latin typeface="Calibri"/>
              </a:rPr>
              <a:t>Snapshot</a:t>
            </a:r>
            <a:endParaRPr lang="en-US" sz="1800" b="0" strike="noStrike" spc="-1">
              <a:solidFill>
                <a:srgbClr val="000000"/>
              </a:solidFill>
              <a:latin typeface="Arial"/>
            </a:endParaRPr>
          </a:p>
        </p:txBody>
      </p:sp>
      <p:sp>
        <p:nvSpPr>
          <p:cNvPr id="339" name="CustomShape 13"/>
          <p:cNvSpPr/>
          <p:nvPr/>
        </p:nvSpPr>
        <p:spPr>
          <a:xfrm>
            <a:off x="10360080" y="2853000"/>
            <a:ext cx="896760" cy="89316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Azure</a:t>
            </a:r>
            <a:endParaRPr lang="en-US" sz="1800" b="0" strike="noStrike" spc="-1">
              <a:solidFill>
                <a:srgbClr val="000000"/>
              </a:solidFill>
              <a:latin typeface="Arial"/>
            </a:endParaRPr>
          </a:p>
          <a:p>
            <a:pPr algn="ctr"/>
            <a:r>
              <a:rPr lang="en-US" sz="1800" b="1" strike="noStrike" spc="-1">
                <a:solidFill>
                  <a:srgbClr val="333333"/>
                </a:solidFill>
                <a:latin typeface="Calibri"/>
              </a:rPr>
              <a:t>MySQL</a:t>
            </a:r>
            <a:endParaRPr lang="en-US" sz="1800" b="0" strike="noStrike" spc="-1">
              <a:solidFill>
                <a:srgbClr val="000000"/>
              </a:solidFill>
              <a:latin typeface="Arial"/>
            </a:endParaRPr>
          </a:p>
        </p:txBody>
      </p:sp>
      <p:sp>
        <p:nvSpPr>
          <p:cNvPr id="340" name="CustomShape 14"/>
          <p:cNvSpPr/>
          <p:nvPr/>
        </p:nvSpPr>
        <p:spPr>
          <a:xfrm>
            <a:off x="6890760" y="2798640"/>
            <a:ext cx="82080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41" name="CustomShape 15"/>
          <p:cNvSpPr/>
          <p:nvPr/>
        </p:nvSpPr>
        <p:spPr>
          <a:xfrm flipH="1">
            <a:off x="6851160" y="3541320"/>
            <a:ext cx="85932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42" name="CustomShape 16"/>
          <p:cNvSpPr/>
          <p:nvPr/>
        </p:nvSpPr>
        <p:spPr>
          <a:xfrm>
            <a:off x="6539400" y="2853000"/>
            <a:ext cx="1505520" cy="638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0" strike="noStrike" spc="-1">
                <a:solidFill>
                  <a:srgbClr val="000000"/>
                </a:solidFill>
                <a:latin typeface="Calibri"/>
              </a:rPr>
              <a:t>Item Creation,</a:t>
            </a:r>
            <a:endParaRPr lang="en-US" sz="1800" b="0" strike="noStrike" spc="-1">
              <a:solidFill>
                <a:srgbClr val="000000"/>
              </a:solidFill>
              <a:latin typeface="Arial"/>
            </a:endParaRPr>
          </a:p>
          <a:p>
            <a:pPr algn="ctr">
              <a:lnSpc>
                <a:spcPct val="100000"/>
              </a:lnSpc>
            </a:pPr>
            <a:r>
              <a:rPr lang="en-US" sz="1800" b="0" strike="noStrike" spc="-1">
                <a:solidFill>
                  <a:srgbClr val="000000"/>
                </a:solidFill>
                <a:latin typeface="Calibri"/>
              </a:rPr>
              <a:t>Enhancement</a:t>
            </a:r>
            <a:endParaRPr lang="en-US" sz="1800" b="0" strike="noStrike" spc="-1">
              <a:solidFill>
                <a:srgbClr val="000000"/>
              </a:solidFill>
              <a:latin typeface="Arial"/>
            </a:endParaRPr>
          </a:p>
        </p:txBody>
      </p:sp>
      <p:sp>
        <p:nvSpPr>
          <p:cNvPr id="343" name="CustomShape 17"/>
          <p:cNvSpPr/>
          <p:nvPr/>
        </p:nvSpPr>
        <p:spPr>
          <a:xfrm>
            <a:off x="9445680" y="4055040"/>
            <a:ext cx="1192680" cy="7714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Original</a:t>
            </a:r>
            <a:r>
              <a:rPr lang="en-US" sz="1800" b="0" strike="noStrike" spc="-1">
                <a:solidFill>
                  <a:srgbClr val="808080"/>
                </a:solidFill>
                <a:latin typeface="Calibri"/>
              </a:rPr>
              <a:t> </a:t>
            </a:r>
            <a:r>
              <a:rPr lang="en-US" sz="1800" b="1" strike="noStrike" spc="-1">
                <a:solidFill>
                  <a:srgbClr val="333333"/>
                </a:solidFill>
                <a:latin typeface="Calibri"/>
              </a:rPr>
              <a:t>Imports</a:t>
            </a:r>
            <a:endParaRPr lang="en-US" sz="1800" b="0" strike="noStrike" spc="-1">
              <a:solidFill>
                <a:srgbClr val="000000"/>
              </a:solidFill>
              <a:latin typeface="Arial"/>
            </a:endParaRPr>
          </a:p>
        </p:txBody>
      </p:sp>
      <p:grpSp>
        <p:nvGrpSpPr>
          <p:cNvPr id="344" name="Group 18"/>
          <p:cNvGrpSpPr/>
          <p:nvPr/>
        </p:nvGrpSpPr>
        <p:grpSpPr>
          <a:xfrm>
            <a:off x="4936680" y="2437200"/>
            <a:ext cx="1602720" cy="1616760"/>
            <a:chOff x="4936680" y="2437200"/>
            <a:chExt cx="1602720" cy="1616760"/>
          </a:xfrm>
        </p:grpSpPr>
        <p:pic>
          <p:nvPicPr>
            <p:cNvPr id="345" name="Picture 32"/>
            <p:cNvPicPr/>
            <p:nvPr/>
          </p:nvPicPr>
          <p:blipFill>
            <a:blip r:embed="rId2"/>
            <a:stretch/>
          </p:blipFill>
          <p:spPr>
            <a:xfrm>
              <a:off x="4936680" y="2437200"/>
              <a:ext cx="1602720" cy="1450080"/>
            </a:xfrm>
            <a:prstGeom prst="rect">
              <a:avLst/>
            </a:prstGeom>
            <a:ln>
              <a:noFill/>
            </a:ln>
          </p:spPr>
        </p:pic>
        <p:sp>
          <p:nvSpPr>
            <p:cNvPr id="346" name="CustomShape 19"/>
            <p:cNvSpPr/>
            <p:nvPr/>
          </p:nvSpPr>
          <p:spPr>
            <a:xfrm>
              <a:off x="5062320" y="2869200"/>
              <a:ext cx="1351440" cy="11847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a:solidFill>
                    <a:srgbClr val="333333"/>
                  </a:solidFill>
                  <a:latin typeface="Calibri"/>
                </a:rPr>
                <a:t>Apache/php</a:t>
              </a:r>
              <a:br/>
              <a:r>
                <a:rPr lang="en-US" sz="1800" b="1" strike="noStrike" spc="-1">
                  <a:solidFill>
                    <a:srgbClr val="333333"/>
                  </a:solidFill>
                  <a:latin typeface="Calibri"/>
                </a:rPr>
                <a:t>Omeka</a:t>
              </a:r>
              <a:endParaRPr lang="en-US" sz="1800" b="0" strike="noStrike" spc="-1">
                <a:solidFill>
                  <a:srgbClr val="000000"/>
                </a:solidFill>
                <a:latin typeface="Arial"/>
              </a:endParaRPr>
            </a:p>
            <a:p>
              <a:pPr algn="ctr"/>
              <a:r>
                <a:rPr lang="en-US" sz="1800" b="1" strike="noStrike" spc="-1">
                  <a:solidFill>
                    <a:srgbClr val="333333"/>
                  </a:solidFill>
                  <a:latin typeface="Calibri"/>
                </a:rPr>
                <a:t>Container</a:t>
              </a:r>
              <a:br/>
              <a:endParaRPr lang="en-US" sz="1800" b="0" strike="noStrike" spc="-1">
                <a:solidFill>
                  <a:srgbClr val="000000"/>
                </a:solidFill>
                <a:latin typeface="Arial"/>
              </a:endParaRPr>
            </a:p>
          </p:txBody>
        </p:sp>
      </p:grpSp>
      <p:sp>
        <p:nvSpPr>
          <p:cNvPr id="347" name="CustomShape 20"/>
          <p:cNvSpPr/>
          <p:nvPr/>
        </p:nvSpPr>
        <p:spPr>
          <a:xfrm>
            <a:off x="4690800" y="716400"/>
            <a:ext cx="3953160" cy="456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a:solidFill>
                  <a:srgbClr val="000000"/>
                </a:solidFill>
                <a:latin typeface="Calibri"/>
              </a:rPr>
              <a:t>Omeka Web Admin and Users</a:t>
            </a:r>
            <a:endParaRPr lang="en-US" sz="2400" b="0" strike="noStrike" spc="-1">
              <a:solidFill>
                <a:srgbClr val="000000"/>
              </a:solidFill>
              <a:latin typeface="Arial"/>
            </a:endParaRPr>
          </a:p>
        </p:txBody>
      </p:sp>
      <p:sp>
        <p:nvSpPr>
          <p:cNvPr id="348" name="CustomShape 21"/>
          <p:cNvSpPr/>
          <p:nvPr/>
        </p:nvSpPr>
        <p:spPr>
          <a:xfrm>
            <a:off x="4519800" y="5772240"/>
            <a:ext cx="48060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a:solidFill>
                  <a:srgbClr val="000000"/>
                </a:solidFill>
                <a:latin typeface="Calibri"/>
              </a:rPr>
              <a:t>Server Deployment and Back-End System Administration</a:t>
            </a:r>
            <a:endParaRPr lang="en-US" sz="2400" b="0" strike="noStrike" spc="-1">
              <a:solidFill>
                <a:srgbClr val="000000"/>
              </a:solidFill>
              <a:latin typeface="Arial"/>
            </a:endParaRPr>
          </a:p>
        </p:txBody>
      </p:sp>
      <p:sp>
        <p:nvSpPr>
          <p:cNvPr id="349" name="CustomShape 22"/>
          <p:cNvSpPr/>
          <p:nvPr/>
        </p:nvSpPr>
        <p:spPr>
          <a:xfrm>
            <a:off x="5194440" y="1241280"/>
            <a:ext cx="23760" cy="11955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0" name="CustomShape 23"/>
          <p:cNvSpPr/>
          <p:nvPr/>
        </p:nvSpPr>
        <p:spPr>
          <a:xfrm flipV="1">
            <a:off x="5821200" y="1197000"/>
            <a:ext cx="470520" cy="1122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1" name="CustomShape 24"/>
          <p:cNvSpPr/>
          <p:nvPr/>
        </p:nvSpPr>
        <p:spPr>
          <a:xfrm flipV="1">
            <a:off x="5082840" y="4075200"/>
            <a:ext cx="356760" cy="1635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2" name="CustomShape 25"/>
          <p:cNvSpPr/>
          <p:nvPr/>
        </p:nvSpPr>
        <p:spPr>
          <a:xfrm>
            <a:off x="5936400" y="4081680"/>
            <a:ext cx="205200" cy="175968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3" name="TextShape 26"/>
          <p:cNvSpPr txBox="1"/>
          <p:nvPr/>
        </p:nvSpPr>
        <p:spPr>
          <a:xfrm>
            <a:off x="5441760" y="6390360"/>
            <a:ext cx="1247040" cy="364680"/>
          </a:xfrm>
          <a:prstGeom prst="rect">
            <a:avLst/>
          </a:prstGeom>
          <a:noFill/>
          <a:ln>
            <a:noFill/>
          </a:ln>
        </p:spPr>
        <p:txBody>
          <a:bodyPr anchor="ctr">
            <a:noAutofit/>
          </a:bodyPr>
          <a:lstStyle/>
          <a:p>
            <a:pPr>
              <a:lnSpc>
                <a:spcPct val="100000"/>
              </a:lnSpc>
            </a:pPr>
            <a:fld id="{55D6EBFD-90DE-4745-94EF-12719D50CCE1}" type="datetime1">
              <a:rPr lang="en-US" sz="1200" b="0" strike="noStrike" spc="-1">
                <a:solidFill>
                  <a:srgbClr val="8B8B8B"/>
                </a:solidFill>
                <a:latin typeface="Calibri"/>
              </a:rPr>
              <a:t>9/1/2023</a:t>
            </a:fld>
            <a:endParaRPr lang="en-US" sz="1200" b="0" strike="noStrike" spc="-1">
              <a:latin typeface="Times New Roman"/>
            </a:endParaRPr>
          </a:p>
        </p:txBody>
      </p:sp>
      <p:sp>
        <p:nvSpPr>
          <p:cNvPr id="354" name="TextShape 27"/>
          <p:cNvSpPr txBox="1"/>
          <p:nvPr/>
        </p:nvSpPr>
        <p:spPr>
          <a:xfrm>
            <a:off x="255600" y="6390360"/>
            <a:ext cx="2742840" cy="364680"/>
          </a:xfrm>
          <a:prstGeom prst="rect">
            <a:avLst/>
          </a:prstGeom>
          <a:noFill/>
          <a:ln>
            <a:noFill/>
          </a:ln>
        </p:spPr>
        <p:txBody>
          <a:bodyPr anchor="ctr">
            <a:noAutofit/>
          </a:bodyPr>
          <a:lstStyle/>
          <a:p>
            <a:pPr>
              <a:lnSpc>
                <a:spcPct val="100000"/>
              </a:lnSpc>
            </a:pPr>
            <a:fld id="{36713CBB-9AE9-4435-82DF-82EF7D767142}" type="slidenum">
              <a:rPr lang="en-US" sz="1200" b="0" strike="noStrike" spc="-1">
                <a:solidFill>
                  <a:srgbClr val="8B8B8B"/>
                </a:solidFill>
                <a:latin typeface="Calibri"/>
              </a:rPr>
              <a:t>24</a:t>
            </a:fld>
            <a:endParaRPr lang="en-US" sz="1200" b="0" strike="noStrike" spc="-1">
              <a:latin typeface="Times New Roman"/>
            </a:endParaRPr>
          </a:p>
        </p:txBody>
      </p:sp>
      <p:sp>
        <p:nvSpPr>
          <p:cNvPr id="355" name="CustomShape 28"/>
          <p:cNvSpPr/>
          <p:nvPr/>
        </p:nvSpPr>
        <p:spPr>
          <a:xfrm>
            <a:off x="4846320" y="4762080"/>
            <a:ext cx="168336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Azure Console</a:t>
            </a:r>
          </a:p>
          <a:p>
            <a:pPr algn="ctr"/>
            <a:r>
              <a:rPr lang="en-US" sz="1800" b="0" strike="noStrike" spc="-1">
                <a:solidFill>
                  <a:srgbClr val="000000"/>
                </a:solidFill>
                <a:latin typeface="Arial"/>
              </a:rPr>
              <a:t>Azure SSH</a:t>
            </a:r>
            <a:endParaRPr lang="en-US" sz="1800" b="0" strike="noStrike" spc="-1">
              <a:solidFill>
                <a:srgbClr val="000000"/>
              </a:solidFill>
              <a:latin typeface="Arial"/>
              <a:ea typeface="Microsoft YaHei"/>
            </a:endParaRPr>
          </a:p>
        </p:txBody>
      </p:sp>
      <p:sp>
        <p:nvSpPr>
          <p:cNvPr id="356" name="CustomShape 29"/>
          <p:cNvSpPr/>
          <p:nvPr/>
        </p:nvSpPr>
        <p:spPr>
          <a:xfrm>
            <a:off x="4874760" y="1456200"/>
            <a:ext cx="1555200" cy="64620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Omeka in </a:t>
            </a:r>
            <a:br/>
            <a:r>
              <a:rPr lang="en-US" sz="1800" b="0" strike="noStrike" spc="-1">
                <a:solidFill>
                  <a:srgbClr val="000000"/>
                </a:solidFill>
                <a:latin typeface="Arial"/>
              </a:rPr>
              <a:t>Web Browser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CustomShape 1"/>
          <p:cNvSpPr/>
          <p:nvPr/>
        </p:nvSpPr>
        <p:spPr>
          <a:xfrm>
            <a:off x="199080" y="3615120"/>
            <a:ext cx="11793600" cy="294264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58" name="CustomShape 2"/>
          <p:cNvSpPr/>
          <p:nvPr/>
        </p:nvSpPr>
        <p:spPr>
          <a:xfrm>
            <a:off x="199080" y="718560"/>
            <a:ext cx="11793600" cy="192888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59" name="CustomShape 3"/>
          <p:cNvSpPr/>
          <p:nvPr/>
        </p:nvSpPr>
        <p:spPr>
          <a:xfrm rot="220200">
            <a:off x="-1205640" y="2032200"/>
            <a:ext cx="16077960" cy="3008160"/>
          </a:xfrm>
          <a:prstGeom prst="cloud">
            <a:avLst/>
          </a:prstGeom>
          <a:solidFill>
            <a:schemeClr val="accent1">
              <a:lumMod val="20000"/>
              <a:lumOff val="80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n-US" sz="1800" b="0" strike="noStrike" spc="-1">
                <a:solidFill>
                  <a:srgbClr val="FFFFFF"/>
                </a:solidFill>
                <a:latin typeface="Calibri"/>
              </a:rPr>
              <a:t>CHC</a:t>
            </a:r>
            <a:endParaRPr lang="en-US" sz="1800" b="0" strike="noStrike" spc="-1">
              <a:solidFill>
                <a:srgbClr val="000000"/>
              </a:solidFill>
              <a:latin typeface="Arial"/>
            </a:endParaRPr>
          </a:p>
        </p:txBody>
      </p:sp>
      <p:sp>
        <p:nvSpPr>
          <p:cNvPr id="360" name="CustomShape 4"/>
          <p:cNvSpPr/>
          <p:nvPr/>
        </p:nvSpPr>
        <p:spPr>
          <a:xfrm>
            <a:off x="1948680" y="1782000"/>
            <a:ext cx="155376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a:solidFill>
                  <a:srgbClr val="000000"/>
                </a:solidFill>
                <a:latin typeface="Arial"/>
              </a:rPr>
              <a:t>Web Browser</a:t>
            </a:r>
            <a:endParaRPr lang="en-US" sz="1800" b="0" strike="noStrike" spc="-1">
              <a:solidFill>
                <a:srgbClr val="000000"/>
              </a:solidFill>
              <a:latin typeface="Arial"/>
              <a:ea typeface="Microsoft YaHei"/>
            </a:endParaRPr>
          </a:p>
          <a:p>
            <a:pPr algn="ctr">
              <a:lnSpc>
                <a:spcPct val="100000"/>
              </a:lnSpc>
            </a:pPr>
            <a:r>
              <a:rPr lang="en-US" sz="1800" b="0" strike="noStrike" spc="-1">
                <a:solidFill>
                  <a:srgbClr val="000000"/>
                </a:solidFill>
                <a:latin typeface="Arial"/>
              </a:rPr>
              <a:t>HTTPS</a:t>
            </a:r>
            <a:endParaRPr lang="en-US" sz="1800" b="0" strike="noStrike" spc="-1">
              <a:solidFill>
                <a:srgbClr val="000000"/>
              </a:solidFill>
              <a:latin typeface="Arial"/>
              <a:ea typeface="Microsoft YaHei"/>
            </a:endParaRPr>
          </a:p>
        </p:txBody>
      </p:sp>
      <p:sp>
        <p:nvSpPr>
          <p:cNvPr id="361" name="CustomShape 5"/>
          <p:cNvSpPr/>
          <p:nvPr/>
        </p:nvSpPr>
        <p:spPr>
          <a:xfrm>
            <a:off x="4755240" y="2526840"/>
            <a:ext cx="7029000" cy="15177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62" name="CustomShape 6"/>
          <p:cNvSpPr/>
          <p:nvPr/>
        </p:nvSpPr>
        <p:spPr>
          <a:xfrm>
            <a:off x="509760" y="15552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in Azure Cloud (detail)</a:t>
            </a:r>
            <a:endParaRPr lang="en-US" sz="2400" b="0" strike="noStrike" spc="-1">
              <a:solidFill>
                <a:srgbClr val="000000"/>
              </a:solidFill>
              <a:latin typeface="Arial"/>
            </a:endParaRPr>
          </a:p>
        </p:txBody>
      </p:sp>
      <p:grpSp>
        <p:nvGrpSpPr>
          <p:cNvPr id="363" name="Group 7"/>
          <p:cNvGrpSpPr/>
          <p:nvPr/>
        </p:nvGrpSpPr>
        <p:grpSpPr>
          <a:xfrm>
            <a:off x="6495120" y="3057120"/>
            <a:ext cx="1163160" cy="742680"/>
            <a:chOff x="6495120" y="3057120"/>
            <a:chExt cx="1163160" cy="742680"/>
          </a:xfrm>
        </p:grpSpPr>
        <p:pic>
          <p:nvPicPr>
            <p:cNvPr id="364" name="Picture 2" descr="Image result for folder"/>
            <p:cNvPicPr/>
            <p:nvPr/>
          </p:nvPicPr>
          <p:blipFill>
            <a:blip r:embed="rId2"/>
            <a:stretch/>
          </p:blipFill>
          <p:spPr>
            <a:xfrm>
              <a:off x="6495120" y="3057120"/>
              <a:ext cx="1163160" cy="724680"/>
            </a:xfrm>
            <a:prstGeom prst="rect">
              <a:avLst/>
            </a:prstGeom>
            <a:ln>
              <a:noFill/>
            </a:ln>
          </p:spPr>
        </p:pic>
        <p:sp>
          <p:nvSpPr>
            <p:cNvPr id="365" name="CustomShape 8"/>
            <p:cNvSpPr/>
            <p:nvPr/>
          </p:nvSpPr>
          <p:spPr>
            <a:xfrm>
              <a:off x="6688800" y="3161520"/>
              <a:ext cx="831960" cy="638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Theme</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Styling</a:t>
              </a:r>
              <a:endParaRPr lang="en-US" sz="1800" b="0" strike="noStrike" spc="-1">
                <a:solidFill>
                  <a:srgbClr val="000000"/>
                </a:solidFill>
                <a:latin typeface="Arial"/>
              </a:endParaRPr>
            </a:p>
          </p:txBody>
        </p:sp>
      </p:grpSp>
      <p:grpSp>
        <p:nvGrpSpPr>
          <p:cNvPr id="366" name="Group 9"/>
          <p:cNvGrpSpPr/>
          <p:nvPr/>
        </p:nvGrpSpPr>
        <p:grpSpPr>
          <a:xfrm>
            <a:off x="7730640" y="3023280"/>
            <a:ext cx="1163160" cy="794160"/>
            <a:chOff x="7730640" y="3023280"/>
            <a:chExt cx="1163160" cy="794160"/>
          </a:xfrm>
        </p:grpSpPr>
        <p:pic>
          <p:nvPicPr>
            <p:cNvPr id="367" name="Picture 2" descr="Image result for folder"/>
            <p:cNvPicPr/>
            <p:nvPr/>
          </p:nvPicPr>
          <p:blipFill>
            <a:blip r:embed="rId2"/>
            <a:stretch/>
          </p:blipFill>
          <p:spPr>
            <a:xfrm>
              <a:off x="7730640" y="3023280"/>
              <a:ext cx="1163160" cy="786600"/>
            </a:xfrm>
            <a:prstGeom prst="rect">
              <a:avLst/>
            </a:prstGeom>
            <a:ln>
              <a:noFill/>
            </a:ln>
          </p:spPr>
        </p:pic>
        <p:sp>
          <p:nvSpPr>
            <p:cNvPr id="368" name="CustomShape 10"/>
            <p:cNvSpPr/>
            <p:nvPr/>
          </p:nvSpPr>
          <p:spPr>
            <a:xfrm>
              <a:off x="7802280" y="3179160"/>
              <a:ext cx="1010160" cy="638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Plugin</a:t>
              </a:r>
              <a:br/>
              <a:r>
                <a:rPr lang="en-US" sz="1800" b="1" strike="noStrike" spc="-1">
                  <a:solidFill>
                    <a:srgbClr val="000000"/>
                  </a:solidFill>
                  <a:latin typeface="Calibri"/>
                </a:rPr>
                <a:t>Modules</a:t>
              </a:r>
              <a:endParaRPr lang="en-US" sz="1800" b="0" strike="noStrike" spc="-1">
                <a:solidFill>
                  <a:srgbClr val="000000"/>
                </a:solidFill>
                <a:latin typeface="Arial"/>
              </a:endParaRPr>
            </a:p>
          </p:txBody>
        </p:sp>
      </p:grpSp>
      <p:grpSp>
        <p:nvGrpSpPr>
          <p:cNvPr id="369" name="Group 11"/>
          <p:cNvGrpSpPr/>
          <p:nvPr/>
        </p:nvGrpSpPr>
        <p:grpSpPr>
          <a:xfrm>
            <a:off x="8996040" y="3045960"/>
            <a:ext cx="1163160" cy="816120"/>
            <a:chOff x="8996040" y="3045960"/>
            <a:chExt cx="1163160" cy="816120"/>
          </a:xfrm>
        </p:grpSpPr>
        <p:pic>
          <p:nvPicPr>
            <p:cNvPr id="370" name="Picture 2" descr="Image result for folder"/>
            <p:cNvPicPr/>
            <p:nvPr/>
          </p:nvPicPr>
          <p:blipFill>
            <a:blip r:embed="rId2"/>
            <a:stretch/>
          </p:blipFill>
          <p:spPr>
            <a:xfrm>
              <a:off x="8996040" y="3045960"/>
              <a:ext cx="1163160" cy="786600"/>
            </a:xfrm>
            <a:prstGeom prst="rect">
              <a:avLst/>
            </a:prstGeom>
            <a:ln>
              <a:noFill/>
            </a:ln>
          </p:spPr>
        </p:pic>
        <p:sp>
          <p:nvSpPr>
            <p:cNvPr id="371" name="CustomShape 12"/>
            <p:cNvSpPr/>
            <p:nvPr/>
          </p:nvSpPr>
          <p:spPr>
            <a:xfrm>
              <a:off x="9020160" y="3223080"/>
              <a:ext cx="111996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Imported </a:t>
              </a:r>
              <a:br/>
              <a:r>
                <a:rPr lang="en-US" sz="1800" b="1" strike="noStrike" spc="-1">
                  <a:solidFill>
                    <a:srgbClr val="000000"/>
                  </a:solidFill>
                  <a:latin typeface="Calibri"/>
                </a:rPr>
                <a:t>Media</a:t>
              </a:r>
              <a:endParaRPr lang="en-US" sz="1800" b="0" strike="noStrike" spc="-1">
                <a:solidFill>
                  <a:srgbClr val="000000"/>
                </a:solidFill>
                <a:latin typeface="Arial"/>
              </a:endParaRPr>
            </a:p>
          </p:txBody>
        </p:sp>
      </p:grpSp>
      <p:grpSp>
        <p:nvGrpSpPr>
          <p:cNvPr id="372" name="Group 13"/>
          <p:cNvGrpSpPr/>
          <p:nvPr/>
        </p:nvGrpSpPr>
        <p:grpSpPr>
          <a:xfrm>
            <a:off x="1924200" y="2527920"/>
            <a:ext cx="1602720" cy="1623240"/>
            <a:chOff x="1924200" y="2527920"/>
            <a:chExt cx="1602720" cy="1623240"/>
          </a:xfrm>
        </p:grpSpPr>
        <p:pic>
          <p:nvPicPr>
            <p:cNvPr id="373" name="Picture 2"/>
            <p:cNvPicPr/>
            <p:nvPr/>
          </p:nvPicPr>
          <p:blipFill>
            <a:blip r:embed="rId3"/>
            <a:stretch/>
          </p:blipFill>
          <p:spPr>
            <a:xfrm>
              <a:off x="1924200" y="2527920"/>
              <a:ext cx="1602720" cy="1450080"/>
            </a:xfrm>
            <a:prstGeom prst="rect">
              <a:avLst/>
            </a:prstGeom>
            <a:ln>
              <a:noFill/>
            </a:ln>
          </p:spPr>
        </p:pic>
        <p:sp>
          <p:nvSpPr>
            <p:cNvPr id="374" name="CustomShape 14"/>
            <p:cNvSpPr/>
            <p:nvPr/>
          </p:nvSpPr>
          <p:spPr>
            <a:xfrm>
              <a:off x="2176920" y="3086640"/>
              <a:ext cx="1096920" cy="10645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400" b="1" strike="noStrike" spc="-1">
                  <a:solidFill>
                    <a:srgbClr val="333333"/>
                  </a:solidFill>
                  <a:latin typeface="Calibri"/>
                </a:rPr>
                <a:t>Container</a:t>
              </a:r>
              <a:r>
                <a:rPr lang="en-US" sz="1800" b="1" strike="noStrike" spc="-1">
                  <a:solidFill>
                    <a:srgbClr val="333333"/>
                  </a:solidFill>
                  <a:latin typeface="Calibri"/>
                </a:rPr>
                <a:t> </a:t>
              </a:r>
              <a:br/>
              <a:r>
                <a:rPr lang="en-US" sz="1400" b="1" strike="noStrike" spc="-1">
                  <a:solidFill>
                    <a:srgbClr val="333333"/>
                  </a:solidFill>
                  <a:latin typeface="Calibri"/>
                </a:rPr>
                <a:t>Apache/php</a:t>
              </a:r>
              <a:br/>
              <a:r>
                <a:rPr lang="en-US" sz="1400" b="1" strike="noStrike" spc="-1">
                  <a:solidFill>
                    <a:srgbClr val="333333"/>
                  </a:solidFill>
                  <a:latin typeface="Calibri"/>
                </a:rPr>
                <a:t>Omeka</a:t>
              </a:r>
              <a:endParaRPr lang="en-US" sz="1400" b="0" strike="noStrike" spc="-1">
                <a:solidFill>
                  <a:srgbClr val="000000"/>
                </a:solidFill>
                <a:latin typeface="Arial"/>
              </a:endParaRPr>
            </a:p>
            <a:p>
              <a:pPr algn="ctr">
                <a:lnSpc>
                  <a:spcPct val="100000"/>
                </a:lnSpc>
              </a:pPr>
              <a:endParaRPr lang="en-US" sz="1400" b="0" strike="noStrike" spc="-1">
                <a:solidFill>
                  <a:srgbClr val="000000"/>
                </a:solidFill>
                <a:latin typeface="Arial"/>
              </a:endParaRPr>
            </a:p>
          </p:txBody>
        </p:sp>
      </p:grpSp>
      <p:grpSp>
        <p:nvGrpSpPr>
          <p:cNvPr id="375" name="Group 15"/>
          <p:cNvGrpSpPr/>
          <p:nvPr/>
        </p:nvGrpSpPr>
        <p:grpSpPr>
          <a:xfrm>
            <a:off x="10261080" y="3092040"/>
            <a:ext cx="1188360" cy="740520"/>
            <a:chOff x="10261080" y="3092040"/>
            <a:chExt cx="1188360" cy="740520"/>
          </a:xfrm>
        </p:grpSpPr>
        <p:pic>
          <p:nvPicPr>
            <p:cNvPr id="376" name="Picture 2" descr="Image result for folder"/>
            <p:cNvPicPr/>
            <p:nvPr/>
          </p:nvPicPr>
          <p:blipFill>
            <a:blip r:embed="rId2"/>
            <a:stretch/>
          </p:blipFill>
          <p:spPr>
            <a:xfrm>
              <a:off x="10261080" y="3092040"/>
              <a:ext cx="1188360" cy="740520"/>
            </a:xfrm>
            <a:prstGeom prst="rect">
              <a:avLst/>
            </a:prstGeom>
            <a:ln>
              <a:noFill/>
            </a:ln>
          </p:spPr>
        </p:pic>
        <p:sp>
          <p:nvSpPr>
            <p:cNvPr id="377" name="CustomShape 16"/>
            <p:cNvSpPr/>
            <p:nvPr/>
          </p:nvSpPr>
          <p:spPr>
            <a:xfrm>
              <a:off x="10555920" y="3295800"/>
              <a:ext cx="598680" cy="3639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Logs</a:t>
              </a:r>
              <a:endParaRPr lang="en-US" sz="1800" b="0" strike="noStrike" spc="-1">
                <a:solidFill>
                  <a:srgbClr val="000000"/>
                </a:solidFill>
                <a:latin typeface="Arial"/>
              </a:endParaRPr>
            </a:p>
          </p:txBody>
        </p:sp>
      </p:grpSp>
      <p:sp>
        <p:nvSpPr>
          <p:cNvPr id="378" name="CustomShape 17"/>
          <p:cNvSpPr/>
          <p:nvPr/>
        </p:nvSpPr>
        <p:spPr>
          <a:xfrm>
            <a:off x="5735880" y="2630880"/>
            <a:ext cx="4861440" cy="3646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chcPersist Volume (Fast, single zone redundancy) </a:t>
            </a:r>
            <a:endParaRPr lang="en-US" sz="1800" b="0" strike="noStrike" spc="-1">
              <a:solidFill>
                <a:srgbClr val="000000"/>
              </a:solidFill>
              <a:latin typeface="Arial"/>
            </a:endParaRPr>
          </a:p>
        </p:txBody>
      </p:sp>
      <p:sp>
        <p:nvSpPr>
          <p:cNvPr id="379" name="CustomShape 18"/>
          <p:cNvSpPr/>
          <p:nvPr/>
        </p:nvSpPr>
        <p:spPr>
          <a:xfrm>
            <a:off x="3675240" y="2613600"/>
            <a:ext cx="919080" cy="136440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380" name="Group 19"/>
          <p:cNvGrpSpPr/>
          <p:nvPr/>
        </p:nvGrpSpPr>
        <p:grpSpPr>
          <a:xfrm>
            <a:off x="423000" y="2751840"/>
            <a:ext cx="1394280" cy="1088280"/>
            <a:chOff x="423000" y="2751840"/>
            <a:chExt cx="1394280" cy="1088280"/>
          </a:xfrm>
        </p:grpSpPr>
        <p:pic>
          <p:nvPicPr>
            <p:cNvPr id="381" name="Picture 2" descr="Image result for azure docker registry"/>
            <p:cNvPicPr/>
            <p:nvPr/>
          </p:nvPicPr>
          <p:blipFill>
            <a:blip r:embed="rId4"/>
            <a:srcRect l="44436" t="8029" r="40888" b="33535"/>
            <a:stretch/>
          </p:blipFill>
          <p:spPr>
            <a:xfrm>
              <a:off x="512280" y="2751840"/>
              <a:ext cx="1188720" cy="1088280"/>
            </a:xfrm>
            <a:prstGeom prst="rect">
              <a:avLst/>
            </a:prstGeom>
            <a:ln>
              <a:noFill/>
            </a:ln>
          </p:spPr>
        </p:pic>
        <p:sp>
          <p:nvSpPr>
            <p:cNvPr id="382" name="CustomShape 20"/>
            <p:cNvSpPr/>
            <p:nvPr/>
          </p:nvSpPr>
          <p:spPr>
            <a:xfrm>
              <a:off x="423000" y="2889000"/>
              <a:ext cx="1394280" cy="9118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a:solidFill>
                    <a:srgbClr val="333333"/>
                  </a:solidFill>
                  <a:latin typeface="Calibri"/>
                </a:rPr>
                <a:t>AzurePrivate</a:t>
              </a:r>
              <a:br/>
              <a:r>
                <a:rPr lang="en-US" sz="1800" b="1" strike="noStrike" spc="-1">
                  <a:solidFill>
                    <a:srgbClr val="333333"/>
                  </a:solidFill>
                  <a:latin typeface="Calibri"/>
                </a:rPr>
                <a:t>Docker</a:t>
              </a:r>
              <a:br/>
              <a:r>
                <a:rPr lang="en-US" sz="1800" b="1" strike="noStrike" spc="-1">
                  <a:solidFill>
                    <a:srgbClr val="333333"/>
                  </a:solidFill>
                  <a:latin typeface="Calibri"/>
                </a:rPr>
                <a:t>Registry</a:t>
              </a:r>
              <a:r>
                <a:rPr lang="en-US" sz="1800" b="1" strike="noStrike" spc="-1">
                  <a:solidFill>
                    <a:srgbClr val="000000"/>
                  </a:solidFill>
                  <a:latin typeface="Calibri"/>
                </a:rPr>
                <a:t> </a:t>
              </a:r>
              <a:endParaRPr lang="en-US" sz="1800" b="0" strike="noStrike" spc="-1">
                <a:solidFill>
                  <a:srgbClr val="000000"/>
                </a:solidFill>
                <a:latin typeface="Arial"/>
              </a:endParaRPr>
            </a:p>
          </p:txBody>
        </p:sp>
      </p:grpSp>
      <p:grpSp>
        <p:nvGrpSpPr>
          <p:cNvPr id="383" name="Group 21"/>
          <p:cNvGrpSpPr/>
          <p:nvPr/>
        </p:nvGrpSpPr>
        <p:grpSpPr>
          <a:xfrm>
            <a:off x="5225400" y="3039480"/>
            <a:ext cx="1188360" cy="789120"/>
            <a:chOff x="5225400" y="3039480"/>
            <a:chExt cx="1188360" cy="789120"/>
          </a:xfrm>
        </p:grpSpPr>
        <p:pic>
          <p:nvPicPr>
            <p:cNvPr id="384" name="Picture 2" descr="Image result for folder"/>
            <p:cNvPicPr/>
            <p:nvPr/>
          </p:nvPicPr>
          <p:blipFill>
            <a:blip r:embed="rId2"/>
            <a:stretch/>
          </p:blipFill>
          <p:spPr>
            <a:xfrm>
              <a:off x="5225400" y="3039480"/>
              <a:ext cx="1188360" cy="740520"/>
            </a:xfrm>
            <a:prstGeom prst="rect">
              <a:avLst/>
            </a:prstGeom>
            <a:ln>
              <a:noFill/>
            </a:ln>
          </p:spPr>
        </p:pic>
        <p:sp>
          <p:nvSpPr>
            <p:cNvPr id="385" name="CustomShape 22"/>
            <p:cNvSpPr/>
            <p:nvPr/>
          </p:nvSpPr>
          <p:spPr>
            <a:xfrm>
              <a:off x="5391360" y="3189600"/>
              <a:ext cx="856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Omeka</a:t>
              </a:r>
              <a:br/>
              <a:r>
                <a:rPr lang="en-US" sz="1800" b="1" strike="noStrike" spc="-1">
                  <a:solidFill>
                    <a:srgbClr val="000000"/>
                  </a:solidFill>
                  <a:latin typeface="Calibri"/>
                </a:rPr>
                <a:t>Config</a:t>
              </a:r>
              <a:endParaRPr lang="en-US" sz="1800" b="0" strike="noStrike" spc="-1">
                <a:solidFill>
                  <a:srgbClr val="000000"/>
                </a:solidFill>
                <a:latin typeface="Arial"/>
              </a:endParaRPr>
            </a:p>
          </p:txBody>
        </p:sp>
      </p:grpSp>
      <p:sp>
        <p:nvSpPr>
          <p:cNvPr id="386" name="CustomShape 23"/>
          <p:cNvSpPr/>
          <p:nvPr/>
        </p:nvSpPr>
        <p:spPr>
          <a:xfrm>
            <a:off x="3996720" y="820440"/>
            <a:ext cx="907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Omeka </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Owner</a:t>
            </a:r>
            <a:endParaRPr lang="en-US" sz="1800" b="0" strike="noStrike" spc="-1">
              <a:solidFill>
                <a:srgbClr val="000000"/>
              </a:solidFill>
              <a:latin typeface="Arial"/>
            </a:endParaRPr>
          </a:p>
        </p:txBody>
      </p:sp>
      <p:sp>
        <p:nvSpPr>
          <p:cNvPr id="387" name="CustomShape 24"/>
          <p:cNvSpPr/>
          <p:nvPr/>
        </p:nvSpPr>
        <p:spPr>
          <a:xfrm>
            <a:off x="3657600" y="1874880"/>
            <a:ext cx="181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br/>
            <a:endParaRPr lang="en-US" sz="1800" b="0" strike="noStrike" spc="-1">
              <a:solidFill>
                <a:srgbClr val="000000"/>
              </a:solidFill>
              <a:latin typeface="Arial"/>
            </a:endParaRPr>
          </a:p>
        </p:txBody>
      </p:sp>
      <p:sp>
        <p:nvSpPr>
          <p:cNvPr id="388" name="CustomShape 25"/>
          <p:cNvSpPr/>
          <p:nvPr/>
        </p:nvSpPr>
        <p:spPr>
          <a:xfrm>
            <a:off x="3008160" y="813960"/>
            <a:ext cx="907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Omeka </a:t>
            </a:r>
            <a:br/>
            <a:r>
              <a:rPr lang="en-US" sz="1800" b="1" strike="noStrike" spc="-1">
                <a:solidFill>
                  <a:srgbClr val="000000"/>
                </a:solidFill>
                <a:latin typeface="Calibri"/>
              </a:rPr>
              <a:t>Users</a:t>
            </a:r>
            <a:endParaRPr lang="en-US" sz="1800" b="0" strike="noStrike" spc="-1">
              <a:solidFill>
                <a:srgbClr val="000000"/>
              </a:solidFill>
              <a:latin typeface="Arial"/>
            </a:endParaRPr>
          </a:p>
        </p:txBody>
      </p:sp>
      <p:sp>
        <p:nvSpPr>
          <p:cNvPr id="389" name="CustomShape 26"/>
          <p:cNvSpPr/>
          <p:nvPr/>
        </p:nvSpPr>
        <p:spPr>
          <a:xfrm>
            <a:off x="1629360" y="803160"/>
            <a:ext cx="1375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Omeka </a:t>
            </a:r>
            <a:br/>
            <a:r>
              <a:rPr lang="en-US" sz="1800" b="1" strike="noStrike" spc="-1">
                <a:solidFill>
                  <a:srgbClr val="000000"/>
                </a:solidFill>
                <a:latin typeface="Calibri"/>
              </a:rPr>
              <a:t>Contributors</a:t>
            </a:r>
            <a:endParaRPr lang="en-US" sz="1800" b="0" strike="noStrike" spc="-1">
              <a:solidFill>
                <a:srgbClr val="000000"/>
              </a:solidFill>
              <a:latin typeface="Arial"/>
            </a:endParaRPr>
          </a:p>
        </p:txBody>
      </p:sp>
      <p:sp>
        <p:nvSpPr>
          <p:cNvPr id="390" name="CustomShape 27"/>
          <p:cNvSpPr/>
          <p:nvPr/>
        </p:nvSpPr>
        <p:spPr>
          <a:xfrm>
            <a:off x="8865000" y="4073400"/>
            <a:ext cx="1365840" cy="106560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91" name="CustomShape 28"/>
          <p:cNvSpPr/>
          <p:nvPr/>
        </p:nvSpPr>
        <p:spPr>
          <a:xfrm>
            <a:off x="257400" y="5091480"/>
            <a:ext cx="1657800" cy="118764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Deployment</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Scripts</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Passwords</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Documentation</a:t>
            </a:r>
            <a:endParaRPr lang="en-US" sz="1800" b="0" strike="noStrike" spc="-1">
              <a:solidFill>
                <a:srgbClr val="000000"/>
              </a:solidFill>
              <a:latin typeface="Arial"/>
            </a:endParaRPr>
          </a:p>
        </p:txBody>
      </p:sp>
      <p:sp>
        <p:nvSpPr>
          <p:cNvPr id="392" name="CustomShape 29"/>
          <p:cNvSpPr/>
          <p:nvPr/>
        </p:nvSpPr>
        <p:spPr>
          <a:xfrm>
            <a:off x="1797120" y="5309640"/>
            <a:ext cx="19504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System Inspection </a:t>
            </a:r>
            <a:endParaRPr lang="en-US" sz="1800" b="0" strike="noStrike" spc="-1">
              <a:solidFill>
                <a:srgbClr val="000000"/>
              </a:solidFill>
              <a:latin typeface="Arial"/>
            </a:endParaRPr>
          </a:p>
          <a:p>
            <a:pPr algn="ctr">
              <a:lnSpc>
                <a:spcPct val="100000"/>
              </a:lnSpc>
            </a:pPr>
            <a:r>
              <a:rPr lang="en-US" sz="1800" b="1" strike="noStrike" spc="-1">
                <a:solidFill>
                  <a:srgbClr val="000000"/>
                </a:solidFill>
                <a:latin typeface="Calibri"/>
              </a:rPr>
              <a:t>And Monitoring</a:t>
            </a:r>
            <a:endParaRPr lang="en-US" sz="1800" b="0" strike="noStrike" spc="-1">
              <a:solidFill>
                <a:srgbClr val="000000"/>
              </a:solidFill>
              <a:latin typeface="Arial"/>
            </a:endParaRPr>
          </a:p>
        </p:txBody>
      </p:sp>
      <p:sp>
        <p:nvSpPr>
          <p:cNvPr id="393" name="CustomShape 30"/>
          <p:cNvSpPr/>
          <p:nvPr/>
        </p:nvSpPr>
        <p:spPr>
          <a:xfrm>
            <a:off x="629640" y="794160"/>
            <a:ext cx="907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Search </a:t>
            </a:r>
            <a:br/>
            <a:r>
              <a:rPr lang="en-US" sz="1800" b="1" strike="noStrike" spc="-1">
                <a:solidFill>
                  <a:srgbClr val="000000"/>
                </a:solidFill>
                <a:latin typeface="Calibri"/>
              </a:rPr>
              <a:t>Engines</a:t>
            </a:r>
            <a:endParaRPr lang="en-US" sz="1800" b="0" strike="noStrike" spc="-1">
              <a:solidFill>
                <a:srgbClr val="000000"/>
              </a:solidFill>
              <a:latin typeface="Arial"/>
            </a:endParaRPr>
          </a:p>
        </p:txBody>
      </p:sp>
      <p:sp>
        <p:nvSpPr>
          <p:cNvPr id="394" name="CustomShape 31"/>
          <p:cNvSpPr/>
          <p:nvPr/>
        </p:nvSpPr>
        <p:spPr>
          <a:xfrm>
            <a:off x="7617600" y="800280"/>
            <a:ext cx="3953160" cy="456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a:solidFill>
                  <a:srgbClr val="2E75B6"/>
                </a:solidFill>
                <a:latin typeface="Calibri"/>
              </a:rPr>
              <a:t>Omeka Web Admin and Users</a:t>
            </a:r>
            <a:endParaRPr lang="en-US" sz="2400" b="0" strike="noStrike" spc="-1">
              <a:solidFill>
                <a:srgbClr val="000000"/>
              </a:solidFill>
              <a:latin typeface="Arial"/>
            </a:endParaRPr>
          </a:p>
        </p:txBody>
      </p:sp>
      <p:sp>
        <p:nvSpPr>
          <p:cNvPr id="395" name="CustomShape 32"/>
          <p:cNvSpPr/>
          <p:nvPr/>
        </p:nvSpPr>
        <p:spPr>
          <a:xfrm>
            <a:off x="7076880" y="5521320"/>
            <a:ext cx="48060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a:solidFill>
                  <a:srgbClr val="2E75B6"/>
                </a:solidFill>
                <a:latin typeface="Calibri"/>
              </a:rPr>
              <a:t>Azure Deployment and Back-End System Administration</a:t>
            </a:r>
            <a:endParaRPr lang="en-US" sz="2400" b="0" strike="noStrike" spc="-1">
              <a:solidFill>
                <a:srgbClr val="000000"/>
              </a:solidFill>
              <a:latin typeface="Arial"/>
            </a:endParaRPr>
          </a:p>
        </p:txBody>
      </p:sp>
      <p:pic>
        <p:nvPicPr>
          <p:cNvPr id="396" name="Picture 4" descr="Image result for azure logo"/>
          <p:cNvPicPr/>
          <p:nvPr/>
        </p:nvPicPr>
        <p:blipFill>
          <a:blip r:embed="rId5"/>
          <a:stretch/>
        </p:blipFill>
        <p:spPr>
          <a:xfrm>
            <a:off x="618120" y="2347560"/>
            <a:ext cx="974160" cy="366840"/>
          </a:xfrm>
          <a:prstGeom prst="rect">
            <a:avLst/>
          </a:prstGeom>
          <a:ln>
            <a:noFill/>
          </a:ln>
        </p:spPr>
      </p:pic>
      <p:sp>
        <p:nvSpPr>
          <p:cNvPr id="397" name="CustomShape 33"/>
          <p:cNvSpPr/>
          <p:nvPr/>
        </p:nvSpPr>
        <p:spPr>
          <a:xfrm>
            <a:off x="1587960" y="1512720"/>
            <a:ext cx="695520" cy="8607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98" name="CustomShape 34"/>
          <p:cNvSpPr/>
          <p:nvPr/>
        </p:nvSpPr>
        <p:spPr>
          <a:xfrm flipH="1">
            <a:off x="3160440" y="1534320"/>
            <a:ext cx="830520" cy="8499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99" name="CustomShape 35"/>
          <p:cNvSpPr/>
          <p:nvPr/>
        </p:nvSpPr>
        <p:spPr>
          <a:xfrm flipH="1" flipV="1">
            <a:off x="1096200" y="3800880"/>
            <a:ext cx="360" cy="128952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0" name="CustomShape 36"/>
          <p:cNvSpPr/>
          <p:nvPr/>
        </p:nvSpPr>
        <p:spPr>
          <a:xfrm flipV="1">
            <a:off x="2725560" y="3978360"/>
            <a:ext cx="10800" cy="135864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1" name="CustomShape 37"/>
          <p:cNvSpPr/>
          <p:nvPr/>
        </p:nvSpPr>
        <p:spPr>
          <a:xfrm flipV="1">
            <a:off x="4254840" y="3978360"/>
            <a:ext cx="360" cy="141912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2" name="CustomShape 38"/>
          <p:cNvSpPr/>
          <p:nvPr/>
        </p:nvSpPr>
        <p:spPr>
          <a:xfrm>
            <a:off x="6562080" y="4915800"/>
            <a:ext cx="360" cy="64692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3" name="CustomShape 39"/>
          <p:cNvSpPr/>
          <p:nvPr/>
        </p:nvSpPr>
        <p:spPr>
          <a:xfrm>
            <a:off x="8872560" y="4354560"/>
            <a:ext cx="1442520" cy="7297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1800" b="1" strike="noStrike" spc="-1">
                <a:solidFill>
                  <a:srgbClr val="0D0D0D"/>
                </a:solidFill>
                <a:latin typeface="Calibri"/>
              </a:rPr>
              <a:t>chcoffline</a:t>
            </a:r>
            <a:r>
              <a:rPr lang="en-US" sz="1200" b="1" strike="noStrike" spc="-1">
                <a:solidFill>
                  <a:srgbClr val="0D0D0D"/>
                </a:solidFill>
                <a:latin typeface="Calibri"/>
              </a:rPr>
              <a:t> </a:t>
            </a:r>
            <a:endParaRPr lang="en-US" sz="1200" b="0" strike="noStrike" spc="-1">
              <a:solidFill>
                <a:srgbClr val="000000"/>
              </a:solidFill>
              <a:latin typeface="Arial"/>
            </a:endParaRPr>
          </a:p>
          <a:p>
            <a:pPr algn="ctr">
              <a:lnSpc>
                <a:spcPct val="100000"/>
              </a:lnSpc>
            </a:pPr>
            <a:r>
              <a:rPr lang="en-US" sz="1200" b="1" strike="noStrike" spc="-1">
                <a:solidFill>
                  <a:srgbClr val="0D0D0D"/>
                </a:solidFill>
                <a:latin typeface="Calibri"/>
              </a:rPr>
              <a:t>Backup Snapshots Docker files</a:t>
            </a:r>
            <a:endParaRPr lang="en-US" sz="1200" b="0" strike="noStrike" spc="-1">
              <a:solidFill>
                <a:srgbClr val="000000"/>
              </a:solidFill>
              <a:latin typeface="Arial"/>
            </a:endParaRPr>
          </a:p>
        </p:txBody>
      </p:sp>
      <p:sp>
        <p:nvSpPr>
          <p:cNvPr id="404" name="CustomShape 40"/>
          <p:cNvSpPr/>
          <p:nvPr/>
        </p:nvSpPr>
        <p:spPr>
          <a:xfrm>
            <a:off x="1950480" y="2702160"/>
            <a:ext cx="1572480" cy="3639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333333"/>
                </a:solidFill>
                <a:latin typeface="Calibri"/>
              </a:rPr>
              <a:t>chcomeka App</a:t>
            </a:r>
            <a:endParaRPr lang="en-US" sz="1800" b="0" strike="noStrike" spc="-1">
              <a:solidFill>
                <a:srgbClr val="333333"/>
              </a:solidFill>
              <a:latin typeface="Arial"/>
            </a:endParaRPr>
          </a:p>
        </p:txBody>
      </p:sp>
      <p:sp>
        <p:nvSpPr>
          <p:cNvPr id="405" name="CustomShape 41"/>
          <p:cNvSpPr/>
          <p:nvPr/>
        </p:nvSpPr>
        <p:spPr>
          <a:xfrm flipV="1">
            <a:off x="6562080" y="3899880"/>
            <a:ext cx="360" cy="68688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6" name="CustomShape 42"/>
          <p:cNvSpPr/>
          <p:nvPr/>
        </p:nvSpPr>
        <p:spPr>
          <a:xfrm>
            <a:off x="6937920" y="1502640"/>
            <a:ext cx="1320840" cy="9273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407" name="CustomShape 43"/>
          <p:cNvSpPr/>
          <p:nvPr/>
        </p:nvSpPr>
        <p:spPr>
          <a:xfrm>
            <a:off x="5939280" y="5485320"/>
            <a:ext cx="1311840" cy="3646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File transfer</a:t>
            </a:r>
            <a:endParaRPr lang="en-US" sz="1800" b="0" strike="noStrike" spc="-1">
              <a:solidFill>
                <a:srgbClr val="000000"/>
              </a:solidFill>
              <a:latin typeface="Arial"/>
            </a:endParaRPr>
          </a:p>
        </p:txBody>
      </p:sp>
      <p:sp>
        <p:nvSpPr>
          <p:cNvPr id="408" name="CustomShape 44"/>
          <p:cNvSpPr/>
          <p:nvPr/>
        </p:nvSpPr>
        <p:spPr>
          <a:xfrm flipH="1" flipV="1">
            <a:off x="4791960" y="1527120"/>
            <a:ext cx="437760" cy="573480"/>
          </a:xfrm>
          <a:custGeom>
            <a:avLst/>
            <a:gdLst/>
            <a:ahLst/>
            <a:cxnLst/>
            <a:rect l="l" t="t" r="r" b="b"/>
            <a:pathLst>
              <a:path w="21600" h="21600">
                <a:moveTo>
                  <a:pt x="0" y="0"/>
                </a:moveTo>
                <a:lnTo>
                  <a:pt x="21600" y="21600"/>
                </a:lnTo>
              </a:path>
            </a:pathLst>
          </a:custGeom>
          <a:noFill/>
          <a:ln w="82440"/>
        </p:spPr>
        <p:style>
          <a:lnRef idx="1">
            <a:schemeClr val="accent1"/>
          </a:lnRef>
          <a:fillRef idx="0">
            <a:schemeClr val="accent1"/>
          </a:fillRef>
          <a:effectRef idx="0">
            <a:schemeClr val="accent1"/>
          </a:effectRef>
          <a:fontRef idx="minor"/>
        </p:style>
        <p:txBody>
          <a:bodyPr/>
          <a:lstStyle/>
          <a:p>
            <a:endParaRPr lang="en-US"/>
          </a:p>
        </p:txBody>
      </p:sp>
      <p:sp>
        <p:nvSpPr>
          <p:cNvPr id="409" name="CustomShape 45"/>
          <p:cNvSpPr/>
          <p:nvPr/>
        </p:nvSpPr>
        <p:spPr>
          <a:xfrm>
            <a:off x="6886080" y="1673640"/>
            <a:ext cx="1442520" cy="7297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1800" b="1" strike="noStrike" spc="-1">
                <a:solidFill>
                  <a:srgbClr val="0D0D0D"/>
                </a:solidFill>
                <a:latin typeface="Calibri"/>
              </a:rPr>
              <a:t>chcscans</a:t>
            </a:r>
            <a:r>
              <a:rPr lang="en-US" sz="1200" b="1" strike="noStrike" spc="-1">
                <a:solidFill>
                  <a:srgbClr val="0D0D0D"/>
                </a:solidFill>
                <a:latin typeface="Calibri"/>
              </a:rPr>
              <a:t> </a:t>
            </a:r>
            <a:endParaRPr lang="en-US" sz="1200" b="0" strike="noStrike" spc="-1">
              <a:solidFill>
                <a:srgbClr val="000000"/>
              </a:solidFill>
              <a:latin typeface="Arial"/>
            </a:endParaRPr>
          </a:p>
          <a:p>
            <a:pPr algn="ctr">
              <a:lnSpc>
                <a:spcPct val="100000"/>
              </a:lnSpc>
            </a:pPr>
            <a:r>
              <a:rPr lang="en-US" sz="1200" b="1" strike="noStrike" spc="-1">
                <a:solidFill>
                  <a:srgbClr val="0D0D0D"/>
                </a:solidFill>
                <a:latin typeface="Calibri"/>
              </a:rPr>
              <a:t>Original scans and csv files for import</a:t>
            </a:r>
            <a:endParaRPr lang="en-US" sz="1200" b="0" strike="noStrike" spc="-1">
              <a:solidFill>
                <a:srgbClr val="000000"/>
              </a:solidFill>
              <a:latin typeface="Arial"/>
            </a:endParaRPr>
          </a:p>
        </p:txBody>
      </p:sp>
      <p:sp>
        <p:nvSpPr>
          <p:cNvPr id="410" name="CustomShape 46"/>
          <p:cNvSpPr/>
          <p:nvPr/>
        </p:nvSpPr>
        <p:spPr>
          <a:xfrm flipH="1">
            <a:off x="5819040" y="2091600"/>
            <a:ext cx="1117800" cy="9720"/>
          </a:xfrm>
          <a:custGeom>
            <a:avLst/>
            <a:gdLst/>
            <a:ahLst/>
            <a:cxnLst/>
            <a:rect l="l" t="t" r="r" b="b"/>
            <a:pathLst>
              <a:path w="21600" h="21600">
                <a:moveTo>
                  <a:pt x="0" y="0"/>
                </a:moveTo>
                <a:lnTo>
                  <a:pt x="21600" y="21600"/>
                </a:lnTo>
              </a:path>
            </a:pathLst>
          </a:custGeom>
          <a:noFill/>
          <a:ln w="82440">
            <a:head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11" name="CustomShape 47"/>
          <p:cNvSpPr/>
          <p:nvPr/>
        </p:nvSpPr>
        <p:spPr>
          <a:xfrm>
            <a:off x="3841560" y="5335200"/>
            <a:ext cx="166536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a:solidFill>
                  <a:srgbClr val="000000"/>
                </a:solidFill>
                <a:latin typeface="Calibri"/>
              </a:rPr>
              <a:t>Database Setup</a:t>
            </a:r>
            <a:br/>
            <a:r>
              <a:rPr lang="en-US" sz="1800" b="1" strike="noStrike" spc="-1">
                <a:solidFill>
                  <a:srgbClr val="000000"/>
                </a:solidFill>
                <a:latin typeface="Calibri"/>
              </a:rPr>
              <a:t>backups</a:t>
            </a:r>
            <a:endParaRPr lang="en-US" sz="1800" b="0" strike="noStrike" spc="-1">
              <a:solidFill>
                <a:srgbClr val="000000"/>
              </a:solidFill>
              <a:latin typeface="Arial"/>
            </a:endParaRPr>
          </a:p>
        </p:txBody>
      </p:sp>
      <p:sp>
        <p:nvSpPr>
          <p:cNvPr id="412" name="CustomShape 48"/>
          <p:cNvSpPr/>
          <p:nvPr/>
        </p:nvSpPr>
        <p:spPr>
          <a:xfrm>
            <a:off x="1862280" y="4389120"/>
            <a:ext cx="168336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Azure Console</a:t>
            </a:r>
          </a:p>
          <a:p>
            <a:pPr algn="ctr"/>
            <a:r>
              <a:rPr lang="en-US" sz="1800" b="0" strike="noStrike" spc="-1">
                <a:solidFill>
                  <a:srgbClr val="000000"/>
                </a:solidFill>
                <a:latin typeface="Arial"/>
              </a:rPr>
              <a:t>Azure SSH</a:t>
            </a:r>
            <a:endParaRPr lang="en-US" sz="1800" b="0" strike="noStrike" spc="-1">
              <a:solidFill>
                <a:srgbClr val="000000"/>
              </a:solidFill>
              <a:latin typeface="Arial"/>
              <a:ea typeface="Microsoft YaHei"/>
            </a:endParaRPr>
          </a:p>
        </p:txBody>
      </p:sp>
      <p:sp>
        <p:nvSpPr>
          <p:cNvPr id="413" name="CustomShape 49"/>
          <p:cNvSpPr/>
          <p:nvPr/>
        </p:nvSpPr>
        <p:spPr>
          <a:xfrm>
            <a:off x="4864320" y="1737360"/>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a:solidFill>
                  <a:srgbClr val="000000"/>
                </a:solidFill>
                <a:latin typeface="Arial"/>
              </a:rPr>
              <a:t>Azure Storage</a:t>
            </a:r>
            <a:br/>
            <a:r>
              <a:rPr lang="en-US" sz="1800" b="0" strike="noStrike" spc="-1">
                <a:solidFill>
                  <a:srgbClr val="000000"/>
                </a:solidFill>
                <a:latin typeface="Arial"/>
              </a:rPr>
              <a:t>Explorer</a:t>
            </a:r>
            <a:endParaRPr lang="en-US" sz="1800" b="0" strike="noStrike" spc="-1">
              <a:solidFill>
                <a:srgbClr val="000000"/>
              </a:solidFill>
              <a:latin typeface="Arial"/>
              <a:ea typeface="Microsoft YaHei"/>
            </a:endParaRPr>
          </a:p>
        </p:txBody>
      </p:sp>
      <p:sp>
        <p:nvSpPr>
          <p:cNvPr id="414" name="CustomShape 50"/>
          <p:cNvSpPr/>
          <p:nvPr/>
        </p:nvSpPr>
        <p:spPr>
          <a:xfrm>
            <a:off x="3759840" y="3200400"/>
            <a:ext cx="793440" cy="45972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Azure</a:t>
            </a:r>
            <a:br/>
            <a:r>
              <a:rPr lang="en-US" sz="1800" b="1" strike="noStrike" spc="-1">
                <a:solidFill>
                  <a:srgbClr val="333333"/>
                </a:solidFill>
                <a:latin typeface="Calibri"/>
              </a:rPr>
              <a:t>mariadb</a:t>
            </a:r>
            <a:endParaRPr lang="en-US" sz="1800" b="1" strike="noStrike" spc="-1">
              <a:solidFill>
                <a:srgbClr val="333333"/>
              </a:solidFill>
              <a:latin typeface="Calibri"/>
              <a:ea typeface="Microsoft YaHei"/>
            </a:endParaRPr>
          </a:p>
        </p:txBody>
      </p:sp>
      <p:sp>
        <p:nvSpPr>
          <p:cNvPr id="415" name="TextShape 51"/>
          <p:cNvSpPr txBox="1"/>
          <p:nvPr/>
        </p:nvSpPr>
        <p:spPr>
          <a:xfrm>
            <a:off x="5441760" y="6390360"/>
            <a:ext cx="1247040" cy="364680"/>
          </a:xfrm>
          <a:prstGeom prst="rect">
            <a:avLst/>
          </a:prstGeom>
          <a:noFill/>
          <a:ln>
            <a:noFill/>
          </a:ln>
        </p:spPr>
        <p:txBody>
          <a:bodyPr anchor="ctr">
            <a:noAutofit/>
          </a:bodyPr>
          <a:lstStyle/>
          <a:p>
            <a:pPr>
              <a:lnSpc>
                <a:spcPct val="100000"/>
              </a:lnSpc>
            </a:pPr>
            <a:fld id="{03AD6084-321B-4C1B-8ED5-E26BE9B8EDC4}" type="datetime1">
              <a:rPr lang="en-US" sz="1200" b="0" strike="noStrike" spc="-1">
                <a:solidFill>
                  <a:srgbClr val="8B8B8B"/>
                </a:solidFill>
                <a:latin typeface="Calibri"/>
              </a:rPr>
              <a:t>9/1/2023</a:t>
            </a:fld>
            <a:endParaRPr lang="en-US" sz="1200" b="0" strike="noStrike" spc="-1">
              <a:latin typeface="Times New Roman"/>
            </a:endParaRPr>
          </a:p>
        </p:txBody>
      </p:sp>
      <p:sp>
        <p:nvSpPr>
          <p:cNvPr id="416" name="TextShape 52"/>
          <p:cNvSpPr txBox="1"/>
          <p:nvPr/>
        </p:nvSpPr>
        <p:spPr>
          <a:xfrm>
            <a:off x="255600" y="6390360"/>
            <a:ext cx="2742840" cy="364680"/>
          </a:xfrm>
          <a:prstGeom prst="rect">
            <a:avLst/>
          </a:prstGeom>
          <a:noFill/>
          <a:ln>
            <a:noFill/>
          </a:ln>
        </p:spPr>
        <p:txBody>
          <a:bodyPr anchor="ctr">
            <a:noAutofit/>
          </a:bodyPr>
          <a:lstStyle/>
          <a:p>
            <a:pPr>
              <a:lnSpc>
                <a:spcPct val="100000"/>
              </a:lnSpc>
            </a:pPr>
            <a:fld id="{D00192D6-550B-4022-A116-B4A4ACEE4BDA}" type="slidenum">
              <a:rPr lang="en-US" sz="1200" b="0" strike="noStrike" spc="-1">
                <a:solidFill>
                  <a:srgbClr val="8B8B8B"/>
                </a:solidFill>
                <a:latin typeface="Calibri"/>
              </a:rPr>
              <a:t>25</a:t>
            </a:fld>
            <a:endParaRPr lang="en-US" sz="1200" b="0" strike="noStrike" spc="-1">
              <a:latin typeface="Times New Roman"/>
            </a:endParaRPr>
          </a:p>
        </p:txBody>
      </p:sp>
      <p:sp>
        <p:nvSpPr>
          <p:cNvPr id="417" name="CustomShape 53"/>
          <p:cNvSpPr/>
          <p:nvPr/>
        </p:nvSpPr>
        <p:spPr>
          <a:xfrm>
            <a:off x="5738760" y="4389120"/>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a:solidFill>
                  <a:srgbClr val="000000"/>
                </a:solidFill>
                <a:latin typeface="Arial"/>
              </a:rPr>
              <a:t>Azure Storage</a:t>
            </a:r>
            <a:br/>
            <a:r>
              <a:rPr lang="en-US" sz="1800" b="0" strike="noStrike" spc="-1">
                <a:solidFill>
                  <a:srgbClr val="000000"/>
                </a:solidFill>
                <a:latin typeface="Arial"/>
              </a:rPr>
              <a:t>Explorer</a:t>
            </a:r>
            <a:endParaRPr lang="en-US" sz="1800" b="0" strike="noStrike" spc="-1">
              <a:solidFill>
                <a:srgbClr val="000000"/>
              </a:solidFill>
              <a:latin typeface="Arial"/>
              <a:ea typeface="Microsoft YaHei"/>
            </a:endParaRPr>
          </a:p>
        </p:txBody>
      </p:sp>
      <p:sp>
        <p:nvSpPr>
          <p:cNvPr id="418" name="CustomShape 54"/>
          <p:cNvSpPr/>
          <p:nvPr/>
        </p:nvSpPr>
        <p:spPr>
          <a:xfrm flipV="1">
            <a:off x="7226280" y="4708080"/>
            <a:ext cx="1645920" cy="1512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19" name="CustomShape 55"/>
          <p:cNvSpPr/>
          <p:nvPr/>
        </p:nvSpPr>
        <p:spPr>
          <a:xfrm>
            <a:off x="3657600" y="4382280"/>
            <a:ext cx="133740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lnSpc>
                <a:spcPct val="100000"/>
              </a:lnSpc>
            </a:pPr>
            <a:r>
              <a:rPr lang="en-US" sz="1800" b="0" strike="noStrike" spc="-1">
                <a:latin typeface="Arial"/>
              </a:rPr>
              <a:t>MySQL</a:t>
            </a:r>
            <a:endParaRPr lang="en-US" sz="1800" b="0" strike="noStrike" spc="-1">
              <a:latin typeface="Arial"/>
              <a:ea typeface="Microsoft YaHei"/>
            </a:endParaRPr>
          </a:p>
          <a:p>
            <a:pPr algn="ctr">
              <a:lnSpc>
                <a:spcPct val="100000"/>
              </a:lnSpc>
            </a:pPr>
            <a:r>
              <a:rPr lang="en-US" sz="1800" b="0" strike="noStrike" spc="-1">
                <a:latin typeface="Arial"/>
              </a:rPr>
              <a:t>Workbench</a:t>
            </a:r>
            <a:endParaRPr lang="en-US" sz="1800" b="0" strike="noStrike" spc="-1">
              <a:latin typeface="Arial"/>
              <a:ea typeface="Microsoft YaHei"/>
            </a:endParaRPr>
          </a:p>
        </p:txBody>
      </p:sp>
      <p:sp>
        <p:nvSpPr>
          <p:cNvPr id="420" name="CustomShape 56"/>
          <p:cNvSpPr/>
          <p:nvPr/>
        </p:nvSpPr>
        <p:spPr>
          <a:xfrm>
            <a:off x="274320" y="4382280"/>
            <a:ext cx="1494360" cy="64620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a:solidFill>
                  <a:srgbClr val="000000"/>
                </a:solidFill>
                <a:latin typeface="Arial"/>
              </a:rPr>
              <a:t>Docker Push</a:t>
            </a:r>
          </a:p>
          <a:p>
            <a:pPr algn="ctr"/>
            <a:endParaRPr lang="en-US" sz="1800" b="0" strike="noStrike" spc="-1">
              <a:solidFill>
                <a:srgbClr val="000000"/>
              </a:solidFill>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Roles &amp; Responsibilities (Draft) </a:t>
            </a:r>
            <a:endParaRPr lang="en-US" sz="2400" b="0" strike="noStrike" spc="-1">
              <a:solidFill>
                <a:srgbClr val="000000"/>
              </a:solidFill>
              <a:latin typeface="Arial"/>
            </a:endParaRPr>
          </a:p>
        </p:txBody>
      </p:sp>
      <p:sp>
        <p:nvSpPr>
          <p:cNvPr id="422" name="CustomShape 2"/>
          <p:cNvSpPr/>
          <p:nvPr/>
        </p:nvSpPr>
        <p:spPr>
          <a:xfrm>
            <a:off x="370800" y="835920"/>
            <a:ext cx="3709080" cy="59583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CHC Omeka Owner: (</a:t>
            </a:r>
            <a:r>
              <a:rPr lang="en-US" b="1" spc="-1" dirty="0">
                <a:solidFill>
                  <a:srgbClr val="2F5597"/>
                </a:solidFill>
                <a:latin typeface="Agency FB"/>
              </a:rPr>
              <a:t>Viv</a:t>
            </a:r>
            <a:r>
              <a:rPr lang="en-US" sz="1800" b="1" strike="noStrike" spc="-1" dirty="0">
                <a:solidFill>
                  <a:srgbClr val="2F5597"/>
                </a:solidFill>
                <a:latin typeface="Agency FB"/>
              </a:rPr>
              <a:t>?  Charlie?)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Is responsible for the long term viability of the Omeka installation.</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Makes and maintains agreements with the IT department.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executive view of file management, backup and recovery. </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Receives reports of routine snapshot activity </a:t>
            </a:r>
            <a:endParaRPr lang="en-US" sz="1800" b="0" strike="noStrike" spc="-1" dirty="0">
              <a:solidFill>
                <a:srgbClr val="000000"/>
              </a:solidFill>
              <a:latin typeface="Arial"/>
            </a:endParaRPr>
          </a:p>
          <a:p>
            <a:pPr>
              <a:lnSpc>
                <a:spcPct val="100000"/>
              </a:lnSpc>
            </a:pPr>
            <a:r>
              <a:rPr lang="en-US" sz="1800" b="1" strike="noStrike" spc="-1" dirty="0">
                <a:solidFill>
                  <a:srgbClr val="2F5597"/>
                </a:solidFill>
                <a:latin typeface="Agency FB"/>
              </a:rPr>
              <a:t>CHC CDASH Administrator (Meta)</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Directs ongoing development of resources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new Omeka accounts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Understands how to do bulk </a:t>
            </a:r>
            <a:r>
              <a:rPr lang="en-US" sz="1800" b="1" strike="noStrike" spc="-1" dirty="0" err="1">
                <a:solidFill>
                  <a:srgbClr val="595959"/>
                </a:solidFill>
                <a:latin typeface="Agency FB"/>
              </a:rPr>
              <a:t>inports</a:t>
            </a:r>
            <a:r>
              <a:rPr lang="en-US" sz="1800" b="1" strike="noStrike" spc="-1" dirty="0">
                <a:solidFill>
                  <a:srgbClr val="595959"/>
                </a:solidFill>
                <a:latin typeface="Agency FB"/>
              </a:rPr>
              <a:t> and Routine item import</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Delegates design and development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metadata templates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Exhibits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and improve Item Metadata and linking.</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423" name="CustomShape 3"/>
          <p:cNvSpPr/>
          <p:nvPr/>
        </p:nvSpPr>
        <p:spPr>
          <a:xfrm>
            <a:off x="8111880" y="834840"/>
            <a:ext cx="3709080" cy="34131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Azure Owner (Cambridge IT)</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Pays monthly Azure bills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Holds full rights to delegate anything on Azure resources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Evaluates and has last word on system design.</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enough about the architecture, rebuild scripts, passwords and  documentation to delegate full system control to new Omeka/Azure Developer in case of emergency. </a:t>
            </a:r>
            <a:endParaRPr lang="en-US" sz="1800" b="0" strike="noStrike" spc="-1" dirty="0">
              <a:solidFill>
                <a:srgbClr val="000000"/>
              </a:solidFill>
              <a:latin typeface="Arial"/>
            </a:endParaRPr>
          </a:p>
        </p:txBody>
      </p:sp>
      <p:sp>
        <p:nvSpPr>
          <p:cNvPr id="424" name="CustomShape 4"/>
          <p:cNvSpPr/>
          <p:nvPr/>
        </p:nvSpPr>
        <p:spPr>
          <a:xfrm>
            <a:off x="4241160" y="834840"/>
            <a:ext cx="3709080" cy="5715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Omeka/Azure Developer: (pbc)</a:t>
            </a:r>
            <a:endParaRPr lang="en-US" sz="1800" b="0" strike="noStrike" spc="-1">
              <a:solidFill>
                <a:srgbClr val="000000"/>
              </a:solidFill>
              <a:latin typeface="Arial"/>
            </a:endParaRPr>
          </a:p>
          <a:p>
            <a:pPr>
              <a:lnSpc>
                <a:spcPct val="100000"/>
              </a:lnSpc>
              <a:spcAft>
                <a:spcPts val="601"/>
              </a:spcAft>
            </a:pPr>
            <a:r>
              <a:rPr lang="en-US" sz="1800" b="1" strike="noStrike" spc="-1">
                <a:solidFill>
                  <a:srgbClr val="595959"/>
                </a:solidFill>
                <a:latin typeface="Agency FB"/>
              </a:rPr>
              <a:t>Designs and implements C-Dash system </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Development (test) sandbox</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Production environment </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Documentation</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Training</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Handles batch rough-sort, initial catalog and Omeka Imports</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Assists C-Dash Owner with developing look/Feel and Features</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Assists with developing new metadata templates and linking infrastructure </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Monitors regular snapshot activities</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Tests and verifies recoverability</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Maintains all system rebuild scripts and passwords, up-to-date in a secure location that is accessible to Omeka/Azure Owner.</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25" name="CustomShape 5"/>
          <p:cNvSpPr/>
          <p:nvPr/>
        </p:nvSpPr>
        <p:spPr>
          <a:xfrm>
            <a:off x="8111880" y="4258800"/>
            <a:ext cx="3709080" cy="2437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Omeka/Azure Developer Capabilities</a:t>
            </a:r>
            <a:endParaRPr lang="en-US" sz="1800" b="0" strike="noStrike" spc="-1">
              <a:solidFill>
                <a:srgbClr val="000000"/>
              </a:solidFill>
              <a:latin typeface="Arial"/>
            </a:endParaRPr>
          </a:p>
          <a:p>
            <a:pPr>
              <a:lnSpc>
                <a:spcPct val="100000"/>
              </a:lnSpc>
              <a:spcAft>
                <a:spcPts val="601"/>
              </a:spcAft>
            </a:pPr>
            <a:r>
              <a:rPr lang="en-US" sz="1800" b="1" strike="noStrike" spc="-1">
                <a:solidFill>
                  <a:srgbClr val="595959"/>
                </a:solidFill>
                <a:latin typeface="Agency FB"/>
              </a:rPr>
              <a:t>In the event that the Omeka/Azure developer should need to be replaced, a consultant who has experience with commonphp/linux applications such as wordpress should be able to figure out how this system works from the documentation.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26" name="TextShape 6"/>
          <p:cNvSpPr txBox="1"/>
          <p:nvPr/>
        </p:nvSpPr>
        <p:spPr>
          <a:xfrm>
            <a:off x="5441760" y="6390360"/>
            <a:ext cx="1247040" cy="364680"/>
          </a:xfrm>
          <a:prstGeom prst="rect">
            <a:avLst/>
          </a:prstGeom>
          <a:noFill/>
          <a:ln>
            <a:noFill/>
          </a:ln>
        </p:spPr>
        <p:txBody>
          <a:bodyPr anchor="ctr">
            <a:noAutofit/>
          </a:bodyPr>
          <a:lstStyle/>
          <a:p>
            <a:pPr>
              <a:lnSpc>
                <a:spcPct val="100000"/>
              </a:lnSpc>
            </a:pPr>
            <a:fld id="{29804C94-8FFC-4E8B-912A-52626C60052A}" type="datetime1">
              <a:rPr lang="en-US" sz="1200" b="0" strike="noStrike" spc="-1">
                <a:solidFill>
                  <a:srgbClr val="8B8B8B"/>
                </a:solidFill>
                <a:latin typeface="Calibri"/>
              </a:rPr>
              <a:t>9/1/2023</a:t>
            </a:fld>
            <a:endParaRPr lang="en-US" sz="1200" b="0" strike="noStrike" spc="-1">
              <a:latin typeface="Times New Roman"/>
            </a:endParaRPr>
          </a:p>
        </p:txBody>
      </p:sp>
      <p:sp>
        <p:nvSpPr>
          <p:cNvPr id="427" name="TextShape 7"/>
          <p:cNvSpPr txBox="1"/>
          <p:nvPr/>
        </p:nvSpPr>
        <p:spPr>
          <a:xfrm>
            <a:off x="255600" y="6390360"/>
            <a:ext cx="2742840" cy="364680"/>
          </a:xfrm>
          <a:prstGeom prst="rect">
            <a:avLst/>
          </a:prstGeom>
          <a:noFill/>
          <a:ln>
            <a:noFill/>
          </a:ln>
        </p:spPr>
        <p:txBody>
          <a:bodyPr anchor="ctr">
            <a:noAutofit/>
          </a:bodyPr>
          <a:lstStyle/>
          <a:p>
            <a:pPr>
              <a:lnSpc>
                <a:spcPct val="100000"/>
              </a:lnSpc>
            </a:pPr>
            <a:fld id="{67AAFF70-2D41-4AC3-AB95-FD8D8B95C03F}" type="slidenum">
              <a:rPr lang="en-US" sz="1200" b="0" strike="noStrike" spc="-1">
                <a:solidFill>
                  <a:srgbClr val="8B8B8B"/>
                </a:solidFill>
                <a:latin typeface="Calibri"/>
              </a:rPr>
              <a:t>26</a:t>
            </a:fld>
            <a:endParaRPr lang="en-US" sz="1200" b="0" strike="noStrike" spc="-1">
              <a:latin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CustomShape 1"/>
          <p:cNvSpPr/>
          <p:nvPr/>
        </p:nvSpPr>
        <p:spPr>
          <a:xfrm>
            <a:off x="370800" y="2505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Cambridge-Specific Internet Interfaces (Suggested) </a:t>
            </a:r>
            <a:endParaRPr lang="en-US" sz="2400" b="0" strike="noStrike" spc="-1">
              <a:solidFill>
                <a:srgbClr val="000000"/>
              </a:solidFill>
              <a:latin typeface="Arial"/>
            </a:endParaRPr>
          </a:p>
        </p:txBody>
      </p:sp>
      <p:sp>
        <p:nvSpPr>
          <p:cNvPr id="429" name="CustomShape 2"/>
          <p:cNvSpPr/>
          <p:nvPr/>
        </p:nvSpPr>
        <p:spPr>
          <a:xfrm>
            <a:off x="370800" y="1121760"/>
            <a:ext cx="3709080" cy="3885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CHC Domain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Ideally, once this service is ready for production, it should have a regular URL within the Cambridgema/CHC branch of the web site.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www.cambridgema.gov/chc/c-dash</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2F5597"/>
                </a:solidFill>
                <a:latin typeface="Agency FB"/>
              </a:rPr>
              <a:t>HTTPS Certificates:</a:t>
            </a: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For now the Omeka service is using plain http.  Once users start registering we may want to use HTTPS.  Would it make sense to use a Cmabridge certificate, or create a new one for C-Dash?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0" name="CustomShape 3"/>
          <p:cNvSpPr/>
          <p:nvPr/>
        </p:nvSpPr>
        <p:spPr>
          <a:xfrm>
            <a:off x="8269560" y="1121760"/>
            <a:ext cx="3709080" cy="3260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(Optional) VPN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Currently all files are transferred through the Azure Management Console.  The bulk import workflow involves one stage of unzipping the archives using th4e SSH console.  Evenmtually, this could be more user friendly to non-linux users if file access was through a VPN connection – which, it seems requires authentication information on the client.  This is not urgent, and requires further investigation.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1" name="CustomShape 4"/>
          <p:cNvSpPr/>
          <p:nvPr/>
        </p:nvSpPr>
        <p:spPr>
          <a:xfrm>
            <a:off x="4320000" y="891000"/>
            <a:ext cx="3709080" cy="18126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z="1800" b="0" strike="noStrike" spc="-1">
              <a:solidFill>
                <a:srgbClr val="000000"/>
              </a:solidFill>
              <a:latin typeface="Arial"/>
            </a:endParaRPr>
          </a:p>
          <a:p>
            <a:pPr>
              <a:lnSpc>
                <a:spcPct val="100000"/>
              </a:lnSpc>
              <a:spcAft>
                <a:spcPts val="601"/>
              </a:spcAft>
            </a:pPr>
            <a:r>
              <a:rPr lang="en-US" sz="1800" b="1" strike="noStrike" spc="-1">
                <a:solidFill>
                  <a:srgbClr val="2F5597"/>
                </a:solidFill>
                <a:latin typeface="Agency FB"/>
              </a:rPr>
              <a:t>(Optional) CHC SendMail Address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Certain aspects of new user registration and notificationrequire the sending of emails.  This requires reference to a sendmail server. Optimally, these emails would come from.</a:t>
            </a:r>
            <a:endParaRPr lang="en-US" sz="1800" b="0" strike="noStrike" spc="-1">
              <a:solidFill>
                <a:srgbClr val="000000"/>
              </a:solidFill>
              <a:latin typeface="Arial"/>
            </a:endParaRPr>
          </a:p>
        </p:txBody>
      </p:sp>
      <p:sp>
        <p:nvSpPr>
          <p:cNvPr id="432"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A089D492-F452-4A4A-AC18-017D97225FAB}" type="datetime1">
              <a:rPr lang="en-US" sz="1200" b="0" strike="noStrike" spc="-1">
                <a:solidFill>
                  <a:srgbClr val="8B8B8B"/>
                </a:solidFill>
                <a:latin typeface="Calibri"/>
              </a:rPr>
              <a:t>9/1/2023</a:t>
            </a:fld>
            <a:endParaRPr lang="en-US" sz="1200" b="0" strike="noStrike" spc="-1">
              <a:latin typeface="Times New Roman"/>
            </a:endParaRPr>
          </a:p>
        </p:txBody>
      </p:sp>
      <p:sp>
        <p:nvSpPr>
          <p:cNvPr id="433"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44B2A950-F2AB-4AEF-ACA6-1F7ED724EE90}" type="slidenum">
              <a:rPr lang="en-US" sz="1200" b="0" strike="noStrike" spc="-1">
                <a:solidFill>
                  <a:srgbClr val="8B8B8B"/>
                </a:solidFill>
                <a:latin typeface="Calibri"/>
              </a:rPr>
              <a:t>27</a:t>
            </a:fld>
            <a:endParaRPr lang="en-US" sz="1200" b="0" strike="noStrike" spc="-1">
              <a:latin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34"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Address, Location, and Building References (in progress) </a:t>
            </a:r>
            <a:endParaRPr lang="en-US" sz="2400" b="0" strike="noStrike" spc="-1">
              <a:solidFill>
                <a:srgbClr val="000000"/>
              </a:solidFill>
              <a:latin typeface="Arial"/>
            </a:endParaRPr>
          </a:p>
        </p:txBody>
      </p:sp>
      <p:sp>
        <p:nvSpPr>
          <p:cNvPr id="435" name="CustomShape 2"/>
          <p:cNvSpPr/>
          <p:nvPr/>
        </p:nvSpPr>
        <p:spPr>
          <a:xfrm>
            <a:off x="370800" y="610200"/>
            <a:ext cx="3709080" cy="5288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Most C-Dash documents refer the location of their subject with a street address or an address range.</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Part of our workflow for preparing scans for ingest into Omeka is to convert these addresses into simple latitude Longitude locations.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Optimally, we would like these locations and addresses to be positively associated with buildings:</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exist today</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have been removed</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When there are two items in Omeka that reference the same building, it would be nice if each of these used the same building identifier.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There are several resources and methods for doing this.  </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436" name="CustomShape 3"/>
          <p:cNvSpPr/>
          <p:nvPr/>
        </p:nvSpPr>
        <p:spPr>
          <a:xfrm>
            <a:off x="4426560" y="584640"/>
            <a:ext cx="3709080" cy="525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The Tax Assessor has mailing addresses for parcels and individual buildings within a parcel.  These references also happen to be associated with lots of useful information including year-built.  The assessor also has a Building Identifier for each building that is assessed.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polygons for current buildngs with a unique building identifier (not the assessor’s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Address Points for addresses that are observable.  These are associated with buildings.  Many Assessor addresses are not represented in these GIS Address Points.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A common way of doing rough geocoding is to use street segment lines that have high and low addresses for the even and odd numbered side.  These can be used to interpolate addresses  </a:t>
            </a:r>
            <a:endParaRPr lang="en-US" sz="1800" b="0" strike="noStrike" spc="-1">
              <a:solidFill>
                <a:srgbClr val="000000"/>
              </a:solidFill>
              <a:latin typeface="Arial"/>
            </a:endParaRPr>
          </a:p>
        </p:txBody>
      </p:sp>
      <p:sp>
        <p:nvSpPr>
          <p:cNvPr id="437" name="CustomShape 4"/>
          <p:cNvSpPr/>
          <p:nvPr/>
        </p:nvSpPr>
        <p:spPr>
          <a:xfrm>
            <a:off x="8206920" y="578880"/>
            <a:ext cx="3709080" cy="6385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Cambridge GIS is embarking on a project to improve its address points.  Here are some recommendations: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Create a list of building addresses associated with assessor building IDs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Match these with current address points.  Where you have a match, flag the address point record with the assessor’s building ID.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Where there is no match between the asseor’s address and the GIS address points: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If there is only one building in the parcel, then these points can be moved into the building.  These addresses are flagged as assessing addresses.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There wil be many parcel building addresses that may not be automatically associated with GIS buildings.  Hopefully it may be easy to manually figure out how to place these into the right polygons.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…to be continued</a:t>
            </a:r>
            <a:endParaRPr lang="en-US" sz="1800" b="0" strike="noStrike" spc="-1">
              <a:solidFill>
                <a:srgbClr val="000000"/>
              </a:solidFill>
              <a:latin typeface="Arial"/>
            </a:endParaRPr>
          </a:p>
          <a:p>
            <a:pPr>
              <a:lnSpc>
                <a:spcPct val="100000"/>
              </a:lnSpc>
              <a:spcAft>
                <a:spcPts val="601"/>
              </a:spcAft>
            </a:pPr>
            <a:endParaRPr lang="en-US" sz="1800" b="0" strike="noStrike" spc="-1">
              <a:solidFill>
                <a:srgbClr val="000000"/>
              </a:solidFill>
              <a:latin typeface="Arial"/>
            </a:endParaRPr>
          </a:p>
        </p:txBody>
      </p:sp>
      <p:sp>
        <p:nvSpPr>
          <p:cNvPr id="438"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D3A1BB42-D4EC-4C33-813A-98EC94FCDB0A}" type="datetime1">
              <a:rPr lang="en-US" sz="1200" b="0" strike="noStrike" spc="-1">
                <a:solidFill>
                  <a:srgbClr val="8B8B8B"/>
                </a:solidFill>
                <a:latin typeface="Calibri"/>
              </a:rPr>
              <a:t>9/1/2023</a:t>
            </a:fld>
            <a:endParaRPr lang="en-US" sz="1200" b="0" strike="noStrike" spc="-1">
              <a:latin typeface="Times New Roman"/>
            </a:endParaRPr>
          </a:p>
        </p:txBody>
      </p:sp>
      <p:sp>
        <p:nvSpPr>
          <p:cNvPr id="439"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EC2B1968-1C23-404F-8BF5-9D334DF69902}" type="slidenum">
              <a:rPr lang="en-US" sz="1200" b="0" strike="noStrike" spc="-1">
                <a:solidFill>
                  <a:srgbClr val="8B8B8B"/>
                </a:solidFill>
                <a:latin typeface="Calibri"/>
              </a:rPr>
              <a:t>28</a:t>
            </a:fld>
            <a:endParaRPr lang="en-US" sz="1200" b="0" strike="noStrike" spc="-1">
              <a:latin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TextShape 1"/>
          <p:cNvSpPr txBox="1"/>
          <p:nvPr/>
        </p:nvSpPr>
        <p:spPr>
          <a:xfrm>
            <a:off x="838080" y="1116360"/>
            <a:ext cx="10515240" cy="5394600"/>
          </a:xfrm>
          <a:prstGeom prst="rect">
            <a:avLst/>
          </a:prstGeom>
          <a:noFill/>
          <a:ln>
            <a:noFill/>
          </a:ln>
        </p:spPr>
        <p:txBody>
          <a:bodyPr>
            <a:normAutofit lnSpcReduction="10000"/>
          </a:bodyPr>
          <a:lstStyle/>
          <a:p>
            <a:pPr>
              <a:lnSpc>
                <a:spcPct val="90000"/>
              </a:lnSpc>
              <a:spcBef>
                <a:spcPts val="1001"/>
              </a:spcBef>
            </a:pPr>
            <a:r>
              <a:rPr lang="en-US" sz="2800" b="0" strike="noStrike" spc="-1">
                <a:solidFill>
                  <a:srgbClr val="000000"/>
                </a:solidFill>
                <a:latin typeface="Calibri"/>
              </a:rPr>
              <a:t>These references provide some background on how to organize a digitizing project.</a:t>
            </a: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Digital Public Library of America</a:t>
            </a:r>
            <a:br/>
            <a:r>
              <a:rPr lang="en-US" sz="2400" b="1" strike="noStrike" spc="-1">
                <a:solidFill>
                  <a:srgbClr val="808080"/>
                </a:solidFill>
                <a:latin typeface="Calibri"/>
              </a:rPr>
              <a:t>Digital Reformatting and File Management</a:t>
            </a:r>
            <a:br/>
            <a:r>
              <a:rPr lang="en-US" sz="1600" b="0" u="sng" strike="noStrike" spc="-1">
                <a:solidFill>
                  <a:srgbClr val="0563C1"/>
                </a:solidFill>
                <a:uFillTx/>
                <a:latin typeface="Calibri"/>
                <a:hlinkClick r:id="rId2"/>
              </a:rPr>
              <a:t>http://dp.la/info/about/projects/public-library-partnerships/digital-reformatting-and-file-management/</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National Archives:</a:t>
            </a:r>
            <a:br/>
            <a:r>
              <a:rPr lang="en-US" sz="2400" b="1" strike="noStrike" spc="-1">
                <a:solidFill>
                  <a:srgbClr val="808080"/>
                </a:solidFill>
                <a:latin typeface="Calibri"/>
              </a:rPr>
              <a:t>Technical Guidelines for Digitizing Archival Materials for Electronic Access: Creation of Production Master Files – Raster Images</a:t>
            </a:r>
            <a:br/>
            <a:r>
              <a:rPr lang="en-US" sz="1600" b="0" u="sng" strike="noStrike" spc="-1">
                <a:solidFill>
                  <a:srgbClr val="0563C1"/>
                </a:solidFill>
                <a:uFillTx/>
                <a:latin typeface="Calibri"/>
                <a:hlinkClick r:id="rId3"/>
              </a:rPr>
              <a:t>https://www.archives.gov/files/preservation/technical/guidelines.pdf</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Smithsonian Institution</a:t>
            </a:r>
            <a:br/>
            <a:r>
              <a:rPr lang="en-US" sz="2400" b="1" strike="noStrike" spc="-1">
                <a:solidFill>
                  <a:srgbClr val="808080"/>
                </a:solidFill>
                <a:latin typeface="Calibri"/>
              </a:rPr>
              <a:t>Digitizing Collections</a:t>
            </a:r>
            <a:br/>
            <a:r>
              <a:rPr lang="en-US" sz="1600" b="0" u="sng" strike="noStrike" spc="-1">
                <a:solidFill>
                  <a:srgbClr val="0563C1"/>
                </a:solidFill>
                <a:uFillTx/>
                <a:latin typeface="Calibri"/>
                <a:hlinkClick r:id="rId4"/>
              </a:rPr>
              <a:t>https://siarchives.si.edu/what-we-do/digital-curation/digitizing-collections</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Open Archive Initiative</a:t>
            </a:r>
            <a:br/>
            <a:r>
              <a:rPr lang="en-US" sz="2400" b="1" strike="noStrike" spc="-1">
                <a:solidFill>
                  <a:srgbClr val="808080"/>
                </a:solidFill>
                <a:latin typeface="Calibri"/>
              </a:rPr>
              <a:t>Standards for Web Content Interoperability</a:t>
            </a:r>
            <a:br/>
            <a:r>
              <a:rPr lang="en-US" sz="1600" b="0" u="sng" strike="noStrike" spc="-1">
                <a:solidFill>
                  <a:srgbClr val="0563C1"/>
                </a:solidFill>
                <a:uFillTx/>
                <a:latin typeface="Calibri"/>
                <a:hlinkClick r:id="rId5"/>
              </a:rPr>
              <a:t>https://openarchives.org/</a:t>
            </a:r>
            <a:br/>
            <a:r>
              <a:rPr lang="en-US" sz="1600" b="0" strike="noStrike" spc="-1">
                <a:solidFill>
                  <a:srgbClr val="000000"/>
                </a:solidFill>
                <a:latin typeface="Calibri"/>
              </a:rPr>
              <a:t> </a:t>
            </a:r>
          </a:p>
        </p:txBody>
      </p:sp>
      <p:sp>
        <p:nvSpPr>
          <p:cNvPr id="138" name="CustomShape 2"/>
          <p:cNvSpPr/>
          <p:nvPr/>
        </p:nvSpPr>
        <p:spPr>
          <a:xfrm>
            <a:off x="838080" y="346680"/>
            <a:ext cx="3970800" cy="760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400" b="1" strike="noStrike" spc="-1">
                <a:solidFill>
                  <a:srgbClr val="2E75B6"/>
                </a:solidFill>
                <a:latin typeface="Calibri"/>
              </a:rPr>
              <a:t>Resources</a:t>
            </a:r>
            <a:endParaRPr lang="en-US" sz="4400" b="0" strike="noStrike" spc="-1">
              <a:solidFill>
                <a:srgbClr val="000000"/>
              </a:solidFill>
              <a:latin typeface="Arial"/>
            </a:endParaRPr>
          </a:p>
        </p:txBody>
      </p:sp>
      <p:sp>
        <p:nvSpPr>
          <p:cNvPr id="139" name="TextShape 3"/>
          <p:cNvSpPr txBox="1"/>
          <p:nvPr/>
        </p:nvSpPr>
        <p:spPr>
          <a:xfrm>
            <a:off x="5678640" y="6409800"/>
            <a:ext cx="1375200" cy="364680"/>
          </a:xfrm>
          <a:prstGeom prst="rect">
            <a:avLst/>
          </a:prstGeom>
          <a:noFill/>
          <a:ln>
            <a:noFill/>
          </a:ln>
        </p:spPr>
        <p:txBody>
          <a:bodyPr anchor="ctr">
            <a:noAutofit/>
          </a:bodyPr>
          <a:lstStyle/>
          <a:p>
            <a:pPr>
              <a:lnSpc>
                <a:spcPct val="100000"/>
              </a:lnSpc>
            </a:pPr>
            <a:fld id="{96DF9C7D-5E38-486E-8788-46E53B4540D2}" type="datetime1">
              <a:rPr lang="en-US" sz="1200" b="0" strike="noStrike" spc="-1">
                <a:solidFill>
                  <a:srgbClr val="8B8B8B"/>
                </a:solidFill>
                <a:latin typeface="Calibri"/>
              </a:rPr>
              <a:t>9/1/2023</a:t>
            </a:fld>
            <a:endParaRPr lang="en-US" sz="1200" b="0" strike="noStrike" spc="-1">
              <a:latin typeface="Times New Roman"/>
            </a:endParaRPr>
          </a:p>
        </p:txBody>
      </p:sp>
      <p:sp>
        <p:nvSpPr>
          <p:cNvPr id="140" name="TextShape 4"/>
          <p:cNvSpPr txBox="1"/>
          <p:nvPr/>
        </p:nvSpPr>
        <p:spPr>
          <a:xfrm>
            <a:off x="838080" y="6396480"/>
            <a:ext cx="964440" cy="364680"/>
          </a:xfrm>
          <a:prstGeom prst="rect">
            <a:avLst/>
          </a:prstGeom>
          <a:noFill/>
          <a:ln>
            <a:noFill/>
          </a:ln>
        </p:spPr>
        <p:txBody>
          <a:bodyPr anchor="ctr">
            <a:noAutofit/>
          </a:bodyPr>
          <a:lstStyle/>
          <a:p>
            <a:pPr>
              <a:lnSpc>
                <a:spcPct val="100000"/>
              </a:lnSpc>
            </a:pPr>
            <a:fld id="{DDC9E873-F36C-4741-A928-0EF646AA7E33}" type="slidenum">
              <a:rPr lang="en-US" sz="1200" b="0" strike="noStrike" spc="-1">
                <a:solidFill>
                  <a:srgbClr val="8B8B8B"/>
                </a:solidFill>
                <a:latin typeface="Calibri"/>
              </a:rPr>
              <a:t>29</a:t>
            </a:fld>
            <a:endParaRPr lang="en-US" sz="1200" b="0" strike="noStrike" spc="-1">
              <a:latin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80422</TotalTime>
  <Words>3729</Words>
  <Application>Microsoft Office PowerPoint</Application>
  <PresentationFormat>Widescreen</PresentationFormat>
  <Paragraphs>435</Paragraphs>
  <Slides>29</Slides>
  <Notes>0</Notes>
  <HiddenSlides>2</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29</vt:i4>
      </vt:variant>
    </vt:vector>
  </HeadingPairs>
  <TitlesOfParts>
    <vt:vector size="40" baseType="lpstr">
      <vt:lpstr>Agency FB</vt:lpstr>
      <vt:lpstr>Arial</vt:lpstr>
      <vt:lpstr>Calibri</vt:lpstr>
      <vt:lpstr>Calibri Light</vt:lpstr>
      <vt:lpstr>Courier New</vt:lpstr>
      <vt:lpstr>Symbol</vt:lpstr>
      <vt:lpstr>Times New Roman</vt:lpstr>
      <vt:lpstr>Wingdings</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pbcote</dc:creator>
  <dc:description/>
  <cp:lastModifiedBy>Paul Cote</cp:lastModifiedBy>
  <cp:revision>213</cp:revision>
  <dcterms:created xsi:type="dcterms:W3CDTF">2017-06-06T09:45:10Z</dcterms:created>
  <dcterms:modified xsi:type="dcterms:W3CDTF">2023-09-02T12:59:52Z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1</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Widescreen</vt:lpwstr>
  </property>
  <property fmtid="{D5CDD505-2E9C-101B-9397-08002B2CF9AE}" pid="9" name="ScaleCrop">
    <vt:bool>false</vt:bool>
  </property>
  <property fmtid="{D5CDD505-2E9C-101B-9397-08002B2CF9AE}" pid="10" name="ShareDoc">
    <vt:bool>false</vt:bool>
  </property>
  <property fmtid="{D5CDD505-2E9C-101B-9397-08002B2CF9AE}" pid="11" name="Slides">
    <vt:i4>18</vt:i4>
  </property>
</Properties>
</file>