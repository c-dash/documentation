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60" r:id="rId6"/>
    <p:sldId id="261" r:id="rId7"/>
    <p:sldId id="262" r:id="rId8"/>
    <p:sldId id="283" r:id="rId9"/>
    <p:sldId id="258" r:id="rId10"/>
    <p:sldId id="266" r:id="rId11"/>
    <p:sldId id="276" r:id="rId12"/>
    <p:sldId id="274" r:id="rId13"/>
    <p:sldId id="278" r:id="rId14"/>
    <p:sldId id="280" r:id="rId15"/>
    <p:sldId id="281" r:id="rId16"/>
    <p:sldId id="286" r:id="rId17"/>
    <p:sldId id="282"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60" d="100"/>
          <a:sy n="60" d="100"/>
        </p:scale>
        <p:origin x="768" y="8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1/3/2024</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1/3/2024</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1/3/2024</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5.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5.png"/><Relationship Id="rId2" Type="http://schemas.openxmlformats.org/officeDocument/2006/relationships/image" Target="../media/image12.jpeg"/><Relationship Id="rId1" Type="http://schemas.openxmlformats.org/officeDocument/2006/relationships/slideLayout" Target="../slideLayouts/slideLayout2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9.jpeg"/><Relationship Id="rId2" Type="http://schemas.openxmlformats.org/officeDocument/2006/relationships/image" Target="../media/image36.png"/><Relationship Id="rId1" Type="http://schemas.openxmlformats.org/officeDocument/2006/relationships/slideLayout" Target="../slideLayouts/slideLayout25.xml"/><Relationship Id="rId6" Type="http://schemas.microsoft.com/office/2007/relationships/hdphoto" Target="../media/hdphoto1.wdp"/><Relationship Id="rId5" Type="http://schemas.openxmlformats.org/officeDocument/2006/relationships/image" Target="../media/image38.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1/3/2024</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and other documentation related to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dirty="0" err="1">
                    <a:solidFill>
                      <a:srgbClr val="C00000"/>
                    </a:solidFill>
                    <a:latin typeface="Calibri"/>
                  </a:rPr>
                  <a:t>Flynn_St</a:t>
                </a:r>
                <a:endParaRPr lang="en-US" sz="2000" b="0" strike="noStrike" spc="-1" dirty="0">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995892" y="1054970"/>
            <a:ext cx="3267131" cy="175287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4-8_Cambridge_St_0001.tif</a:t>
            </a:r>
            <a:endParaRPr lang="en-US" sz="2000" b="0" strike="noStrike" spc="-1" dirty="0">
              <a:solidFill>
                <a:srgbClr val="000000"/>
              </a:solidFill>
              <a:latin typeface="Arial"/>
            </a:endParaRPr>
          </a:p>
          <a:p>
            <a:pPr>
              <a:lnSpc>
                <a:spcPct val="100000"/>
              </a:lnSpc>
            </a:pPr>
            <a:r>
              <a:rPr lang="en-US" sz="2000" b="1" spc="-1" dirty="0">
                <a:solidFill>
                  <a:srgbClr val="C00000"/>
                </a:solidFill>
                <a:latin typeface="Agency FB"/>
              </a:rPr>
              <a:t>4-8</a:t>
            </a:r>
            <a:r>
              <a:rPr lang="en-US" sz="2000" b="1" strike="noStrike" spc="-1" dirty="0">
                <a:solidFill>
                  <a:srgbClr val="C00000"/>
                </a:solidFill>
                <a:latin typeface="Agency FB"/>
              </a:rPr>
              <a:t>_Cambridge_St_0002.tif</a:t>
            </a:r>
          </a:p>
          <a:p>
            <a:pPr>
              <a:lnSpc>
                <a:spcPct val="100000"/>
              </a:lnSpc>
            </a:pPr>
            <a:r>
              <a:rPr lang="en-US" sz="2800" b="1" spc="-1" dirty="0">
                <a:solidFill>
                  <a:srgbClr val="C00000"/>
                </a:solidFill>
                <a:latin typeface="Agency FB"/>
              </a:rPr>
              <a:t>…</a:t>
            </a:r>
            <a:endParaRPr lang="en-US" sz="2800" b="0" strike="noStrike" spc="-1" dirty="0">
              <a:solidFill>
                <a:srgbClr val="000000"/>
              </a:solidFill>
              <a:latin typeface="Arial"/>
            </a:endParaRPr>
          </a:p>
          <a:p>
            <a:pPr>
              <a:lnSpc>
                <a:spcPct val="100000"/>
              </a:lnSpc>
            </a:pPr>
            <a:r>
              <a:rPr lang="en-US" sz="2000" b="1" spc="-1" dirty="0">
                <a:solidFill>
                  <a:srgbClr val="C00000"/>
                </a:solidFill>
                <a:latin typeface="Agency FB"/>
              </a:rPr>
              <a:t>14-20</a:t>
            </a:r>
            <a:r>
              <a:rPr lang="en-US" sz="2000" b="1" strike="noStrike" spc="-1" dirty="0">
                <a:solidFill>
                  <a:srgbClr val="C00000"/>
                </a:solidFill>
                <a:latin typeface="Agency FB"/>
              </a:rPr>
              <a:t>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1/3/2024</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3</a:t>
            </a:fld>
            <a:endParaRPr lang="en-US" sz="1200" b="0" strike="noStrike" spc="-1">
              <a:latin typeface="Times New Roman"/>
            </a:endParaRPr>
          </a:p>
        </p:txBody>
      </p:sp>
      <p:grpSp>
        <p:nvGrpSpPr>
          <p:cNvPr id="2" name="Group 1">
            <a:extLst>
              <a:ext uri="{FF2B5EF4-FFF2-40B4-BE49-F238E27FC236}">
                <a16:creationId xmlns:a16="http://schemas.microsoft.com/office/drawing/2014/main" id="{94C6C376-6A5F-E391-2B4B-F6334C17FADC}"/>
              </a:ext>
            </a:extLst>
          </p:cNvPr>
          <p:cNvGrpSpPr/>
          <p:nvPr/>
        </p:nvGrpSpPr>
        <p:grpSpPr>
          <a:xfrm>
            <a:off x="1007743" y="2951738"/>
            <a:ext cx="2068281" cy="1294816"/>
            <a:chOff x="1007743" y="3285587"/>
            <a:chExt cx="2068281" cy="1294816"/>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2064325" y="3568704"/>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1007743" y="3285587"/>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1181798" y="3793967"/>
              <a:ext cx="1426522"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4-324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grpSp>
        <p:nvGrpSpPr>
          <p:cNvPr id="4" name="Group 3">
            <a:extLst>
              <a:ext uri="{FF2B5EF4-FFF2-40B4-BE49-F238E27FC236}">
                <a16:creationId xmlns:a16="http://schemas.microsoft.com/office/drawing/2014/main" id="{47A2ACAF-200B-DF9E-B0B5-8C6926E43367}"/>
              </a:ext>
            </a:extLst>
          </p:cNvPr>
          <p:cNvGrpSpPr/>
          <p:nvPr/>
        </p:nvGrpSpPr>
        <p:grpSpPr>
          <a:xfrm>
            <a:off x="1007743" y="4529670"/>
            <a:ext cx="2068281" cy="1294816"/>
            <a:chOff x="1007743" y="3285587"/>
            <a:chExt cx="2068281" cy="1294816"/>
          </a:xfrm>
        </p:grpSpPr>
        <p:pic>
          <p:nvPicPr>
            <p:cNvPr id="8" name="Picture 7" descr="Image result for pages">
              <a:extLst>
                <a:ext uri="{FF2B5EF4-FFF2-40B4-BE49-F238E27FC236}">
                  <a16:creationId xmlns:a16="http://schemas.microsoft.com/office/drawing/2014/main" id="{D7C139CC-D2BD-89C1-9B28-819D437FD78F}"/>
                </a:ext>
              </a:extLst>
            </p:cNvPr>
            <p:cNvPicPr/>
            <p:nvPr/>
          </p:nvPicPr>
          <p:blipFill>
            <a:blip r:embed="rId3"/>
            <a:stretch/>
          </p:blipFill>
          <p:spPr>
            <a:xfrm rot="16200000">
              <a:off x="2064325" y="3568704"/>
              <a:ext cx="1011699" cy="1011699"/>
            </a:xfrm>
            <a:prstGeom prst="rect">
              <a:avLst/>
            </a:prstGeom>
            <a:ln>
              <a:noFill/>
            </a:ln>
          </p:spPr>
        </p:pic>
        <p:pic>
          <p:nvPicPr>
            <p:cNvPr id="10" name="Picture 2" descr="Image result for folder">
              <a:extLst>
                <a:ext uri="{FF2B5EF4-FFF2-40B4-BE49-F238E27FC236}">
                  <a16:creationId xmlns:a16="http://schemas.microsoft.com/office/drawing/2014/main" id="{40948D3A-2DFC-7684-2645-FD6ABF5EEDA4}"/>
                </a:ext>
              </a:extLst>
            </p:cNvPr>
            <p:cNvPicPr/>
            <p:nvPr/>
          </p:nvPicPr>
          <p:blipFill>
            <a:blip r:embed="rId4"/>
            <a:stretch/>
          </p:blipFill>
          <p:spPr>
            <a:xfrm>
              <a:off x="1007743" y="3285587"/>
              <a:ext cx="1790981" cy="1219286"/>
            </a:xfrm>
            <a:prstGeom prst="rect">
              <a:avLst/>
            </a:prstGeom>
            <a:ln>
              <a:noFill/>
            </a:ln>
          </p:spPr>
        </p:pic>
        <p:sp>
          <p:nvSpPr>
            <p:cNvPr id="16" name="CustomShape 6">
              <a:extLst>
                <a:ext uri="{FF2B5EF4-FFF2-40B4-BE49-F238E27FC236}">
                  <a16:creationId xmlns:a16="http://schemas.microsoft.com/office/drawing/2014/main" id="{ABA55FB8-BCE7-F005-1BA9-8B34B0DF63FE}"/>
                </a:ext>
              </a:extLst>
            </p:cNvPr>
            <p:cNvSpPr/>
            <p:nvPr/>
          </p:nvSpPr>
          <p:spPr>
            <a:xfrm>
              <a:off x="1063936" y="3806504"/>
              <a:ext cx="1701661"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pc="-1" dirty="0">
                  <a:solidFill>
                    <a:srgbClr val="C00000"/>
                  </a:solidFill>
                  <a:latin typeface="Calibri"/>
                </a:rPr>
                <a:t>725 Mass Ave</a:t>
              </a:r>
              <a:br>
                <a:rPr lang="en-US" sz="1200" b="1" spc="-1" dirty="0">
                  <a:solidFill>
                    <a:srgbClr val="C00000"/>
                  </a:solidFill>
                  <a:latin typeface="Calibri"/>
                </a:rPr>
              </a:br>
              <a:r>
                <a:rPr lang="en-US" sz="1200" b="1" spc="-1" dirty="0">
                  <a:solidFill>
                    <a:srgbClr val="C00000"/>
                  </a:solidFill>
                  <a:latin typeface="Calibri"/>
                </a:rPr>
                <a:t>City Hall Mortar Studies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1/3/2024</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4</a:t>
            </a:fld>
            <a:endParaRPr lang="en-US" sz="1200" b="0" strike="noStrike" spc="-1">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1/3/2024</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5</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1/3/2024</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1/3/2024</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8</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txBody>
          <a:bodyPr/>
          <a:lstStyle/>
          <a:p>
            <a:endParaRPr lang="en-US"/>
          </a:p>
        </p:txBody>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1/3/2024</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1/3/2024</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1/3/2024</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1/3/2024</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1/3/2024</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1/3/2024</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F864590-EF54-0D3C-7B88-FE5AD84BE8B9}"/>
              </a:ext>
            </a:extLst>
          </p:cNvPr>
          <p:cNvGrpSpPr/>
          <p:nvPr/>
        </p:nvGrpSpPr>
        <p:grpSpPr>
          <a:xfrm>
            <a:off x="-13367" y="718560"/>
            <a:ext cx="12303419" cy="5839200"/>
            <a:chOff x="-13367" y="718560"/>
            <a:chExt cx="12303419" cy="5839200"/>
          </a:xfrm>
        </p:grpSpPr>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9" name="CustomShape 3"/>
            <p:cNvSpPr/>
            <p:nvPr/>
          </p:nvSpPr>
          <p:spPr>
            <a:xfrm rot="306055">
              <a:off x="-13367" y="1987623"/>
              <a:ext cx="12303419" cy="3008160"/>
            </a:xfrm>
            <a:prstGeom prst="cloud">
              <a:avLst/>
            </a:prstGeom>
            <a:solidFill>
              <a:schemeClr val="accent1">
                <a:lumMod val="20000"/>
                <a:lumOff val="80000"/>
                <a:alpha val="78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US" sz="1800" b="0" strike="noStrike" spc="-1" dirty="0">
                <a:solidFill>
                  <a:srgbClr val="000000"/>
                </a:solidFill>
                <a:latin typeface="Arial"/>
              </a:endParaRPr>
            </a:p>
          </p:txBody>
        </p:sp>
      </p:grpSp>
      <p:sp>
        <p:nvSpPr>
          <p:cNvPr id="379" name="CustomShape 18"/>
          <p:cNvSpPr/>
          <p:nvPr/>
        </p:nvSpPr>
        <p:spPr>
          <a:xfrm>
            <a:off x="9362417" y="-1706933"/>
            <a:ext cx="1174685"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4" name="Group 3">
            <a:extLst>
              <a:ext uri="{FF2B5EF4-FFF2-40B4-BE49-F238E27FC236}">
                <a16:creationId xmlns:a16="http://schemas.microsoft.com/office/drawing/2014/main" id="{3C31ACFE-EF97-6104-3DAA-3E1DF1A3A95C}"/>
              </a:ext>
            </a:extLst>
          </p:cNvPr>
          <p:cNvGrpSpPr/>
          <p:nvPr/>
        </p:nvGrpSpPr>
        <p:grpSpPr>
          <a:xfrm>
            <a:off x="3073444" y="2599215"/>
            <a:ext cx="1687363" cy="1450080"/>
            <a:chOff x="1904776" y="2527920"/>
            <a:chExt cx="1687363" cy="1450080"/>
          </a:xfrm>
        </p:grpSpPr>
        <p:pic>
          <p:nvPicPr>
            <p:cNvPr id="373" name="Picture 2"/>
            <p:cNvPicPr/>
            <p:nvPr/>
          </p:nvPicPr>
          <p:blipFill>
            <a:blip r:embed="rId2"/>
            <a:stretch/>
          </p:blipFill>
          <p:spPr>
            <a:xfrm>
              <a:off x="1924200" y="2527920"/>
              <a:ext cx="1602720" cy="1450080"/>
            </a:xfrm>
            <a:prstGeom prst="rect">
              <a:avLst/>
            </a:prstGeom>
            <a:ln>
              <a:noFill/>
            </a:ln>
            <a:effectLst>
              <a:softEdge rad="63500"/>
            </a:effectLst>
          </p:spPr>
        </p:pic>
        <p:sp>
          <p:nvSpPr>
            <p:cNvPr id="374" name="CustomShape 14"/>
            <p:cNvSpPr/>
            <p:nvPr/>
          </p:nvSpPr>
          <p:spPr>
            <a:xfrm>
              <a:off x="2020698" y="2902289"/>
              <a:ext cx="1436204" cy="1014209"/>
            </a:xfrm>
            <a:prstGeom prst="rect">
              <a:avLst/>
            </a:prstGeom>
            <a:noFill/>
            <a:ln>
              <a:noFill/>
            </a:ln>
            <a:effectLst>
              <a:glow rad="228600">
                <a:schemeClr val="accent1">
                  <a:satMod val="175000"/>
                  <a:alpha val="91000"/>
                </a:scheme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pc="-1" dirty="0">
                  <a:effectLst>
                    <a:glow rad="304800">
                      <a:schemeClr val="bg1">
                        <a:alpha val="97000"/>
                      </a:schemeClr>
                    </a:glow>
                  </a:effectLst>
                  <a:latin typeface="Calibri"/>
                </a:rPr>
                <a:t>Linux</a:t>
              </a:r>
              <a:r>
                <a:rPr lang="en-US" sz="1800" b="1" strike="noStrike" spc="-1" dirty="0">
                  <a:effectLst>
                    <a:glow rad="304800">
                      <a:schemeClr val="bg1">
                        <a:alpha val="97000"/>
                      </a:schemeClr>
                    </a:glow>
                  </a:effectLst>
                  <a:latin typeface="Calibri"/>
                </a:rPr>
                <a:t> </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Apache/P</a:t>
              </a:r>
              <a:r>
                <a:rPr lang="en-US" sz="1400" b="1" spc="-1" dirty="0">
                  <a:effectLst>
                    <a:glow rad="304800">
                      <a:schemeClr val="bg1">
                        <a:alpha val="97000"/>
                      </a:schemeClr>
                    </a:glow>
                  </a:effectLst>
                  <a:latin typeface="Calibri"/>
                </a:rPr>
                <a:t>HP</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Omeka</a:t>
              </a:r>
            </a:p>
            <a:p>
              <a:pPr algn="ctr">
                <a:lnSpc>
                  <a:spcPct val="100000"/>
                </a:lnSpc>
              </a:pPr>
              <a:r>
                <a:rPr lang="en-US" sz="1400" b="1" spc="-1" dirty="0">
                  <a:effectLst>
                    <a:glow rad="304800">
                      <a:schemeClr val="bg1">
                        <a:alpha val="97000"/>
                      </a:schemeClr>
                    </a:glow>
                  </a:effectLst>
                  <a:latin typeface="Calibri"/>
                </a:rPr>
                <a:t>Custom Modules</a:t>
              </a:r>
              <a:endParaRPr lang="en-US" sz="1400" b="1" strike="noStrike" spc="-1" dirty="0">
                <a:effectLst>
                  <a:glow rad="304800">
                    <a:schemeClr val="bg1">
                      <a:alpha val="97000"/>
                    </a:schemeClr>
                  </a:glow>
                </a:effectLst>
                <a:latin typeface="Arial"/>
              </a:endParaRPr>
            </a:p>
          </p:txBody>
        </p:sp>
        <p:sp>
          <p:nvSpPr>
            <p:cNvPr id="404" name="CustomShape 40"/>
            <p:cNvSpPr/>
            <p:nvPr/>
          </p:nvSpPr>
          <p:spPr>
            <a:xfrm>
              <a:off x="1904776" y="2630807"/>
              <a:ext cx="1687363"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333333"/>
                  </a:solidFill>
                  <a:effectLst>
                    <a:glow rad="228600">
                      <a:schemeClr val="bg1">
                        <a:alpha val="91000"/>
                      </a:schemeClr>
                    </a:glow>
                  </a:effectLst>
                  <a:latin typeface="Calibri"/>
                </a:rPr>
                <a:t>CHCOmeka</a:t>
              </a:r>
              <a:r>
                <a:rPr lang="en-US" b="1" spc="-1" dirty="0">
                  <a:solidFill>
                    <a:srgbClr val="333333"/>
                  </a:solidFill>
                  <a:effectLst>
                    <a:glow rad="228600">
                      <a:schemeClr val="bg1">
                        <a:alpha val="91000"/>
                      </a:schemeClr>
                    </a:glow>
                  </a:effectLst>
                  <a:latin typeface="Calibri"/>
                </a:rPr>
                <a:t> App</a:t>
              </a:r>
            </a:p>
          </p:txBody>
        </p:sp>
      </p:gr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80" name="Group 19"/>
          <p:cNvGrpSpPr/>
          <p:nvPr/>
        </p:nvGrpSpPr>
        <p:grpSpPr>
          <a:xfrm>
            <a:off x="998017" y="2751840"/>
            <a:ext cx="1399271" cy="1088280"/>
            <a:chOff x="420505" y="2751840"/>
            <a:chExt cx="1399271" cy="1088280"/>
          </a:xfrm>
        </p:grpSpPr>
        <p:pic>
          <p:nvPicPr>
            <p:cNvPr id="381" name="Picture 2" descr="Image result for azure docker registry"/>
            <p:cNvPicPr/>
            <p:nvPr/>
          </p:nvPicPr>
          <p:blipFill>
            <a:blip r:embed="rId3"/>
            <a:srcRect l="44436" t="8029" r="40888" b="33535"/>
            <a:stretch/>
          </p:blipFill>
          <p:spPr>
            <a:xfrm>
              <a:off x="512280" y="2751840"/>
              <a:ext cx="1188720" cy="1088280"/>
            </a:xfrm>
            <a:prstGeom prst="rect">
              <a:avLst/>
            </a:prstGeom>
            <a:ln>
              <a:noFill/>
            </a:ln>
          </p:spPr>
        </p:pic>
        <p:sp>
          <p:nvSpPr>
            <p:cNvPr id="382" name="CustomShape 20"/>
            <p:cNvSpPr/>
            <p:nvPr/>
          </p:nvSpPr>
          <p:spPr>
            <a:xfrm>
              <a:off x="420505" y="2889000"/>
              <a:ext cx="1399271"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dirty="0" err="1">
                  <a:solidFill>
                    <a:srgbClr val="333333"/>
                  </a:solidFill>
                  <a:effectLst>
                    <a:glow rad="228600">
                      <a:schemeClr val="bg1">
                        <a:alpha val="91000"/>
                      </a:schemeClr>
                    </a:glow>
                  </a:effectLst>
                  <a:latin typeface="Calibri"/>
                </a:rPr>
                <a:t>AzurePrivate</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Docker</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Registry</a:t>
              </a:r>
              <a:r>
                <a:rPr lang="en-US" sz="1800" b="1" strike="noStrike" spc="-1" dirty="0">
                  <a:solidFill>
                    <a:srgbClr val="000000"/>
                  </a:solidFill>
                  <a:effectLst>
                    <a:glow rad="228600">
                      <a:schemeClr val="bg1">
                        <a:alpha val="91000"/>
                      </a:schemeClr>
                    </a:glow>
                  </a:effectLst>
                  <a:latin typeface="Calibri"/>
                </a:rPr>
                <a:t> </a:t>
              </a:r>
              <a:endParaRPr lang="en-US" sz="1800" b="0" strike="noStrike" spc="-1" dirty="0">
                <a:solidFill>
                  <a:srgbClr val="000000"/>
                </a:solidFill>
                <a:effectLst>
                  <a:glow rad="228600">
                    <a:schemeClr val="bg1">
                      <a:alpha val="91000"/>
                    </a:schemeClr>
                  </a:glow>
                </a:effectLst>
                <a:latin typeface="Arial"/>
              </a:endParaRPr>
            </a:p>
          </p:txBody>
        </p:sp>
      </p:grpSp>
      <p:sp>
        <p:nvSpPr>
          <p:cNvPr id="361" name="CustomShape 5"/>
          <p:cNvSpPr/>
          <p:nvPr/>
        </p:nvSpPr>
        <p:spPr>
          <a:xfrm>
            <a:off x="6435168" y="2564227"/>
            <a:ext cx="4516104"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63" name="Group 7"/>
          <p:cNvGrpSpPr/>
          <p:nvPr/>
        </p:nvGrpSpPr>
        <p:grpSpPr>
          <a:xfrm>
            <a:off x="9511405" y="3086234"/>
            <a:ext cx="1163160" cy="749277"/>
            <a:chOff x="6495120" y="3057120"/>
            <a:chExt cx="1163160" cy="749277"/>
          </a:xfrm>
        </p:grpSpPr>
        <p:pic>
          <p:nvPicPr>
            <p:cNvPr id="364" name="Picture 2" descr="Image result for folder"/>
            <p:cNvPicPr/>
            <p:nvPr/>
          </p:nvPicPr>
          <p:blipFill>
            <a:blip r:embed="rId4"/>
            <a:stretch/>
          </p:blipFill>
          <p:spPr>
            <a:xfrm>
              <a:off x="6495120" y="3057120"/>
              <a:ext cx="1163160" cy="724680"/>
            </a:xfrm>
            <a:prstGeom prst="rect">
              <a:avLst/>
            </a:prstGeom>
            <a:ln>
              <a:noFill/>
            </a:ln>
          </p:spPr>
        </p:pic>
        <p:sp>
          <p:nvSpPr>
            <p:cNvPr id="365" name="CustomShape 8"/>
            <p:cNvSpPr/>
            <p:nvPr/>
          </p:nvSpPr>
          <p:spPr>
            <a:xfrm>
              <a:off x="6686408" y="3161520"/>
              <a:ext cx="836744"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CDASH</a:t>
              </a:r>
            </a:p>
            <a:p>
              <a:pPr algn="ctr">
                <a:lnSpc>
                  <a:spcPct val="100000"/>
                </a:lnSpc>
              </a:pPr>
              <a:r>
                <a:rPr lang="en-US" sz="1800" b="1" strike="noStrike" spc="-1" dirty="0">
                  <a:solidFill>
                    <a:srgbClr val="000000"/>
                  </a:solidFill>
                  <a:latin typeface="Calibri"/>
                </a:rPr>
                <a:t>Theme</a:t>
              </a:r>
              <a:endParaRPr lang="en-US" sz="1800" b="0" strike="noStrike" spc="-1" dirty="0">
                <a:solidFill>
                  <a:srgbClr val="000000"/>
                </a:solidFill>
                <a:latin typeface="Arial"/>
              </a:endParaRPr>
            </a:p>
          </p:txBody>
        </p:sp>
      </p:grpSp>
      <p:grpSp>
        <p:nvGrpSpPr>
          <p:cNvPr id="369" name="Group 11"/>
          <p:cNvGrpSpPr/>
          <p:nvPr/>
        </p:nvGrpSpPr>
        <p:grpSpPr>
          <a:xfrm>
            <a:off x="6724968" y="3026689"/>
            <a:ext cx="1163160" cy="820526"/>
            <a:chOff x="5194440" y="3008712"/>
            <a:chExt cx="1163160" cy="820526"/>
          </a:xfrm>
        </p:grpSpPr>
        <p:pic>
          <p:nvPicPr>
            <p:cNvPr id="370" name="Picture 2" descr="Image result for folder"/>
            <p:cNvPicPr/>
            <p:nvPr/>
          </p:nvPicPr>
          <p:blipFill>
            <a:blip r:embed="rId4"/>
            <a:stretch/>
          </p:blipFill>
          <p:spPr>
            <a:xfrm>
              <a:off x="5194440" y="3008712"/>
              <a:ext cx="1163160" cy="786600"/>
            </a:xfrm>
            <a:prstGeom prst="rect">
              <a:avLst/>
            </a:prstGeom>
            <a:ln>
              <a:noFill/>
            </a:ln>
          </p:spPr>
        </p:pic>
        <p:sp>
          <p:nvSpPr>
            <p:cNvPr id="371" name="CustomShape 12"/>
            <p:cNvSpPr/>
            <p:nvPr/>
          </p:nvSpPr>
          <p:spPr>
            <a:xfrm>
              <a:off x="5302080" y="3184361"/>
              <a:ext cx="844632"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 Media</a:t>
              </a:r>
            </a:p>
            <a:p>
              <a:pPr algn="ctr">
                <a:lnSpc>
                  <a:spcPct val="100000"/>
                </a:lnSpc>
              </a:pPr>
              <a:r>
                <a:rPr lang="en-US" b="1" spc="-1" dirty="0">
                  <a:solidFill>
                    <a:srgbClr val="000000"/>
                  </a:solidFill>
                  <a:latin typeface="Calibri"/>
                </a:rPr>
                <a:t>Files</a:t>
              </a:r>
              <a:endParaRPr lang="en-US" sz="1800" b="0" strike="noStrike" spc="-1" dirty="0">
                <a:solidFill>
                  <a:srgbClr val="000000"/>
                </a:solidFill>
                <a:latin typeface="Arial"/>
              </a:endParaRPr>
            </a:p>
          </p:txBody>
        </p:sp>
      </p:grpSp>
      <p:sp>
        <p:nvSpPr>
          <p:cNvPr id="378" name="CustomShape 17"/>
          <p:cNvSpPr/>
          <p:nvPr/>
        </p:nvSpPr>
        <p:spPr>
          <a:xfrm>
            <a:off x="8221414" y="2629517"/>
            <a:ext cx="1205180"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000000"/>
                </a:solidFill>
                <a:latin typeface="Calibri"/>
              </a:rPr>
              <a:t>C</a:t>
            </a:r>
            <a:r>
              <a:rPr lang="en-US" sz="1800" b="1" strike="noStrike" spc="-1" dirty="0" err="1">
                <a:solidFill>
                  <a:srgbClr val="000000"/>
                </a:solidFill>
                <a:latin typeface="Calibri"/>
              </a:rPr>
              <a:t>hcPersist</a:t>
            </a:r>
            <a:r>
              <a:rPr lang="en-US" sz="1800" b="1" strike="noStrike" spc="-1" dirty="0">
                <a:solidFill>
                  <a:srgbClr val="000000"/>
                </a:solidFill>
                <a:latin typeface="Calibri"/>
              </a:rPr>
              <a:t> </a:t>
            </a:r>
            <a:endParaRPr lang="en-US" sz="1800" b="0" strike="noStrike" spc="-1" dirty="0">
              <a:solidFill>
                <a:srgbClr val="000000"/>
              </a:solidFill>
              <a:latin typeface="Arial"/>
            </a:endParaRPr>
          </a:p>
        </p:txBody>
      </p:sp>
      <p:grpSp>
        <p:nvGrpSpPr>
          <p:cNvPr id="383" name="Group 21"/>
          <p:cNvGrpSpPr/>
          <p:nvPr/>
        </p:nvGrpSpPr>
        <p:grpSpPr>
          <a:xfrm>
            <a:off x="8032572" y="3068010"/>
            <a:ext cx="1188360" cy="777228"/>
            <a:chOff x="5270580" y="3051372"/>
            <a:chExt cx="1188360" cy="777228"/>
          </a:xfrm>
        </p:grpSpPr>
        <p:pic>
          <p:nvPicPr>
            <p:cNvPr id="384" name="Picture 2" descr="Image result for folder"/>
            <p:cNvPicPr/>
            <p:nvPr/>
          </p:nvPicPr>
          <p:blipFill>
            <a:blip r:embed="rId4"/>
            <a:stretch/>
          </p:blipFill>
          <p:spPr>
            <a:xfrm>
              <a:off x="5270580" y="3051372"/>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a:t>
              </a:r>
              <a:br>
                <a:rPr dirty="0"/>
              </a:br>
              <a:r>
                <a:rPr lang="en-US" sz="1800" b="1" strike="noStrike" spc="-1" dirty="0">
                  <a:solidFill>
                    <a:srgbClr val="000000"/>
                  </a:solidFill>
                  <a:latin typeface="Calibri"/>
                </a:rPr>
                <a:t>Config</a:t>
              </a:r>
              <a:endParaRPr lang="en-US" sz="1800" b="0" strike="noStrike" spc="-1" dirty="0">
                <a:solidFill>
                  <a:srgbClr val="000000"/>
                </a:solidFill>
                <a:latin typeface="Arial"/>
              </a:endParaRPr>
            </a:p>
          </p:txBody>
        </p:sp>
      </p:grpSp>
      <p:sp>
        <p:nvSpPr>
          <p:cNvPr id="386" name="CustomShape 23"/>
          <p:cNvSpPr/>
          <p:nvPr/>
        </p:nvSpPr>
        <p:spPr>
          <a:xfrm>
            <a:off x="9571329" y="1429938"/>
            <a:ext cx="154328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 Admin</a:t>
            </a:r>
            <a:endParaRPr lang="en-US" sz="1800" b="1" strike="noStrike" spc="-1" dirty="0">
              <a:solidFill>
                <a:srgbClr val="000000"/>
              </a:solidFill>
              <a:latin typeface="Calibri"/>
            </a:endParaRPr>
          </a:p>
          <a:p>
            <a:pPr algn="ctr">
              <a:lnSpc>
                <a:spcPct val="100000"/>
              </a:lnSpc>
            </a:pPr>
            <a:r>
              <a:rPr lang="en-US" sz="1800" b="1" strike="noStrike" spc="-1" dirty="0">
                <a:solidFill>
                  <a:srgbClr val="000000"/>
                </a:solidFill>
                <a:latin typeface="Calibri"/>
              </a:rPr>
              <a:t>New Content</a:t>
            </a:r>
            <a:endParaRPr lang="en-US" sz="1800" b="0" strike="noStrike" spc="-1" dirty="0">
              <a:solidFill>
                <a:srgbClr val="000000"/>
              </a:solidFill>
              <a:latin typeface="Arial"/>
            </a:endParaRPr>
          </a:p>
        </p:txBody>
      </p:sp>
      <p:sp>
        <p:nvSpPr>
          <p:cNvPr id="387" name="CustomShape 24"/>
          <p:cNvSpPr/>
          <p:nvPr/>
        </p:nvSpPr>
        <p:spPr>
          <a:xfrm>
            <a:off x="4235112"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1095599" y="85320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Users</a:t>
            </a:r>
            <a:endParaRPr lang="en-US" sz="1800" b="0" strike="noStrike" spc="-1" dirty="0">
              <a:solidFill>
                <a:srgbClr val="000000"/>
              </a:solidFill>
              <a:latin typeface="Arial"/>
            </a:endParaRPr>
          </a:p>
        </p:txBody>
      </p:sp>
      <p:sp>
        <p:nvSpPr>
          <p:cNvPr id="389" name="CustomShape 26"/>
          <p:cNvSpPr/>
          <p:nvPr/>
        </p:nvSpPr>
        <p:spPr>
          <a:xfrm>
            <a:off x="2399760" y="843955"/>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Contributors</a:t>
            </a:r>
            <a:endParaRPr lang="en-US" sz="1800" b="0" strike="noStrike" spc="-1" dirty="0">
              <a:solidFill>
                <a:srgbClr val="000000"/>
              </a:solidFill>
              <a:latin typeface="Arial"/>
            </a:endParaRPr>
          </a:p>
        </p:txBody>
      </p:sp>
      <p:sp>
        <p:nvSpPr>
          <p:cNvPr id="390" name="CustomShape 27"/>
          <p:cNvSpPr/>
          <p:nvPr/>
        </p:nvSpPr>
        <p:spPr>
          <a:xfrm>
            <a:off x="9442512" y="4073399"/>
            <a:ext cx="1365840" cy="1528849"/>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91" name="CustomShape 28"/>
          <p:cNvSpPr/>
          <p:nvPr/>
        </p:nvSpPr>
        <p:spPr>
          <a:xfrm>
            <a:off x="886646" y="5284878"/>
            <a:ext cx="1522959"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Development </a:t>
            </a:r>
            <a:endParaRPr lang="en-US" sz="1800" b="0" strike="noStrike" spc="-1" dirty="0">
              <a:solidFill>
                <a:srgbClr val="000000"/>
              </a:solidFill>
              <a:latin typeface="Arial"/>
            </a:endParaRPr>
          </a:p>
        </p:txBody>
      </p:sp>
      <p:sp>
        <p:nvSpPr>
          <p:cNvPr id="392" name="CustomShape 29"/>
          <p:cNvSpPr/>
          <p:nvPr/>
        </p:nvSpPr>
        <p:spPr>
          <a:xfrm>
            <a:off x="2554149" y="5258601"/>
            <a:ext cx="1834967"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Passwords</a:t>
            </a:r>
            <a:r>
              <a:rPr lang="en-US" spc="-1" dirty="0">
                <a:solidFill>
                  <a:srgbClr val="000000"/>
                </a:solidFill>
                <a:latin typeface="Arial"/>
              </a:rPr>
              <a:t>, </a:t>
            </a:r>
            <a:r>
              <a:rPr lang="en-US" b="1" spc="-1" dirty="0">
                <a:solidFill>
                  <a:srgbClr val="000000"/>
                </a:solidFill>
                <a:latin typeface="Calibri"/>
              </a:rPr>
              <a:t>Docs</a:t>
            </a:r>
            <a:br>
              <a:rPr lang="en-US" b="1" spc="-1" dirty="0">
                <a:solidFill>
                  <a:srgbClr val="000000"/>
                </a:solidFill>
                <a:latin typeface="Calibri"/>
              </a:rPr>
            </a:br>
            <a:r>
              <a:rPr lang="en-US" b="1" spc="-1" dirty="0">
                <a:solidFill>
                  <a:srgbClr val="000000"/>
                </a:solidFill>
                <a:latin typeface="Calibri"/>
              </a:rPr>
              <a:t>Troubleshooting</a:t>
            </a:r>
            <a:r>
              <a:rPr lang="en-US" sz="1800" b="1" strike="noStrike" spc="-1" dirty="0">
                <a:solidFill>
                  <a:srgbClr val="000000"/>
                </a:solidFill>
                <a:latin typeface="Calibri"/>
              </a:rPr>
              <a:t> </a:t>
            </a:r>
            <a:endParaRPr lang="en-US" sz="1800" b="0" strike="noStrike" spc="-1" dirty="0">
              <a:solidFill>
                <a:srgbClr val="000000"/>
              </a:solidFill>
              <a:latin typeface="Arial"/>
            </a:endParaRPr>
          </a:p>
          <a:p>
            <a:pPr algn="ctr">
              <a:lnSpc>
                <a:spcPct val="100000"/>
              </a:lnSpc>
            </a:pPr>
            <a:r>
              <a:rPr lang="en-US" b="1" spc="-1" dirty="0">
                <a:solidFill>
                  <a:srgbClr val="000000"/>
                </a:solidFill>
                <a:latin typeface="Calibri"/>
              </a:rPr>
              <a:t>a</a:t>
            </a:r>
            <a:r>
              <a:rPr lang="en-US" sz="1800" b="1" strike="noStrike" spc="-1" dirty="0">
                <a:solidFill>
                  <a:srgbClr val="000000"/>
                </a:solidFill>
                <a:latin typeface="Calibri"/>
              </a:rPr>
              <a:t>nd Monitoring</a:t>
            </a:r>
          </a:p>
        </p:txBody>
      </p:sp>
      <p:sp>
        <p:nvSpPr>
          <p:cNvPr id="394" name="CustomShape 31"/>
          <p:cNvSpPr/>
          <p:nvPr/>
        </p:nvSpPr>
        <p:spPr>
          <a:xfrm>
            <a:off x="8728200" y="813930"/>
            <a:ext cx="3006697"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dirty="0">
                <a:solidFill>
                  <a:srgbClr val="2E75B6"/>
                </a:solidFill>
                <a:latin typeface="Calibri"/>
              </a:rPr>
              <a:t>Web Admin and Users</a:t>
            </a:r>
            <a:endParaRPr lang="en-US" sz="2400" b="0" strike="noStrike" spc="-1" dirty="0">
              <a:solidFill>
                <a:srgbClr val="000000"/>
              </a:solidFill>
              <a:latin typeface="Arial"/>
            </a:endParaRPr>
          </a:p>
        </p:txBody>
      </p:sp>
      <p:sp>
        <p:nvSpPr>
          <p:cNvPr id="395" name="CustomShape 32"/>
          <p:cNvSpPr/>
          <p:nvPr/>
        </p:nvSpPr>
        <p:spPr>
          <a:xfrm>
            <a:off x="7812363" y="5980703"/>
            <a:ext cx="48060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dirty="0">
                <a:solidFill>
                  <a:srgbClr val="2E75B6"/>
                </a:solidFill>
                <a:latin typeface="Calibri"/>
              </a:rPr>
              <a:t>Develop, Deploy, Admin</a:t>
            </a:r>
            <a:endParaRPr lang="en-US" sz="2400" b="0" strike="noStrike" spc="-1" dirty="0">
              <a:solidFill>
                <a:srgbClr val="000000"/>
              </a:solidFill>
              <a:latin typeface="Arial"/>
            </a:endParaRPr>
          </a:p>
        </p:txBody>
      </p:sp>
      <p:sp>
        <p:nvSpPr>
          <p:cNvPr id="399" name="CustomShape 35"/>
          <p:cNvSpPr/>
          <p:nvPr/>
        </p:nvSpPr>
        <p:spPr>
          <a:xfrm flipV="1">
            <a:off x="1664089" y="3800880"/>
            <a:ext cx="9624" cy="1456920"/>
          </a:xfrm>
          <a:custGeom>
            <a:avLst/>
            <a:gdLst>
              <a:gd name="connsiteX0" fmla="*/ 0 w 4547"/>
              <a:gd name="connsiteY0" fmla="*/ 0 h 21600"/>
              <a:gd name="connsiteX1" fmla="*/ 4547 w 4547"/>
              <a:gd name="connsiteY1" fmla="*/ 21600 h 21600"/>
            </a:gdLst>
            <a:ahLst/>
            <a:cxnLst>
              <a:cxn ang="0">
                <a:pos x="connsiteX0" y="connsiteY0"/>
              </a:cxn>
              <a:cxn ang="0">
                <a:pos x="connsiteX1" y="connsiteY1"/>
              </a:cxn>
            </a:cxnLst>
            <a:rect l="l" t="t" r="r" b="b"/>
            <a:pathLst>
              <a:path w="4547" h="21600">
                <a:moveTo>
                  <a:pt x="0" y="0"/>
                </a:moveTo>
                <a:cubicBezTo>
                  <a:pt x="7200" y="7200"/>
                  <a:pt x="-2653" y="14400"/>
                  <a:pt x="4547" y="2160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0" name="CustomShape 36"/>
          <p:cNvSpPr/>
          <p:nvPr/>
        </p:nvSpPr>
        <p:spPr>
          <a:xfrm flipV="1">
            <a:off x="383248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1" name="CustomShape 37"/>
          <p:cNvSpPr/>
          <p:nvPr/>
        </p:nvSpPr>
        <p:spPr>
          <a:xfrm flipV="1">
            <a:off x="5409888"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3" name="CustomShape 39"/>
          <p:cNvSpPr/>
          <p:nvPr/>
        </p:nvSpPr>
        <p:spPr>
          <a:xfrm>
            <a:off x="9305712" y="4500775"/>
            <a:ext cx="1646640" cy="110654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Offline</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CDASH Build &amp; Docs</a:t>
            </a:r>
          </a:p>
          <a:p>
            <a:pPr algn="ctr">
              <a:lnSpc>
                <a:spcPct val="100000"/>
              </a:lnSpc>
            </a:pPr>
            <a:r>
              <a:rPr lang="en-US" sz="1200" b="1" spc="-1" dirty="0">
                <a:solidFill>
                  <a:srgbClr val="0D0D0D"/>
                </a:solidFill>
                <a:latin typeface="Calibri"/>
              </a:rPr>
              <a:t>Admin Secrets</a:t>
            </a:r>
            <a:endParaRPr lang="en-US" sz="1200" b="1" strike="noStrike" spc="-1" dirty="0">
              <a:solidFill>
                <a:srgbClr val="0D0D0D"/>
              </a:solidFill>
              <a:latin typeface="Calibri"/>
            </a:endParaRPr>
          </a:p>
          <a:p>
            <a:pPr algn="ctr">
              <a:lnSpc>
                <a:spcPct val="100000"/>
              </a:lnSpc>
            </a:pPr>
            <a:r>
              <a:rPr lang="en-US" sz="1200" b="1" strike="noStrike" spc="-1" dirty="0">
                <a:solidFill>
                  <a:srgbClr val="0D0D0D"/>
                </a:solidFill>
                <a:latin typeface="Calibri"/>
              </a:rPr>
              <a:t>Database Snapshots Docker files</a:t>
            </a:r>
            <a:endParaRPr lang="en-US" sz="1200" b="0" strike="noStrike" spc="-1" dirty="0">
              <a:solidFill>
                <a:srgbClr val="000000"/>
              </a:solidFill>
              <a:latin typeface="Arial"/>
            </a:endParaRPr>
          </a:p>
        </p:txBody>
      </p:sp>
      <p:sp>
        <p:nvSpPr>
          <p:cNvPr id="407" name="CustomShape 43"/>
          <p:cNvSpPr/>
          <p:nvPr/>
        </p:nvSpPr>
        <p:spPr>
          <a:xfrm>
            <a:off x="7693829" y="5247176"/>
            <a:ext cx="887079"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Fixes</a:t>
            </a:r>
            <a:br>
              <a:rPr lang="en-US" b="1" spc="-1" dirty="0">
                <a:solidFill>
                  <a:srgbClr val="000000"/>
                </a:solidFill>
                <a:latin typeface="Calibri"/>
              </a:rPr>
            </a:br>
            <a:r>
              <a:rPr lang="en-US" b="1" spc="-1" dirty="0">
                <a:solidFill>
                  <a:srgbClr val="000000"/>
                </a:solidFill>
                <a:latin typeface="Calibri"/>
              </a:rPr>
              <a:t>Tweaks</a:t>
            </a:r>
            <a:endParaRPr lang="en-US" sz="1800" b="0" strike="noStrike" spc="-1" dirty="0">
              <a:solidFill>
                <a:srgbClr val="000000"/>
              </a:solidFill>
              <a:latin typeface="Arial"/>
            </a:endParaRPr>
          </a:p>
        </p:txBody>
      </p:sp>
      <p:sp>
        <p:nvSpPr>
          <p:cNvPr id="411" name="CustomShape 47"/>
          <p:cNvSpPr/>
          <p:nvPr/>
        </p:nvSpPr>
        <p:spPr>
          <a:xfrm>
            <a:off x="4561902" y="5335253"/>
            <a:ext cx="176520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Database Setup</a:t>
            </a:r>
            <a:br>
              <a:rPr dirty="0"/>
            </a:br>
            <a:r>
              <a:rPr lang="en-US" b="1" spc="-1" dirty="0">
                <a:solidFill>
                  <a:srgbClr val="000000"/>
                </a:solidFill>
                <a:latin typeface="Calibri"/>
              </a:rPr>
              <a:t>Routine B</a:t>
            </a:r>
            <a:r>
              <a:rPr lang="en-US" sz="1800" b="1" strike="noStrike" spc="-1" dirty="0">
                <a:solidFill>
                  <a:srgbClr val="000000"/>
                </a:solidFill>
                <a:latin typeface="Calibri"/>
              </a:rPr>
              <a:t>ackups</a:t>
            </a:r>
            <a:endParaRPr lang="en-US" sz="1800" b="0" strike="noStrike" spc="-1" dirty="0">
              <a:solidFill>
                <a:srgbClr val="000000"/>
              </a:solidFill>
              <a:latin typeface="Arial"/>
            </a:endParaRPr>
          </a:p>
        </p:txBody>
      </p:sp>
      <p:sp>
        <p:nvSpPr>
          <p:cNvPr id="412" name="CustomShape 48"/>
          <p:cNvSpPr/>
          <p:nvPr/>
        </p:nvSpPr>
        <p:spPr>
          <a:xfrm>
            <a:off x="2656368" y="4389120"/>
            <a:ext cx="1702050"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dirty="0">
                <a:solidFill>
                  <a:srgbClr val="000000"/>
                </a:solidFill>
                <a:latin typeface="Arial"/>
              </a:rPr>
              <a:t>Azure Console</a:t>
            </a:r>
          </a:p>
          <a:p>
            <a:pPr algn="ctr"/>
            <a:r>
              <a:rPr lang="en-US" spc="-1" dirty="0">
                <a:solidFill>
                  <a:srgbClr val="000000"/>
                </a:solidFill>
                <a:latin typeface="Arial"/>
                <a:ea typeface="Microsoft YaHei"/>
              </a:rPr>
              <a:t>Secure Shell</a:t>
            </a:r>
            <a:endParaRPr lang="en-US" sz="1800" b="0" strike="noStrike" spc="-1" dirty="0">
              <a:solidFill>
                <a:srgbClr val="000000"/>
              </a:solidFill>
              <a:latin typeface="Arial"/>
              <a:ea typeface="Microsoft YaHei"/>
            </a:endParaRPr>
          </a:p>
        </p:txBody>
      </p:sp>
      <p:sp>
        <p:nvSpPr>
          <p:cNvPr id="419" name="CustomShape 55"/>
          <p:cNvSpPr/>
          <p:nvPr/>
        </p:nvSpPr>
        <p:spPr>
          <a:xfrm>
            <a:off x="4752488"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943223" y="4383624"/>
            <a:ext cx="1399271"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square" lIns="94320" tIns="49320" rIns="94320" bIns="49320">
            <a:spAutoFit/>
          </a:bodyPr>
          <a:lstStyle/>
          <a:p>
            <a:pPr algn="ctr"/>
            <a:r>
              <a:rPr lang="en-US" spc="-1" dirty="0">
                <a:solidFill>
                  <a:srgbClr val="000000"/>
                </a:solidFill>
                <a:latin typeface="Arial"/>
                <a:ea typeface="Microsoft YaHei"/>
              </a:rPr>
              <a:t>Docker</a:t>
            </a:r>
          </a:p>
          <a:p>
            <a:pPr algn="ctr"/>
            <a:r>
              <a:rPr lang="en-US" spc="-1" dirty="0">
                <a:solidFill>
                  <a:srgbClr val="000000"/>
                </a:solidFill>
                <a:latin typeface="Arial"/>
                <a:ea typeface="Microsoft YaHei"/>
              </a:rPr>
              <a:t>Desktop</a:t>
            </a:r>
          </a:p>
        </p:txBody>
      </p:sp>
      <p:sp>
        <p:nvSpPr>
          <p:cNvPr id="6" name="CustomShape 35">
            <a:extLst>
              <a:ext uri="{FF2B5EF4-FFF2-40B4-BE49-F238E27FC236}">
                <a16:creationId xmlns:a16="http://schemas.microsoft.com/office/drawing/2014/main" id="{FB3C1A40-C0BC-F048-80C7-79398DB74865}"/>
              </a:ext>
            </a:extLst>
          </p:cNvPr>
          <p:cNvSpPr/>
          <p:nvPr/>
        </p:nvSpPr>
        <p:spPr>
          <a:xfrm flipV="1">
            <a:off x="2393631" y="3300191"/>
            <a:ext cx="752906" cy="17229"/>
          </a:xfrm>
          <a:custGeom>
            <a:avLst/>
            <a:gdLst>
              <a:gd name="connsiteX0" fmla="*/ 0 w 4547"/>
              <a:gd name="connsiteY0" fmla="*/ 0 h 21600"/>
              <a:gd name="connsiteX1" fmla="*/ 4547 w 4547"/>
              <a:gd name="connsiteY1" fmla="*/ 21600 h 216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7639"/>
              <a:gd name="connsiteY0" fmla="*/ 0 h 1499"/>
              <a:gd name="connsiteX1" fmla="*/ 5547 w 7639"/>
              <a:gd name="connsiteY1" fmla="*/ 489 h 1499"/>
              <a:gd name="connsiteX0" fmla="*/ 0 w 7261"/>
              <a:gd name="connsiteY0" fmla="*/ 0 h 3262"/>
              <a:gd name="connsiteX1" fmla="*/ 7261 w 7261"/>
              <a:gd name="connsiteY1" fmla="*/ 3262 h 3262"/>
              <a:gd name="connsiteX0" fmla="*/ 0 w 10000"/>
              <a:gd name="connsiteY0" fmla="*/ 0 h 10000"/>
              <a:gd name="connsiteX1" fmla="*/ 10000 w 10000"/>
              <a:gd name="connsiteY1" fmla="*/ 10000 h 10000"/>
              <a:gd name="connsiteX0" fmla="*/ 0 w 13294"/>
              <a:gd name="connsiteY0" fmla="*/ 0 h 13558"/>
              <a:gd name="connsiteX1" fmla="*/ 13294 w 13294"/>
              <a:gd name="connsiteY1" fmla="*/ 13558 h 13558"/>
              <a:gd name="connsiteX0" fmla="*/ 0 w 12882"/>
              <a:gd name="connsiteY0" fmla="*/ 3106 h 4804"/>
              <a:gd name="connsiteX1" fmla="*/ 12882 w 12882"/>
              <a:gd name="connsiteY1" fmla="*/ 4804 h 4804"/>
              <a:gd name="connsiteX0" fmla="*/ 0 w 10000"/>
              <a:gd name="connsiteY0" fmla="*/ 76 h 3611"/>
              <a:gd name="connsiteX1" fmla="*/ 10000 w 10000"/>
              <a:gd name="connsiteY1" fmla="*/ 3611 h 3611"/>
              <a:gd name="connsiteX0" fmla="*/ 0 w 10000"/>
              <a:gd name="connsiteY0" fmla="*/ 0 h 9790"/>
              <a:gd name="connsiteX1" fmla="*/ 10000 w 10000"/>
              <a:gd name="connsiteY1" fmla="*/ 9790 h 9790"/>
            </a:gdLst>
            <a:ahLst/>
            <a:cxnLst>
              <a:cxn ang="0">
                <a:pos x="connsiteX0" y="connsiteY0"/>
              </a:cxn>
              <a:cxn ang="0">
                <a:pos x="connsiteX1" y="connsiteY1"/>
              </a:cxn>
            </a:cxnLst>
            <a:rect l="l" t="t" r="r" b="b"/>
            <a:pathLst>
              <a:path w="10000" h="9790">
                <a:moveTo>
                  <a:pt x="0" y="0"/>
                </a:moveTo>
                <a:cubicBezTo>
                  <a:pt x="2666" y="10089"/>
                  <a:pt x="4298" y="-7064"/>
                  <a:pt x="10000" y="979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cxnSp>
        <p:nvCxnSpPr>
          <p:cNvPr id="9" name="Straight Connector 8">
            <a:extLst>
              <a:ext uri="{FF2B5EF4-FFF2-40B4-BE49-F238E27FC236}">
                <a16:creationId xmlns:a16="http://schemas.microsoft.com/office/drawing/2014/main" id="{74E7D553-5273-CD7A-B508-6EBE6F71EFE8}"/>
              </a:ext>
            </a:extLst>
          </p:cNvPr>
          <p:cNvCxnSpPr>
            <a:cxnSpLocks/>
          </p:cNvCxnSpPr>
          <p:nvPr/>
        </p:nvCxnSpPr>
        <p:spPr>
          <a:xfrm flipV="1">
            <a:off x="4537866" y="2022679"/>
            <a:ext cx="1162864" cy="70375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12" name="Straight Connector 11">
            <a:extLst>
              <a:ext uri="{FF2B5EF4-FFF2-40B4-BE49-F238E27FC236}">
                <a16:creationId xmlns:a16="http://schemas.microsoft.com/office/drawing/2014/main" id="{C9CDEDE0-091C-86A0-4EC2-B52EA8615870}"/>
              </a:ext>
            </a:extLst>
          </p:cNvPr>
          <p:cNvCxnSpPr>
            <a:cxnSpLocks/>
          </p:cNvCxnSpPr>
          <p:nvPr/>
        </p:nvCxnSpPr>
        <p:spPr>
          <a:xfrm flipV="1">
            <a:off x="6755928" y="1816814"/>
            <a:ext cx="2815401" cy="1499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grpSp>
        <p:nvGrpSpPr>
          <p:cNvPr id="5" name="Group 4">
            <a:extLst>
              <a:ext uri="{FF2B5EF4-FFF2-40B4-BE49-F238E27FC236}">
                <a16:creationId xmlns:a16="http://schemas.microsoft.com/office/drawing/2014/main" id="{02A332C6-1C7E-64A7-F11C-EF38980E5EEE}"/>
              </a:ext>
            </a:extLst>
          </p:cNvPr>
          <p:cNvGrpSpPr/>
          <p:nvPr/>
        </p:nvGrpSpPr>
        <p:grpSpPr>
          <a:xfrm>
            <a:off x="5435254" y="1413791"/>
            <a:ext cx="1442520" cy="1197731"/>
            <a:chOff x="6886060" y="1502640"/>
            <a:chExt cx="1442520" cy="987573"/>
          </a:xfrm>
        </p:grpSpPr>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409" name="CustomShape 45"/>
            <p:cNvSpPr/>
            <p:nvPr/>
          </p:nvSpPr>
          <p:spPr>
            <a:xfrm>
              <a:off x="6886060" y="1753003"/>
              <a:ext cx="1442520" cy="7372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Scans</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Original scans and csv files for import</a:t>
              </a:r>
              <a:endParaRPr lang="en-US" sz="1200" b="0" strike="noStrike" spc="-1" dirty="0">
                <a:solidFill>
                  <a:srgbClr val="000000"/>
                </a:solidFill>
                <a:latin typeface="Arial"/>
              </a:endParaRPr>
            </a:p>
          </p:txBody>
        </p:sp>
      </p:grpSp>
      <p:sp>
        <p:nvSpPr>
          <p:cNvPr id="413" name="CustomShape 49"/>
          <p:cNvSpPr/>
          <p:nvPr/>
        </p:nvSpPr>
        <p:spPr>
          <a:xfrm>
            <a:off x="7288933" y="1703613"/>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cxnSp>
        <p:nvCxnSpPr>
          <p:cNvPr id="17" name="Straight Connector 16">
            <a:extLst>
              <a:ext uri="{FF2B5EF4-FFF2-40B4-BE49-F238E27FC236}">
                <a16:creationId xmlns:a16="http://schemas.microsoft.com/office/drawing/2014/main" id="{0467CD5A-F21E-F490-7CD9-0C9BB72DA0F3}"/>
              </a:ext>
            </a:extLst>
          </p:cNvPr>
          <p:cNvCxnSpPr>
            <a:cxnSpLocks/>
          </p:cNvCxnSpPr>
          <p:nvPr/>
        </p:nvCxnSpPr>
        <p:spPr>
          <a:xfrm>
            <a:off x="4564198" y="3392053"/>
            <a:ext cx="563345" cy="10398"/>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grpSp>
        <p:nvGrpSpPr>
          <p:cNvPr id="42" name="Group 41">
            <a:extLst>
              <a:ext uri="{FF2B5EF4-FFF2-40B4-BE49-F238E27FC236}">
                <a16:creationId xmlns:a16="http://schemas.microsoft.com/office/drawing/2014/main" id="{2EA8433D-36CE-86A6-01B3-95CECCEDEED9}"/>
              </a:ext>
            </a:extLst>
          </p:cNvPr>
          <p:cNvGrpSpPr/>
          <p:nvPr/>
        </p:nvGrpSpPr>
        <p:grpSpPr>
          <a:xfrm>
            <a:off x="4952095" y="2857061"/>
            <a:ext cx="1257451" cy="1091633"/>
            <a:chOff x="3651835" y="-1439753"/>
            <a:chExt cx="1257451" cy="1091633"/>
          </a:xfrm>
        </p:grpSpPr>
        <p:pic>
          <p:nvPicPr>
            <p:cNvPr id="41" name="Picture 40">
              <a:extLst>
                <a:ext uri="{FF2B5EF4-FFF2-40B4-BE49-F238E27FC236}">
                  <a16:creationId xmlns:a16="http://schemas.microsoft.com/office/drawing/2014/main" id="{BF462C7B-14A4-BB9E-36CD-6801BC0F4D6C}"/>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3651835" y="-1439753"/>
              <a:ext cx="1257451" cy="1091633"/>
            </a:xfrm>
            <a:prstGeom prst="rect">
              <a:avLst/>
            </a:prstGeom>
            <a:effectLst>
              <a:softEdge rad="114300"/>
            </a:effectLst>
          </p:spPr>
        </p:pic>
        <p:sp>
          <p:nvSpPr>
            <p:cNvPr id="414" name="CustomShape 50"/>
            <p:cNvSpPr/>
            <p:nvPr/>
          </p:nvSpPr>
          <p:spPr>
            <a:xfrm>
              <a:off x="3894228" y="-1089159"/>
              <a:ext cx="842282" cy="276999"/>
            </a:xfrm>
            <a:prstGeom prst="rect">
              <a:avLst/>
            </a:prstGeom>
            <a:noFill/>
            <a:ln>
              <a:noFill/>
            </a:ln>
            <a:effectLst>
              <a:glow rad="228600">
                <a:schemeClr val="accent1">
                  <a:satMod val="175000"/>
                  <a:alpha val="80000"/>
                </a:schemeClr>
              </a:glow>
            </a:effectLst>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b="1" spc="-1" dirty="0">
                  <a:solidFill>
                    <a:srgbClr val="333333"/>
                  </a:solidFill>
                  <a:effectLst>
                    <a:glow rad="152400">
                      <a:schemeClr val="bg1"/>
                    </a:glow>
                  </a:effectLst>
                  <a:latin typeface="Calibri"/>
                </a:rPr>
                <a:t>M</a:t>
              </a:r>
              <a:r>
                <a:rPr lang="en-US" sz="1800" b="1" strike="noStrike" spc="-1" dirty="0">
                  <a:solidFill>
                    <a:srgbClr val="333333"/>
                  </a:solidFill>
                  <a:effectLst>
                    <a:glow rad="152400">
                      <a:schemeClr val="bg1"/>
                    </a:glow>
                  </a:effectLst>
                  <a:latin typeface="Calibri"/>
                </a:rPr>
                <a:t>ariaDB</a:t>
              </a:r>
              <a:endParaRPr lang="en-US" sz="1800" b="1" strike="noStrike" spc="-1" dirty="0">
                <a:solidFill>
                  <a:srgbClr val="333333"/>
                </a:solidFill>
                <a:effectLst>
                  <a:glow rad="152400">
                    <a:schemeClr val="bg1"/>
                  </a:glow>
                </a:effectLst>
                <a:latin typeface="Calibri"/>
                <a:ea typeface="Microsoft YaHei"/>
              </a:endParaRPr>
            </a:p>
          </p:txBody>
        </p:sp>
      </p:grpSp>
      <p:cxnSp>
        <p:nvCxnSpPr>
          <p:cNvPr id="24" name="Straight Connector 23">
            <a:extLst>
              <a:ext uri="{FF2B5EF4-FFF2-40B4-BE49-F238E27FC236}">
                <a16:creationId xmlns:a16="http://schemas.microsoft.com/office/drawing/2014/main" id="{A22FA172-EF4C-636F-B2E1-DE5420406648}"/>
              </a:ext>
            </a:extLst>
          </p:cNvPr>
          <p:cNvCxnSpPr>
            <a:cxnSpLocks/>
          </p:cNvCxnSpPr>
          <p:nvPr/>
        </p:nvCxnSpPr>
        <p:spPr>
          <a:xfrm flipH="1" flipV="1">
            <a:off x="6120841" y="3368529"/>
            <a:ext cx="616839" cy="313"/>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pic>
        <p:nvPicPr>
          <p:cNvPr id="1028" name="Picture 4" descr="InterSystems and Azure | InterSystems">
            <a:extLst>
              <a:ext uri="{FF2B5EF4-FFF2-40B4-BE49-F238E27FC236}">
                <a16:creationId xmlns:a16="http://schemas.microsoft.com/office/drawing/2014/main" id="{63B184DA-BCED-308C-C633-055539CD60D1}"/>
              </a:ext>
            </a:extLst>
          </p:cNvPr>
          <p:cNvPicPr>
            <a:picLocks noChangeAspect="1" noChangeArrowheads="1"/>
          </p:cNvPicPr>
          <p:nvPr/>
        </p:nvPicPr>
        <p:blipFill rotWithShape="1">
          <a:blip r:embed="rId7">
            <a:clrChange>
              <a:clrFrom>
                <a:srgbClr val="FEFEFE"/>
              </a:clrFrom>
              <a:clrTo>
                <a:srgbClr val="FEFEFE">
                  <a:alpha val="0"/>
                </a:srgbClr>
              </a:clrTo>
            </a:clrChange>
            <a:extLst>
              <a:ext uri="{28A0092B-C50C-407E-A947-70E740481C1C}">
                <a14:useLocalDpi xmlns:a14="http://schemas.microsoft.com/office/drawing/2010/main" val="0"/>
              </a:ext>
            </a:extLst>
          </a:blip>
          <a:srcRect t="18843" b="2535"/>
          <a:stretch/>
        </p:blipFill>
        <p:spPr bwMode="auto">
          <a:xfrm>
            <a:off x="618137" y="1979728"/>
            <a:ext cx="1712341" cy="757273"/>
          </a:xfrm>
          <a:prstGeom prst="rect">
            <a:avLst/>
          </a:prstGeom>
          <a:solidFill>
            <a:schemeClr val="bg1">
              <a:lumMod val="85000"/>
              <a:alpha val="70000"/>
            </a:schemeClr>
          </a:solidFill>
          <a:effectLst>
            <a:softEdge rad="50800"/>
          </a:effectLst>
        </p:spPr>
      </p:pic>
      <p:cxnSp>
        <p:nvCxnSpPr>
          <p:cNvPr id="27" name="Straight Connector 26">
            <a:extLst>
              <a:ext uri="{FF2B5EF4-FFF2-40B4-BE49-F238E27FC236}">
                <a16:creationId xmlns:a16="http://schemas.microsoft.com/office/drawing/2014/main" id="{DCBFB765-981D-6D58-2AEF-1282AC50F377}"/>
              </a:ext>
            </a:extLst>
          </p:cNvPr>
          <p:cNvCxnSpPr>
            <a:cxnSpLocks/>
          </p:cNvCxnSpPr>
          <p:nvPr/>
        </p:nvCxnSpPr>
        <p:spPr>
          <a:xfrm>
            <a:off x="1897259" y="1429938"/>
            <a:ext cx="1468595" cy="120266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30" name="Straight Connector 29">
            <a:extLst>
              <a:ext uri="{FF2B5EF4-FFF2-40B4-BE49-F238E27FC236}">
                <a16:creationId xmlns:a16="http://schemas.microsoft.com/office/drawing/2014/main" id="{451AC444-D267-5AED-DAD7-3FF303758245}"/>
              </a:ext>
            </a:extLst>
          </p:cNvPr>
          <p:cNvCxnSpPr>
            <a:cxnSpLocks/>
          </p:cNvCxnSpPr>
          <p:nvPr/>
        </p:nvCxnSpPr>
        <p:spPr>
          <a:xfrm flipH="1" flipV="1">
            <a:off x="3307643" y="1475710"/>
            <a:ext cx="366201" cy="1250723"/>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cxnSp>
        <p:nvCxnSpPr>
          <p:cNvPr id="35" name="Straight Connector 34">
            <a:extLst>
              <a:ext uri="{FF2B5EF4-FFF2-40B4-BE49-F238E27FC236}">
                <a16:creationId xmlns:a16="http://schemas.microsoft.com/office/drawing/2014/main" id="{343952A7-396C-28C7-F6BA-02F16C2D389D}"/>
              </a:ext>
            </a:extLst>
          </p:cNvPr>
          <p:cNvCxnSpPr>
            <a:cxnSpLocks/>
          </p:cNvCxnSpPr>
          <p:nvPr/>
        </p:nvCxnSpPr>
        <p:spPr>
          <a:xfrm flipV="1">
            <a:off x="4105520" y="1492200"/>
            <a:ext cx="432346" cy="1248120"/>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sp>
        <p:nvSpPr>
          <p:cNvPr id="39" name="CustomShape 23">
            <a:extLst>
              <a:ext uri="{FF2B5EF4-FFF2-40B4-BE49-F238E27FC236}">
                <a16:creationId xmlns:a16="http://schemas.microsoft.com/office/drawing/2014/main" id="{2C46DAE3-6082-DFC9-A47F-39729241AFF5}"/>
              </a:ext>
            </a:extLst>
          </p:cNvPr>
          <p:cNvSpPr/>
          <p:nvPr/>
        </p:nvSpPr>
        <p:spPr>
          <a:xfrm>
            <a:off x="4081451" y="854105"/>
            <a:ext cx="86117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a:t>
            </a:r>
            <a:br>
              <a:rPr lang="en-US" b="1" spc="-1" dirty="0">
                <a:solidFill>
                  <a:srgbClr val="000000"/>
                </a:solidFill>
                <a:latin typeface="Calibri"/>
              </a:rPr>
            </a:br>
            <a:r>
              <a:rPr lang="en-US" b="1" spc="-1" dirty="0">
                <a:solidFill>
                  <a:srgbClr val="000000"/>
                </a:solidFill>
                <a:latin typeface="Calibri"/>
              </a:rPr>
              <a:t>Admin</a:t>
            </a:r>
            <a:endParaRPr lang="en-US" sz="1800" b="1" strike="noStrike" spc="-1" dirty="0">
              <a:solidFill>
                <a:srgbClr val="000000"/>
              </a:solidFill>
              <a:latin typeface="Calibri"/>
            </a:endParaRPr>
          </a:p>
        </p:txBody>
      </p:sp>
      <p:sp>
        <p:nvSpPr>
          <p:cNvPr id="360" name="CustomShape 4"/>
          <p:cNvSpPr/>
          <p:nvPr/>
        </p:nvSpPr>
        <p:spPr>
          <a:xfrm>
            <a:off x="2830955" y="1782000"/>
            <a:ext cx="1569899"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Web Browser</a:t>
            </a:r>
            <a:endParaRPr lang="en-US" sz="1800" b="0" strike="noStrike" spc="-1" dirty="0">
              <a:solidFill>
                <a:srgbClr val="000000"/>
              </a:solidFill>
              <a:latin typeface="Arial"/>
              <a:ea typeface="Microsoft YaHei"/>
            </a:endParaRPr>
          </a:p>
          <a:p>
            <a:pPr algn="ctr">
              <a:lnSpc>
                <a:spcPct val="100000"/>
              </a:lnSpc>
            </a:pPr>
            <a:r>
              <a:rPr lang="en-US" sz="1800" b="0" strike="noStrike" spc="-1" dirty="0">
                <a:solidFill>
                  <a:srgbClr val="000000"/>
                </a:solidFill>
                <a:latin typeface="Arial"/>
              </a:rPr>
              <a:t>Web Server</a:t>
            </a:r>
            <a:endParaRPr lang="en-US" sz="1800" b="0" strike="noStrike" spc="-1" dirty="0">
              <a:solidFill>
                <a:srgbClr val="000000"/>
              </a:solidFill>
              <a:latin typeface="Arial"/>
              <a:ea typeface="Microsoft YaHei"/>
            </a:endParaRPr>
          </a:p>
        </p:txBody>
      </p:sp>
      <p:sp>
        <p:nvSpPr>
          <p:cNvPr id="45" name="CustomShape 25">
            <a:extLst>
              <a:ext uri="{FF2B5EF4-FFF2-40B4-BE49-F238E27FC236}">
                <a16:creationId xmlns:a16="http://schemas.microsoft.com/office/drawing/2014/main" id="{2716F078-679C-FA57-203D-A8290FF6FA86}"/>
              </a:ext>
            </a:extLst>
          </p:cNvPr>
          <p:cNvSpPr/>
          <p:nvPr/>
        </p:nvSpPr>
        <p:spPr>
          <a:xfrm>
            <a:off x="509760" y="2412246"/>
            <a:ext cx="2023203"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a:solidFill>
                  <a:srgbClr val="333333"/>
                </a:solidFill>
                <a:effectLst>
                  <a:glow rad="228600">
                    <a:schemeClr val="bg1">
                      <a:alpha val="91000"/>
                    </a:schemeClr>
                  </a:glow>
                </a:effectLst>
                <a:latin typeface="Calibri"/>
              </a:rPr>
              <a:t>Cloud Host</a:t>
            </a:r>
          </a:p>
        </p:txBody>
      </p:sp>
      <p:cxnSp>
        <p:nvCxnSpPr>
          <p:cNvPr id="46" name="Straight Connector 45">
            <a:extLst>
              <a:ext uri="{FF2B5EF4-FFF2-40B4-BE49-F238E27FC236}">
                <a16:creationId xmlns:a16="http://schemas.microsoft.com/office/drawing/2014/main" id="{A660F88A-4866-B362-B10E-C1036E7180A7}"/>
              </a:ext>
            </a:extLst>
          </p:cNvPr>
          <p:cNvCxnSpPr>
            <a:cxnSpLocks/>
          </p:cNvCxnSpPr>
          <p:nvPr/>
        </p:nvCxnSpPr>
        <p:spPr>
          <a:xfrm>
            <a:off x="8214856" y="4702726"/>
            <a:ext cx="0" cy="574923"/>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2" name="Straight Connector 51">
            <a:extLst>
              <a:ext uri="{FF2B5EF4-FFF2-40B4-BE49-F238E27FC236}">
                <a16:creationId xmlns:a16="http://schemas.microsoft.com/office/drawing/2014/main" id="{558F5DD7-2865-7A01-B8AA-FC8F4E42C7C1}"/>
              </a:ext>
            </a:extLst>
          </p:cNvPr>
          <p:cNvCxnSpPr>
            <a:cxnSpLocks/>
          </p:cNvCxnSpPr>
          <p:nvPr/>
        </p:nvCxnSpPr>
        <p:spPr>
          <a:xfrm>
            <a:off x="8214856" y="3962201"/>
            <a:ext cx="0" cy="466222"/>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5" name="Straight Connector 54">
            <a:extLst>
              <a:ext uri="{FF2B5EF4-FFF2-40B4-BE49-F238E27FC236}">
                <a16:creationId xmlns:a16="http://schemas.microsoft.com/office/drawing/2014/main" id="{25FE9F3A-A24D-5427-65B5-F527C96B5D97}"/>
              </a:ext>
            </a:extLst>
          </p:cNvPr>
          <p:cNvCxnSpPr>
            <a:cxnSpLocks/>
          </p:cNvCxnSpPr>
          <p:nvPr/>
        </p:nvCxnSpPr>
        <p:spPr>
          <a:xfrm flipH="1">
            <a:off x="8728200" y="4696127"/>
            <a:ext cx="698394" cy="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sp>
        <p:nvSpPr>
          <p:cNvPr id="417" name="CustomShape 53"/>
          <p:cNvSpPr/>
          <p:nvPr/>
        </p:nvSpPr>
        <p:spPr>
          <a:xfrm>
            <a:off x="7246713"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62925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 and all associated assets.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(pbc)</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Designs and implements C-Dash system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Development (test) sandbox</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Production environment </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Documentation</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Training</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Handles batch rough-sort, initial catalog and Omeka Imports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C-Dash Owner with developing look/Feel and Features</a:t>
            </a:r>
            <a:endParaRPr lang="en-US" sz="1800" b="0" strike="noStrike" spc="-1">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a:solidFill>
                  <a:srgbClr val="595959"/>
                </a:solidFill>
                <a:latin typeface="Agency FB"/>
              </a:rPr>
              <a:t>Assists with developing new metadata templates and linking infrastructure </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Monitors regular snapshot activities</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Tests and verifies recoverability</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Maintains all system rebuild scripts and passwords, up-to-date in a secure location that is accessible to Omeka/Azure Owner.</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Omeka/Azure Developer Capabilities</a:t>
            </a:r>
            <a:endParaRPr lang="en-US" sz="1800" b="0" strike="noStrike" spc="-1">
              <a:solidFill>
                <a:srgbClr val="000000"/>
              </a:solidFill>
              <a:latin typeface="Arial"/>
            </a:endParaRPr>
          </a:p>
          <a:p>
            <a:pPr>
              <a:lnSpc>
                <a:spcPct val="100000"/>
              </a:lnSpc>
              <a:spcAft>
                <a:spcPts val="601"/>
              </a:spcAft>
            </a:pPr>
            <a:r>
              <a:rPr lang="en-US" sz="1800" b="1" strike="noStrike" spc="-1">
                <a:solidFill>
                  <a:srgbClr val="595959"/>
                </a:solidFill>
                <a:latin typeface="Agency FB"/>
              </a:rPr>
              <a:t>In the event that the Omeka/Azure developer should need to be replaced, a consultant who has experience with commonphp/linux applications such as wordpress should be able to figure out how this system works from the documentation.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1/3/2024</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1/3/2024</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1/3/2024</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1/3/2024</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81157</TotalTime>
  <Words>3732</Words>
  <Application>Microsoft Office PowerPoint</Application>
  <PresentationFormat>Widescreen</PresentationFormat>
  <Paragraphs>433</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219</cp:revision>
  <dcterms:created xsi:type="dcterms:W3CDTF">2017-06-06T09:45:10Z</dcterms:created>
  <dcterms:modified xsi:type="dcterms:W3CDTF">2024-01-03T19:14:43Z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